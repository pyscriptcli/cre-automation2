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4" r:id="rId2"/>
    <p:sldId id="300" r:id="rId3"/>
  </p:sldIdLst>
  <p:sldSz cx="7562850" cy="10688638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F83E9F-2631-4C8F-A3C6-31CAA3F43E28}">
          <p14:sldIdLst>
            <p14:sldId id="284"/>
            <p14:sldId id="3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367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BF00"/>
    <a:srgbClr val="CE1126"/>
    <a:srgbClr val="000000"/>
    <a:srgbClr val="FFFFFF"/>
    <a:srgbClr val="254061"/>
    <a:srgbClr val="DBEEF4"/>
    <a:srgbClr val="002060"/>
    <a:srgbClr val="003663"/>
    <a:srgbClr val="181D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4898" autoAdjust="0"/>
  </p:normalViewPr>
  <p:slideViewPr>
    <p:cSldViewPr snapToGrid="0" snapToObjects="1">
      <p:cViewPr varScale="1">
        <p:scale>
          <a:sx n="64" d="100"/>
          <a:sy n="64" d="100"/>
        </p:scale>
        <p:origin x="3348" y="96"/>
      </p:cViewPr>
      <p:guideLst>
        <p:guide orient="horz" pos="3367"/>
        <p:guide pos="2382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D14427B0-701B-4747-B097-09900CEFF81D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16138" y="750888"/>
            <a:ext cx="2655887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vert="horz" lIns="96616" tIns="48308" rIns="96616" bIns="4830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71F972B7-15D7-42FE-B479-040C938E99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51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972B7-15D7-42FE-B479-040C938E991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49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094C9-B62B-ABB0-3355-C865D516B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54BA1-5BDB-5DCE-88F1-47FCD4570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F326E-6C99-1F61-A39C-7BCD013FE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2582E-BFEA-02B9-379D-6B723050F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972B7-15D7-42FE-B479-040C938E991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326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3320407"/>
            <a:ext cx="6428423" cy="22911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6056895"/>
            <a:ext cx="5293995" cy="273154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9A59-B32A-4118-9C85-C6662274CDA5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5A9B-5CD9-401A-8B13-FF57FB02CB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9A59-B32A-4118-9C85-C6662274CDA5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5A9B-5CD9-401A-8B13-FF57FB02CB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3" y="6868441"/>
            <a:ext cx="6428423" cy="212288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3" y="4530301"/>
            <a:ext cx="6428423" cy="23381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9A59-B32A-4118-9C85-C6662274CDA5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5A9B-5CD9-401A-8B13-FF57FB02CB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2493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90577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9A59-B32A-4118-9C85-C6662274CDA5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5A9B-5CD9-401A-8B13-FF57FB02CB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2392573"/>
            <a:ext cx="3341572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3" y="3389684"/>
            <a:ext cx="3341572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3" y="2392573"/>
            <a:ext cx="3342885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3" y="3389684"/>
            <a:ext cx="3342885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9A59-B32A-4118-9C85-C6662274CDA5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5A9B-5CD9-401A-8B13-FF57FB02CB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9A59-B32A-4118-9C85-C6662274CDA5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5A9B-5CD9-401A-8B13-FF57FB02CB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9A59-B32A-4118-9C85-C6662274CDA5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5A9B-5CD9-401A-8B13-FF57FB02CB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425566"/>
            <a:ext cx="2488126" cy="18111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4" y="425567"/>
            <a:ext cx="4227843" cy="91224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3" y="2236697"/>
            <a:ext cx="2488126" cy="73113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9A59-B32A-4118-9C85-C6662274CDA5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5A9B-5CD9-401A-8B13-FF57FB02CB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7482047"/>
            <a:ext cx="4537710" cy="88329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955049"/>
            <a:ext cx="4537710" cy="64131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8365344"/>
            <a:ext cx="4537710" cy="1254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9A59-B32A-4118-9C85-C6662274CDA5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5A9B-5CD9-401A-8B13-FF57FB02CB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9A59-B32A-4118-9C85-C6662274CDA5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5A9B-5CD9-401A-8B13-FF57FB02CB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35084" y="668040"/>
            <a:ext cx="1407530" cy="142144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2493" y="668040"/>
            <a:ext cx="4096544" cy="14214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9A59-B32A-4118-9C85-C6662274CDA5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75A9B-5CD9-401A-8B13-FF57FB02CB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2494016"/>
            <a:ext cx="6806565" cy="705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79A59-B32A-4118-9C85-C6662274CDA5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9906785"/>
            <a:ext cx="2394903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75A9B-5CD9-401A-8B13-FF57FB02CBB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15882089-0E53-2829-B349-E9552E5C9B33}"/>
              </a:ext>
            </a:extLst>
          </p:cNvPr>
          <p:cNvSpPr/>
          <p:nvPr/>
        </p:nvSpPr>
        <p:spPr>
          <a:xfrm>
            <a:off x="577" y="5852738"/>
            <a:ext cx="3939020" cy="43906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400" b="1" dirty="0">
              <a:latin typeface="Century Gothic" panose="020B0502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AB40CB-D1D2-4805-B901-E766043B92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266"/>
          <a:stretch/>
        </p:blipFill>
        <p:spPr>
          <a:xfrm>
            <a:off x="0" y="1"/>
            <a:ext cx="7563426" cy="506078"/>
          </a:xfr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A9E3F54-BFAE-4E5C-8B57-69EBC3BCDD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234" y="9624633"/>
            <a:ext cx="1550016" cy="453005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4A689A24-9679-42F4-82F8-F3EFEF20B99D}"/>
              </a:ext>
            </a:extLst>
          </p:cNvPr>
          <p:cNvSpPr/>
          <p:nvPr/>
        </p:nvSpPr>
        <p:spPr>
          <a:xfrm flipH="1">
            <a:off x="5689449" y="9681686"/>
            <a:ext cx="45719" cy="509835"/>
          </a:xfrm>
          <a:prstGeom prst="rect">
            <a:avLst/>
          </a:prstGeom>
          <a:solidFill>
            <a:srgbClr val="0036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58" name="Title 1">
            <a:extLst>
              <a:ext uri="{FF2B5EF4-FFF2-40B4-BE49-F238E27FC236}">
                <a16:creationId xmlns:a16="http://schemas.microsoft.com/office/drawing/2014/main" id="{4BA82821-5962-4E75-8DB2-55D86DE29C3B}"/>
              </a:ext>
            </a:extLst>
          </p:cNvPr>
          <p:cNvSpPr txBox="1">
            <a:spLocks/>
          </p:cNvSpPr>
          <p:nvPr/>
        </p:nvSpPr>
        <p:spPr>
          <a:xfrm>
            <a:off x="5094563" y="9970075"/>
            <a:ext cx="2322504" cy="2279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dirty="0">
                <a:solidFill>
                  <a:srgbClr val="003366"/>
                </a:solidFill>
                <a:latin typeface="Century Gothic" pitchFamily="34" charset="0"/>
              </a:rPr>
              <a:t>www.primephilippines.com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72047104-CAB5-6F34-D6B8-7A95A07990C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222"/>
          <a:stretch/>
        </p:blipFill>
        <p:spPr>
          <a:xfrm>
            <a:off x="0" y="10303715"/>
            <a:ext cx="7563426" cy="40384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2C1FFE-3BD7-D620-CAEF-3264B67AA5A8}"/>
              </a:ext>
            </a:extLst>
          </p:cNvPr>
          <p:cNvCxnSpPr>
            <a:cxnSpLocks/>
          </p:cNvCxnSpPr>
          <p:nvPr/>
        </p:nvCxnSpPr>
        <p:spPr>
          <a:xfrm>
            <a:off x="211985" y="1178553"/>
            <a:ext cx="7205082" cy="0"/>
          </a:xfrm>
          <a:prstGeom prst="line">
            <a:avLst/>
          </a:prstGeom>
          <a:ln w="28575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EB6008D-84EB-D8A6-105E-BC5B0192565B}"/>
              </a:ext>
            </a:extLst>
          </p:cNvPr>
          <p:cNvSpPr txBox="1"/>
          <p:nvPr/>
        </p:nvSpPr>
        <p:spPr>
          <a:xfrm>
            <a:off x="15690" y="5888877"/>
            <a:ext cx="392390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>
                <a:solidFill>
                  <a:srgbClr val="FFBF00"/>
                </a:solidFill>
                <a:latin typeface="Century Gothic" panose="020B0502020202020204" pitchFamily="34" charset="0"/>
              </a:rPr>
              <a:t>Location Map | {{PROPERTY_ADDRESS}}</a:t>
            </a:r>
            <a:endParaRPr lang="en-PH" sz="1050" b="1" dirty="0">
              <a:solidFill>
                <a:srgbClr val="FFBF00"/>
              </a:solidFill>
              <a:latin typeface="Century Gothic" panose="020B0502020202020204" pitchFamily="34" charset="0"/>
            </a:endParaRPr>
          </a:p>
        </p:txBody>
      </p:sp>
      <p:sp>
        <p:nvSpPr>
          <p:cNvPr id="31" name="AutoShape 16" descr="Savemore Logo | MimaiScribbles">
            <a:extLst>
              <a:ext uri="{FF2B5EF4-FFF2-40B4-BE49-F238E27FC236}">
                <a16:creationId xmlns:a16="http://schemas.microsoft.com/office/drawing/2014/main" id="{1DFCEDEA-ED68-4319-88A3-FEDD799B6D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9025" y="51911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8563A9E-126A-91CA-E36C-57FBDD41C3D1}"/>
              </a:ext>
            </a:extLst>
          </p:cNvPr>
          <p:cNvSpPr/>
          <p:nvPr/>
        </p:nvSpPr>
        <p:spPr>
          <a:xfrm>
            <a:off x="4281209" y="5899022"/>
            <a:ext cx="3135858" cy="30819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latin typeface="Century Gothic" panose="020B0502020202020204" pitchFamily="34" charset="0"/>
              </a:rPr>
              <a:t>PROPERTY </a:t>
            </a:r>
            <a:r>
              <a:rPr lang="en-PH" sz="1100" b="1" dirty="0">
                <a:latin typeface="Century Gothic" panose="020B0502020202020204" pitchFamily="34" charset="0"/>
              </a:rPr>
              <a:t>HIGHLIGHTS</a:t>
            </a:r>
          </a:p>
        </p:txBody>
      </p:sp>
      <p:sp>
        <p:nvSpPr>
          <p:cNvPr id="99" name="object 4">
            <a:extLst>
              <a:ext uri="{FF2B5EF4-FFF2-40B4-BE49-F238E27FC236}">
                <a16:creationId xmlns:a16="http://schemas.microsoft.com/office/drawing/2014/main" id="{3D0D95C8-B764-7236-6933-AAA310B394D9}"/>
              </a:ext>
            </a:extLst>
          </p:cNvPr>
          <p:cNvSpPr txBox="1"/>
          <p:nvPr/>
        </p:nvSpPr>
        <p:spPr>
          <a:xfrm>
            <a:off x="4675633" y="6291807"/>
            <a:ext cx="2822448" cy="27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89230" algn="just">
              <a:lnSpc>
                <a:spcPct val="100000"/>
              </a:lnSpc>
              <a:spcBef>
                <a:spcPts val="105"/>
              </a:spcBef>
            </a:pPr>
            <a:endParaRPr lang="en-US" sz="800" spc="-15" dirty="0">
              <a:solidFill>
                <a:srgbClr val="0D0D0D"/>
              </a:solidFill>
              <a:latin typeface="Century Gothic" panose="020B0502020202020204" pitchFamily="34" charset="0"/>
              <a:cs typeface="Verdana"/>
            </a:endParaRPr>
          </a:p>
          <a:p>
            <a:pPr marL="12700" marR="189230" algn="just">
              <a:lnSpc>
                <a:spcPct val="100000"/>
              </a:lnSpc>
              <a:spcBef>
                <a:spcPts val="105"/>
              </a:spcBef>
            </a:pPr>
            <a:r>
              <a:rPr lang="en-US" sz="800" dirty="0">
                <a:latin typeface="Century Gothic" panose="020B0502020202020204" pitchFamily="34" charset="0"/>
              </a:rPr>
              <a:t> </a:t>
            </a:r>
            <a:endParaRPr lang="en-US" sz="800" spc="-35" dirty="0">
              <a:solidFill>
                <a:srgbClr val="0D0D0D"/>
              </a:solidFill>
              <a:latin typeface="Century Gothic" panose="020B0502020202020204" pitchFamily="34" charset="0"/>
              <a:cs typeface="Verdana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049B8867-1D11-8C4F-53EB-3744DB1ED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307" y="7641403"/>
            <a:ext cx="10445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H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ECA918-6C77-8817-B0BD-4A9A21FC7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034629"/>
              </p:ext>
            </p:extLst>
          </p:nvPr>
        </p:nvGraphicFramePr>
        <p:xfrm>
          <a:off x="4227838" y="7388634"/>
          <a:ext cx="3171958" cy="1946462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619823">
                  <a:extLst>
                    <a:ext uri="{9D8B030D-6E8A-4147-A177-3AD203B41FA5}">
                      <a16:colId xmlns:a16="http://schemas.microsoft.com/office/drawing/2014/main" val="2884274174"/>
                    </a:ext>
                  </a:extLst>
                </a:gridCol>
                <a:gridCol w="1552135">
                  <a:extLst>
                    <a:ext uri="{9D8B030D-6E8A-4147-A177-3AD203B41FA5}">
                      <a16:colId xmlns:a16="http://schemas.microsoft.com/office/drawing/2014/main" val="314811349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92075" algn="ctr" rtl="0" fontAlgn="ctr">
                        <a:buNone/>
                      </a:pPr>
                      <a:r>
                        <a:rPr lang="en-PH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LEASE </a:t>
                      </a:r>
                      <a:r>
                        <a:rPr lang="en-PH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TERMS</a:t>
                      </a:r>
                      <a:endParaRPr lang="en-PH" sz="1000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32919335"/>
                  </a:ext>
                </a:extLst>
              </a:tr>
              <a:tr h="391982">
                <a:tc>
                  <a:txBody>
                    <a:bodyPr/>
                    <a:lstStyle/>
                    <a:p>
                      <a:pPr marL="92075" algn="ctr" rtl="0" fontAlgn="ctr">
                        <a:buNone/>
                      </a:pPr>
                      <a:r>
                        <a:rPr lang="en-PH" sz="1000" b="1" i="0" u="none" strike="noStrike" dirty="0">
                          <a:solidFill>
                            <a:srgbClr val="171D1E"/>
                          </a:solidFill>
                          <a:effectLst/>
                          <a:latin typeface="Century Gothic" panose="020B0502020202020204" pitchFamily="34" charset="0"/>
                        </a:rPr>
                        <a:t>Lease Rates:</a:t>
                      </a:r>
                      <a:endParaRPr lang="en-PH" sz="1000" b="1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2235" algn="ctr" rtl="0" fontAlgn="ctr">
                        <a:buNone/>
                      </a:pPr>
                      <a:r>
                        <a:rPr lang="sv-SE" sz="800" dirty="0">
                          <a:effectLst/>
                          <a:latin typeface="Century Gothic" panose="020B0502020202020204" pitchFamily="34" charset="0"/>
                        </a:rPr>
                        <a:t>{{LEASE_RATES}}</a:t>
                      </a: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337747"/>
                  </a:ext>
                </a:extLst>
              </a:tr>
              <a:tr h="205540">
                <a:tc>
                  <a:txBody>
                    <a:bodyPr/>
                    <a:lstStyle/>
                    <a:p>
                      <a:pPr marL="92075" algn="ctr" rtl="0" fontAlgn="ctr">
                        <a:buNone/>
                      </a:pPr>
                      <a:r>
                        <a:rPr lang="en-PH" sz="1000" b="1" dirty="0">
                          <a:effectLst/>
                          <a:latin typeface="Century Gothic" panose="020B0502020202020204" pitchFamily="34" charset="0"/>
                        </a:rPr>
                        <a:t>Security Deposit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2235" algn="ctr" rtl="0" fontAlgn="ctr">
                        <a:buNone/>
                      </a:pPr>
                      <a:r>
                        <a:rPr lang="sv-SE" sz="800" dirty="0">
                          <a:effectLst/>
                          <a:latin typeface="Century Gothic" panose="020B0502020202020204" pitchFamily="34" charset="0"/>
                        </a:rPr>
                        <a:t>{{SECURITY_DEPOSIT}}</a:t>
                      </a: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270536"/>
                  </a:ext>
                </a:extLst>
              </a:tr>
              <a:tr h="137034">
                <a:tc>
                  <a:txBody>
                    <a:bodyPr/>
                    <a:lstStyle/>
                    <a:p>
                      <a:pPr marL="92075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000" b="1" dirty="0">
                          <a:effectLst/>
                          <a:latin typeface="Century Gothic" panose="020B0502020202020204" pitchFamily="34" charset="0"/>
                        </a:rPr>
                        <a:t>Advance Rent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2235" algn="ctr" rtl="0" fontAlgn="ctr">
                        <a:buNone/>
                      </a:pPr>
                      <a:r>
                        <a:rPr lang="sv-SE" sz="800" dirty="0">
                          <a:effectLst/>
                          <a:latin typeface="Century Gothic" panose="020B0502020202020204" pitchFamily="34" charset="0"/>
                        </a:rPr>
                        <a:t>{{ADVANCE_RENT}}</a:t>
                      </a: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872230"/>
                  </a:ext>
                </a:extLst>
              </a:tr>
              <a:tr h="137034">
                <a:tc>
                  <a:txBody>
                    <a:bodyPr/>
                    <a:lstStyle/>
                    <a:p>
                      <a:pPr marL="92075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000" b="1" dirty="0">
                          <a:effectLst/>
                          <a:latin typeface="Century Gothic" panose="020B0502020202020204" pitchFamily="34" charset="0"/>
                        </a:rPr>
                        <a:t>Rental Escalation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2235" algn="ctr" rtl="0" fontAlgn="ctr">
                        <a:buNone/>
                      </a:pPr>
                      <a:r>
                        <a:rPr lang="sv-SE" sz="800" dirty="0">
                          <a:effectLst/>
                          <a:latin typeface="Century Gothic" panose="020B0502020202020204" pitchFamily="34" charset="0"/>
                        </a:rPr>
                        <a:t>{{ESCALATION}}</a:t>
                      </a: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601339"/>
                  </a:ext>
                </a:extLst>
              </a:tr>
              <a:tr h="137034">
                <a:tc>
                  <a:txBody>
                    <a:bodyPr/>
                    <a:lstStyle/>
                    <a:p>
                      <a:pPr marL="92075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Preferred Lease Term</a:t>
                      </a:r>
                      <a:endParaRPr lang="en-PH" sz="1000" b="1" dirty="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2235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800" dirty="0">
                          <a:effectLst/>
                          <a:latin typeface="Century Gothic" panose="020B0502020202020204" pitchFamily="34" charset="0"/>
                        </a:rPr>
                        <a:t>{{LEASE TERM}}</a:t>
                      </a: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02325"/>
                  </a:ext>
                </a:extLst>
              </a:tr>
              <a:tr h="137034">
                <a:tc>
                  <a:txBody>
                    <a:bodyPr/>
                    <a:lstStyle/>
                    <a:p>
                      <a:pPr marL="92075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000" b="1" dirty="0">
                          <a:effectLst/>
                          <a:latin typeface="Century Gothic" panose="020B0502020202020204" pitchFamily="34" charset="0"/>
                        </a:rPr>
                        <a:t>Handover Condition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2235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800" dirty="0">
                          <a:effectLst/>
                          <a:latin typeface="Century Gothic" panose="020B0502020202020204" pitchFamily="34" charset="0"/>
                        </a:rPr>
                        <a:t>{{HANDOVER CONDITION}}</a:t>
                      </a: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7659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119FA4A-30CE-75D6-EEA2-19A909E04910}"/>
              </a:ext>
            </a:extLst>
          </p:cNvPr>
          <p:cNvSpPr txBox="1"/>
          <p:nvPr/>
        </p:nvSpPr>
        <p:spPr>
          <a:xfrm>
            <a:off x="-5197" y="1747146"/>
            <a:ext cx="7568047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700" b="1" dirty="0">
                <a:solidFill>
                  <a:srgbClr val="003366"/>
                </a:solidFill>
                <a:latin typeface="Century Gothic"/>
                <a:ea typeface="+mj-lt"/>
                <a:cs typeface="+mj-lt"/>
              </a:rPr>
              <a:t>{{PROPERTY_PHOTO1}}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C0509-9271-6989-8EB6-7F6F08ECC722}"/>
              </a:ext>
            </a:extLst>
          </p:cNvPr>
          <p:cNvSpPr txBox="1"/>
          <p:nvPr/>
        </p:nvSpPr>
        <p:spPr>
          <a:xfrm>
            <a:off x="-5197" y="6524652"/>
            <a:ext cx="393902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003366"/>
                </a:solidFill>
                <a:latin typeface="Century Gothic"/>
                <a:ea typeface="+mj-lt"/>
                <a:cs typeface="+mj-lt"/>
              </a:rPr>
              <a:t>{{PROPERTY_LOCATION_MAP}} </a:t>
            </a:r>
            <a:endParaRPr lang="en-US" sz="5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F37777D-3BA7-2A23-3CE8-302B0F4E55D4}"/>
              </a:ext>
            </a:extLst>
          </p:cNvPr>
          <p:cNvSpPr txBox="1">
            <a:spLocks/>
          </p:cNvSpPr>
          <p:nvPr/>
        </p:nvSpPr>
        <p:spPr>
          <a:xfrm>
            <a:off x="83267" y="437709"/>
            <a:ext cx="7562849" cy="6531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solidFill>
                  <a:srgbClr val="003366"/>
                </a:solidFill>
                <a:latin typeface="Century Gothic"/>
              </a:rPr>
              <a:t>{{PROPERTY_LOCATION}}</a:t>
            </a:r>
          </a:p>
          <a:p>
            <a:pPr algn="l"/>
            <a:r>
              <a:rPr lang="en-US" sz="1600" dirty="0">
                <a:solidFill>
                  <a:srgbClr val="003366"/>
                </a:solidFill>
                <a:latin typeface="Century Gothic"/>
              </a:rPr>
              <a:t>A total of </a:t>
            </a:r>
            <a:r>
              <a:rPr lang="en-US" sz="1600" b="1" dirty="0">
                <a:solidFill>
                  <a:srgbClr val="003366"/>
                </a:solidFill>
                <a:latin typeface="Century Gothic"/>
                <a:ea typeface="+mj-lt"/>
                <a:cs typeface="+mj-lt"/>
              </a:rPr>
              <a:t>{{PROPERTY_SIZE}} </a:t>
            </a:r>
            <a:r>
              <a:rPr lang="en-US" sz="1600" b="1" dirty="0">
                <a:solidFill>
                  <a:srgbClr val="003366"/>
                </a:solidFill>
                <a:latin typeface="Century Gothic"/>
              </a:rPr>
              <a:t>SQM </a:t>
            </a:r>
            <a:r>
              <a:rPr lang="en-US" sz="1600" dirty="0">
                <a:solidFill>
                  <a:srgbClr val="003366"/>
                </a:solidFill>
                <a:latin typeface="Century Gothic"/>
              </a:rPr>
              <a:t>{{PROPERTY_TYPE}} for Lease</a:t>
            </a:r>
            <a:endParaRPr lang="en-US" sz="1600" dirty="0">
              <a:solidFill>
                <a:srgbClr val="003366"/>
              </a:solidFill>
              <a:latin typeface="Century Gothic"/>
              <a:ea typeface="+mj-lt"/>
              <a:cs typeface="+mj-lt"/>
            </a:endParaRPr>
          </a:p>
          <a:p>
            <a:pPr algn="l"/>
            <a:endParaRPr lang="en-US" sz="2000" b="1" dirty="0">
              <a:solidFill>
                <a:srgbClr val="0033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Century Gothic"/>
              <a:ea typeface="+mj-lt"/>
              <a:cs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C66575-DCA5-2A6E-98AA-9E69CAAAD086}"/>
              </a:ext>
            </a:extLst>
          </p:cNvPr>
          <p:cNvSpPr txBox="1"/>
          <p:nvPr/>
        </p:nvSpPr>
        <p:spPr>
          <a:xfrm>
            <a:off x="4507058" y="6348873"/>
            <a:ext cx="26841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rgbClr val="003366"/>
                </a:solidFill>
                <a:latin typeface="Century Gothic"/>
                <a:ea typeface="+mj-lt"/>
                <a:cs typeface="+mj-lt"/>
              </a:rPr>
              <a:t>{{PROPERTY_HIGHLIGHTS1}} </a:t>
            </a:r>
            <a:endParaRPr lang="en-US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D98568-3A44-7608-6B9C-7C32FF17271D}"/>
              </a:ext>
            </a:extLst>
          </p:cNvPr>
          <p:cNvSpPr txBox="1"/>
          <p:nvPr/>
        </p:nvSpPr>
        <p:spPr>
          <a:xfrm>
            <a:off x="4507058" y="6841186"/>
            <a:ext cx="26841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rgbClr val="003366"/>
                </a:solidFill>
                <a:latin typeface="Century Gothic"/>
                <a:ea typeface="+mj-lt"/>
                <a:cs typeface="+mj-lt"/>
              </a:rPr>
              <a:t>{{PROPERTY_HIGHLIGHTS2}} </a:t>
            </a:r>
            <a:endParaRPr lang="en-US" sz="8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CD6583-3D2F-CF52-8817-5BF39950BD6C}"/>
              </a:ext>
            </a:extLst>
          </p:cNvPr>
          <p:cNvSpPr/>
          <p:nvPr/>
        </p:nvSpPr>
        <p:spPr>
          <a:xfrm>
            <a:off x="4382519" y="6386965"/>
            <a:ext cx="76200" cy="91576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15495D-CCE0-CD89-B1A0-CAA1248115F0}"/>
              </a:ext>
            </a:extLst>
          </p:cNvPr>
          <p:cNvSpPr/>
          <p:nvPr/>
        </p:nvSpPr>
        <p:spPr>
          <a:xfrm>
            <a:off x="4382519" y="6900359"/>
            <a:ext cx="76200" cy="91576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14FF4A-F905-9FA8-2E84-11795CAEE84B}"/>
              </a:ext>
            </a:extLst>
          </p:cNvPr>
          <p:cNvSpPr txBox="1"/>
          <p:nvPr/>
        </p:nvSpPr>
        <p:spPr>
          <a:xfrm>
            <a:off x="132765" y="9698223"/>
            <a:ext cx="2589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000" b="1" dirty="0">
                <a:solidFill>
                  <a:srgbClr val="003366"/>
                </a:solidFill>
                <a:latin typeface="Century Gothic" panose="020B0502020202020204" pitchFamily="34" charset="0"/>
              </a:rPr>
              <a:t>{{CTA1_NAME}}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CE77F6-83B7-E48D-56E9-51809723D528}"/>
              </a:ext>
            </a:extLst>
          </p:cNvPr>
          <p:cNvSpPr txBox="1"/>
          <p:nvPr/>
        </p:nvSpPr>
        <p:spPr>
          <a:xfrm>
            <a:off x="141276" y="9872667"/>
            <a:ext cx="20076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rgbClr val="181D1E"/>
                </a:solidFill>
                <a:latin typeface="Century Gothic" panose="020B0502020202020204" pitchFamily="34" charset="0"/>
              </a:rPr>
              <a:t>{{CTA1_CONTACT_NUMBER}}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413081-0F56-2399-819E-52A76F05CB37}"/>
              </a:ext>
            </a:extLst>
          </p:cNvPr>
          <p:cNvSpPr txBox="1"/>
          <p:nvPr/>
        </p:nvSpPr>
        <p:spPr>
          <a:xfrm>
            <a:off x="2268685" y="9691708"/>
            <a:ext cx="2589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000" b="1" dirty="0">
                <a:solidFill>
                  <a:srgbClr val="003366"/>
                </a:solidFill>
                <a:latin typeface="Century Gothic" panose="020B0502020202020204" pitchFamily="34" charset="0"/>
              </a:rPr>
              <a:t>{{CTA2_NAME}}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857BEB-62E7-DE83-31FA-8CE9C3D584C0}"/>
              </a:ext>
            </a:extLst>
          </p:cNvPr>
          <p:cNvSpPr txBox="1"/>
          <p:nvPr/>
        </p:nvSpPr>
        <p:spPr>
          <a:xfrm>
            <a:off x="141276" y="10021079"/>
            <a:ext cx="23352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rgbClr val="181D1E"/>
                </a:solidFill>
                <a:latin typeface="Century Gothic" panose="020B0502020202020204" pitchFamily="34" charset="0"/>
              </a:rPr>
              <a:t>{{CTA1_EMAIL_ADDRESS}}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02D920-EB34-7A06-5C5F-55D3CD30C2EB}"/>
              </a:ext>
            </a:extLst>
          </p:cNvPr>
          <p:cNvSpPr txBox="1"/>
          <p:nvPr/>
        </p:nvSpPr>
        <p:spPr>
          <a:xfrm>
            <a:off x="2292608" y="10014834"/>
            <a:ext cx="2288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rgbClr val="181D1E"/>
                </a:solidFill>
                <a:latin typeface="Century Gothic" panose="020B0502020202020204" pitchFamily="34" charset="0"/>
              </a:rPr>
              <a:t>{{CTA2_EMAIL_ADDRESS}}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B81D2A-0E8C-282B-D303-1D17BB512664}"/>
              </a:ext>
            </a:extLst>
          </p:cNvPr>
          <p:cNvSpPr txBox="1"/>
          <p:nvPr/>
        </p:nvSpPr>
        <p:spPr>
          <a:xfrm>
            <a:off x="2292608" y="9867681"/>
            <a:ext cx="20076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rgbClr val="181D1E"/>
                </a:solidFill>
                <a:latin typeface="Century Gothic" panose="020B0502020202020204" pitchFamily="34" charset="0"/>
              </a:rPr>
              <a:t>{{CTA2_CONTACT_NUMBER}}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C9D4468-9AC7-B7CC-98AA-D18F488A4BB5}"/>
              </a:ext>
            </a:extLst>
          </p:cNvPr>
          <p:cNvCxnSpPr>
            <a:cxnSpLocks/>
          </p:cNvCxnSpPr>
          <p:nvPr/>
        </p:nvCxnSpPr>
        <p:spPr>
          <a:xfrm>
            <a:off x="211985" y="9518991"/>
            <a:ext cx="7205082" cy="0"/>
          </a:xfrm>
          <a:prstGeom prst="line">
            <a:avLst/>
          </a:prstGeom>
          <a:ln w="28575">
            <a:solidFill>
              <a:srgbClr val="FFC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7AA1D60-56DE-3593-3A49-8657DF31C472}"/>
              </a:ext>
            </a:extLst>
          </p:cNvPr>
          <p:cNvSpPr txBox="1"/>
          <p:nvPr/>
        </p:nvSpPr>
        <p:spPr>
          <a:xfrm>
            <a:off x="-82571" y="9528683"/>
            <a:ext cx="2805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7805"/>
            <a:r>
              <a:rPr lang="en-US" sz="1100" b="1" kern="0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Contact</a:t>
            </a:r>
            <a:r>
              <a:rPr lang="en-US" sz="1100" b="1" kern="0" spc="55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 </a:t>
            </a:r>
            <a:r>
              <a:rPr lang="en-US" sz="1100" b="1" kern="0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us</a:t>
            </a:r>
            <a:r>
              <a:rPr lang="en-US" sz="1100" b="1" kern="0" spc="45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 </a:t>
            </a:r>
            <a:r>
              <a:rPr lang="en-US" sz="1100" b="1" kern="0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for</a:t>
            </a:r>
            <a:r>
              <a:rPr lang="en-US" sz="1100" b="1" kern="0" spc="40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 </a:t>
            </a:r>
            <a:r>
              <a:rPr lang="en-US" sz="1100" b="1" kern="0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further</a:t>
            </a:r>
            <a:r>
              <a:rPr lang="en-US" sz="1100" b="1" kern="0" spc="40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 </a:t>
            </a:r>
            <a:r>
              <a:rPr lang="en-US" sz="1100" b="1" kern="0" spc="-10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information:</a:t>
            </a:r>
            <a:endParaRPr lang="en-PH" sz="1100" b="1" kern="0" dirty="0">
              <a:solidFill>
                <a:srgbClr val="003366"/>
              </a:solidFill>
              <a:effectLst/>
              <a:latin typeface="Century Gothic" panose="020B0502020202020204" pitchFamily="34" charset="0"/>
              <a:ea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54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zoom dir="in"/>
      </p:transition>
    </mc:Choice>
    <mc:Fallback xmlns="">
      <p:transition spd="slow">
        <p:zoom dir="in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DC9CD-1C84-1137-5CB1-28157E13B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2074416-FD79-CFE1-52F1-E8707341CE12}"/>
              </a:ext>
            </a:extLst>
          </p:cNvPr>
          <p:cNvSpPr txBox="1"/>
          <p:nvPr/>
        </p:nvSpPr>
        <p:spPr>
          <a:xfrm>
            <a:off x="198023" y="6357460"/>
            <a:ext cx="343410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003366"/>
                </a:solidFill>
                <a:latin typeface="Century Gothic"/>
                <a:ea typeface="+mj-lt"/>
                <a:cs typeface="+mj-lt"/>
              </a:rPr>
              <a:t>{{PROPERTY_PHOTO2}} </a:t>
            </a:r>
            <a:endParaRPr lang="en-US" sz="5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E05485-571E-FC6B-F714-B0EC0B35F69C}"/>
              </a:ext>
            </a:extLst>
          </p:cNvPr>
          <p:cNvSpPr txBox="1"/>
          <p:nvPr/>
        </p:nvSpPr>
        <p:spPr>
          <a:xfrm>
            <a:off x="3853215" y="6315657"/>
            <a:ext cx="343410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003366"/>
                </a:solidFill>
                <a:latin typeface="Century Gothic"/>
                <a:ea typeface="+mj-lt"/>
                <a:cs typeface="+mj-lt"/>
              </a:rPr>
              <a:t>{{PROPERTY_PHOTO3}} </a:t>
            </a:r>
            <a:endParaRPr lang="en-US" sz="54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2DE6076-E88D-8FC6-AD7D-DA9436B57951}"/>
              </a:ext>
            </a:extLst>
          </p:cNvPr>
          <p:cNvSpPr/>
          <p:nvPr/>
        </p:nvSpPr>
        <p:spPr>
          <a:xfrm>
            <a:off x="0" y="5818145"/>
            <a:ext cx="1828800" cy="30819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400" b="1">
              <a:latin typeface="Century Gothic" panose="020B0502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F9063C-9394-E47E-ABB4-059E056BA0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266"/>
          <a:stretch/>
        </p:blipFill>
        <p:spPr>
          <a:xfrm>
            <a:off x="0" y="1"/>
            <a:ext cx="7563426" cy="506078"/>
          </a:xfr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6DB382E-5BC6-2383-65C6-BF363FD047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234" y="9624633"/>
            <a:ext cx="1550016" cy="453005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7F3C1FD4-6232-6A4E-1899-4DAB16818BFD}"/>
              </a:ext>
            </a:extLst>
          </p:cNvPr>
          <p:cNvSpPr/>
          <p:nvPr/>
        </p:nvSpPr>
        <p:spPr>
          <a:xfrm flipH="1">
            <a:off x="5689449" y="9681686"/>
            <a:ext cx="45719" cy="509835"/>
          </a:xfrm>
          <a:prstGeom prst="rect">
            <a:avLst/>
          </a:prstGeom>
          <a:solidFill>
            <a:srgbClr val="0036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8" name="Title 1">
            <a:extLst>
              <a:ext uri="{FF2B5EF4-FFF2-40B4-BE49-F238E27FC236}">
                <a16:creationId xmlns:a16="http://schemas.microsoft.com/office/drawing/2014/main" id="{33D38239-EA1E-67E6-79C8-6796AF550714}"/>
              </a:ext>
            </a:extLst>
          </p:cNvPr>
          <p:cNvSpPr txBox="1">
            <a:spLocks/>
          </p:cNvSpPr>
          <p:nvPr/>
        </p:nvSpPr>
        <p:spPr>
          <a:xfrm>
            <a:off x="5094563" y="9970075"/>
            <a:ext cx="2322504" cy="2279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>
                <a:solidFill>
                  <a:srgbClr val="003366"/>
                </a:solidFill>
                <a:latin typeface="Century Gothic" pitchFamily="34" charset="0"/>
              </a:rPr>
              <a:t>www.primephilippines.com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2BAEEA6-FAD4-9FD2-72D9-D94FE7850434}"/>
              </a:ext>
            </a:extLst>
          </p:cNvPr>
          <p:cNvCxnSpPr>
            <a:cxnSpLocks/>
          </p:cNvCxnSpPr>
          <p:nvPr/>
        </p:nvCxnSpPr>
        <p:spPr>
          <a:xfrm>
            <a:off x="211985" y="9518991"/>
            <a:ext cx="7205082" cy="0"/>
          </a:xfrm>
          <a:prstGeom prst="line">
            <a:avLst/>
          </a:prstGeom>
          <a:ln w="28575">
            <a:solidFill>
              <a:srgbClr val="FFC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CE5F38CA-6A89-CA83-E099-A068DFDBA5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222"/>
          <a:stretch/>
        </p:blipFill>
        <p:spPr>
          <a:xfrm>
            <a:off x="0" y="10303715"/>
            <a:ext cx="7563426" cy="40384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928D20A-BECA-B863-63BA-E210C02C7EDD}"/>
              </a:ext>
            </a:extLst>
          </p:cNvPr>
          <p:cNvCxnSpPr>
            <a:cxnSpLocks/>
          </p:cNvCxnSpPr>
          <p:nvPr/>
        </p:nvCxnSpPr>
        <p:spPr>
          <a:xfrm>
            <a:off x="221943" y="1136643"/>
            <a:ext cx="7205082" cy="0"/>
          </a:xfrm>
          <a:prstGeom prst="line">
            <a:avLst/>
          </a:prstGeom>
          <a:ln w="28575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E559759-5272-4BB7-9A94-47F181D42527}"/>
              </a:ext>
            </a:extLst>
          </p:cNvPr>
          <p:cNvSpPr txBox="1"/>
          <p:nvPr/>
        </p:nvSpPr>
        <p:spPr>
          <a:xfrm>
            <a:off x="198023" y="5850215"/>
            <a:ext cx="15672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PH" sz="1050" b="1">
                <a:solidFill>
                  <a:srgbClr val="FFBF00"/>
                </a:solidFill>
                <a:latin typeface="Century Gothic" panose="020B0502020202020204" pitchFamily="34" charset="0"/>
              </a:rPr>
              <a:t>PROPERTY PHOTOS</a:t>
            </a:r>
          </a:p>
        </p:txBody>
      </p:sp>
      <p:sp>
        <p:nvSpPr>
          <p:cNvPr id="31" name="AutoShape 16" descr="Savemore Logo | MimaiScribbles">
            <a:extLst>
              <a:ext uri="{FF2B5EF4-FFF2-40B4-BE49-F238E27FC236}">
                <a16:creationId xmlns:a16="http://schemas.microsoft.com/office/drawing/2014/main" id="{D4318D8E-02AC-E61E-DC1B-A4C84AB756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9025" y="51911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15B8233-466A-9F49-97E9-220CDC7D9D17}"/>
              </a:ext>
            </a:extLst>
          </p:cNvPr>
          <p:cNvCxnSpPr>
            <a:cxnSpLocks/>
          </p:cNvCxnSpPr>
          <p:nvPr/>
        </p:nvCxnSpPr>
        <p:spPr>
          <a:xfrm flipH="1">
            <a:off x="4655472" y="3596893"/>
            <a:ext cx="489451" cy="1206553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A902D5E-1CA3-2709-C06C-13B82F8E9891}"/>
              </a:ext>
            </a:extLst>
          </p:cNvPr>
          <p:cNvCxnSpPr>
            <a:cxnSpLocks/>
          </p:cNvCxnSpPr>
          <p:nvPr/>
        </p:nvCxnSpPr>
        <p:spPr>
          <a:xfrm>
            <a:off x="3300946" y="4112903"/>
            <a:ext cx="1435722" cy="475836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B2E6DD6-6B66-A503-9A55-162E0D969EAB}"/>
              </a:ext>
            </a:extLst>
          </p:cNvPr>
          <p:cNvCxnSpPr>
            <a:cxnSpLocks/>
          </p:cNvCxnSpPr>
          <p:nvPr/>
        </p:nvCxnSpPr>
        <p:spPr>
          <a:xfrm>
            <a:off x="3680722" y="3776422"/>
            <a:ext cx="1219475" cy="423747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375BA1B-8E42-8507-8B11-3920F8784A96}"/>
              </a:ext>
            </a:extLst>
          </p:cNvPr>
          <p:cNvCxnSpPr>
            <a:cxnSpLocks/>
          </p:cNvCxnSpPr>
          <p:nvPr/>
        </p:nvCxnSpPr>
        <p:spPr>
          <a:xfrm>
            <a:off x="4015996" y="3511255"/>
            <a:ext cx="1015101" cy="347206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51BF6A32-176B-0A5B-C2BC-810E1A301DC4}"/>
              </a:ext>
            </a:extLst>
          </p:cNvPr>
          <p:cNvSpPr txBox="1"/>
          <p:nvPr/>
        </p:nvSpPr>
        <p:spPr>
          <a:xfrm>
            <a:off x="3994406" y="3702405"/>
            <a:ext cx="8576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3</a:t>
            </a:r>
            <a:r>
              <a:rPr lang="en-US" sz="1000" b="1">
                <a:solidFill>
                  <a:schemeClr val="bg1"/>
                </a:solidFill>
                <a:latin typeface="Century Gothic" panose="020B0502020202020204" pitchFamily="34" charset="0"/>
              </a:rPr>
              <a:t>,000 sqm</a:t>
            </a:r>
            <a:endParaRPr lang="en-PH" sz="10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A64E33F-B09B-B388-1586-4FA2DA10ACC4}"/>
              </a:ext>
            </a:extLst>
          </p:cNvPr>
          <p:cNvSpPr txBox="1"/>
          <p:nvPr/>
        </p:nvSpPr>
        <p:spPr>
          <a:xfrm rot="1080943">
            <a:off x="4056356" y="3447803"/>
            <a:ext cx="11000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>
                <a:solidFill>
                  <a:schemeClr val="bg1"/>
                </a:solidFill>
                <a:latin typeface="Century Gothic" panose="020B0502020202020204" pitchFamily="34" charset="0"/>
              </a:rPr>
              <a:t>Under Negotiation</a:t>
            </a:r>
            <a:endParaRPr lang="en-PH" sz="8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844F396-D9EF-3929-8B15-1680B8196257}"/>
              </a:ext>
            </a:extLst>
          </p:cNvPr>
          <p:cNvSpPr txBox="1"/>
          <p:nvPr/>
        </p:nvSpPr>
        <p:spPr>
          <a:xfrm>
            <a:off x="3864692" y="4056992"/>
            <a:ext cx="8576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3</a:t>
            </a:r>
            <a:r>
              <a:rPr lang="en-US" sz="1000" b="1">
                <a:solidFill>
                  <a:schemeClr val="bg1"/>
                </a:solidFill>
                <a:latin typeface="Century Gothic" panose="020B0502020202020204" pitchFamily="34" charset="0"/>
              </a:rPr>
              <a:t>,000 sqm</a:t>
            </a:r>
            <a:endParaRPr lang="en-PH" sz="10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2DBC12C-C503-0E35-C88E-946D5C5410E9}"/>
              </a:ext>
            </a:extLst>
          </p:cNvPr>
          <p:cNvSpPr txBox="1"/>
          <p:nvPr/>
        </p:nvSpPr>
        <p:spPr>
          <a:xfrm>
            <a:off x="3664012" y="4389465"/>
            <a:ext cx="8576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2</a:t>
            </a:r>
            <a:r>
              <a:rPr lang="en-US" sz="1000" b="1">
                <a:solidFill>
                  <a:schemeClr val="bg1"/>
                </a:solidFill>
                <a:latin typeface="Century Gothic" panose="020B0502020202020204" pitchFamily="34" charset="0"/>
              </a:rPr>
              <a:t>,000 sqm</a:t>
            </a:r>
            <a:endParaRPr lang="en-PH" sz="10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E7ACC38-AB2A-C331-9A4F-FDFF155556FE}"/>
              </a:ext>
            </a:extLst>
          </p:cNvPr>
          <p:cNvSpPr txBox="1"/>
          <p:nvPr/>
        </p:nvSpPr>
        <p:spPr>
          <a:xfrm>
            <a:off x="5047752" y="4333618"/>
            <a:ext cx="8576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9,600</a:t>
            </a:r>
            <a:r>
              <a:rPr lang="en-US" sz="1000" b="1">
                <a:solidFill>
                  <a:schemeClr val="bg1"/>
                </a:solidFill>
                <a:latin typeface="Century Gothic" panose="020B0502020202020204" pitchFamily="34" charset="0"/>
              </a:rPr>
              <a:t> sqm</a:t>
            </a:r>
            <a:endParaRPr lang="en-PH" sz="10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1F5AAB8-8DE9-83CA-C488-A56065C84191}"/>
              </a:ext>
            </a:extLst>
          </p:cNvPr>
          <p:cNvCxnSpPr>
            <a:cxnSpLocks/>
          </p:cNvCxnSpPr>
          <p:nvPr/>
        </p:nvCxnSpPr>
        <p:spPr>
          <a:xfrm flipV="1">
            <a:off x="3371850" y="2918460"/>
            <a:ext cx="882650" cy="57150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29D3B4F-18F4-BA9F-C34A-9A15F187FFAD}"/>
              </a:ext>
            </a:extLst>
          </p:cNvPr>
          <p:cNvSpPr txBox="1"/>
          <p:nvPr/>
        </p:nvSpPr>
        <p:spPr>
          <a:xfrm rot="5552548">
            <a:off x="3610119" y="4885384"/>
            <a:ext cx="12432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b="1">
                <a:solidFill>
                  <a:schemeClr val="bg1"/>
                </a:solidFill>
                <a:latin typeface="Century Gothic" panose="020B0502020202020204" pitchFamily="34" charset="0"/>
              </a:rPr>
              <a:t>Sgt. Esguerra Ave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A4BAA7-CC93-779D-53B2-8DE0221CE62F}"/>
              </a:ext>
            </a:extLst>
          </p:cNvPr>
          <p:cNvSpPr txBox="1"/>
          <p:nvPr/>
        </p:nvSpPr>
        <p:spPr>
          <a:xfrm rot="5550803">
            <a:off x="3725501" y="2160904"/>
            <a:ext cx="12432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b="1">
                <a:solidFill>
                  <a:schemeClr val="bg1"/>
                </a:solidFill>
                <a:latin typeface="Century Gothic" panose="020B0502020202020204" pitchFamily="34" charset="0"/>
              </a:rPr>
              <a:t>Sgt. Esguerra Ave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1A6815-5AF4-44DF-EC63-0EEAA8860ACB}"/>
              </a:ext>
            </a:extLst>
          </p:cNvPr>
          <p:cNvSpPr txBox="1"/>
          <p:nvPr/>
        </p:nvSpPr>
        <p:spPr>
          <a:xfrm>
            <a:off x="1375556" y="3651475"/>
            <a:ext cx="12432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900" b="1">
                <a:solidFill>
                  <a:schemeClr val="bg1"/>
                </a:solidFill>
                <a:latin typeface="Century Gothic" panose="020B0502020202020204" pitchFamily="34" charset="0"/>
              </a:rPr>
              <a:t>Quezon Ave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2E1837-9748-D4F8-5E72-81710B05C47D}"/>
              </a:ext>
            </a:extLst>
          </p:cNvPr>
          <p:cNvSpPr txBox="1"/>
          <p:nvPr/>
        </p:nvSpPr>
        <p:spPr>
          <a:xfrm>
            <a:off x="5435482" y="3690317"/>
            <a:ext cx="12432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900" b="1">
                <a:solidFill>
                  <a:schemeClr val="bg1"/>
                </a:solidFill>
                <a:latin typeface="Century Gothic" panose="020B0502020202020204" pitchFamily="34" charset="0"/>
              </a:rPr>
              <a:t>Quezon Ave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AFD2F2-B37C-9CCD-0A98-038EF14F3173}"/>
              </a:ext>
            </a:extLst>
          </p:cNvPr>
          <p:cNvSpPr txBox="1"/>
          <p:nvPr/>
        </p:nvSpPr>
        <p:spPr>
          <a:xfrm rot="5400000">
            <a:off x="6703602" y="2453812"/>
            <a:ext cx="12432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900" b="1">
                <a:solidFill>
                  <a:schemeClr val="bg1"/>
                </a:solidFill>
                <a:latin typeface="Century Gothic" panose="020B0502020202020204" pitchFamily="34" charset="0"/>
              </a:rPr>
              <a:t>EDSA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B4BD9A9-94AF-68FE-155E-1E38DACEF2DC}"/>
              </a:ext>
            </a:extLst>
          </p:cNvPr>
          <p:cNvSpPr txBox="1"/>
          <p:nvPr/>
        </p:nvSpPr>
        <p:spPr>
          <a:xfrm rot="5400000">
            <a:off x="6703602" y="4980920"/>
            <a:ext cx="12432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900" b="1">
                <a:solidFill>
                  <a:schemeClr val="bg1"/>
                </a:solidFill>
                <a:latin typeface="Century Gothic" panose="020B0502020202020204" pitchFamily="34" charset="0"/>
              </a:rPr>
              <a:t>EDSA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18A1698-4CCF-55BB-1E89-B91A16EB15CA}"/>
              </a:ext>
            </a:extLst>
          </p:cNvPr>
          <p:cNvSpPr txBox="1">
            <a:spLocks/>
          </p:cNvSpPr>
          <p:nvPr/>
        </p:nvSpPr>
        <p:spPr>
          <a:xfrm>
            <a:off x="83267" y="437709"/>
            <a:ext cx="7562849" cy="6531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solidFill>
                  <a:srgbClr val="003366"/>
                </a:solidFill>
                <a:latin typeface="Century Gothic"/>
              </a:rPr>
              <a:t>{{PROPERTY_LOCATION}}</a:t>
            </a:r>
          </a:p>
          <a:p>
            <a:pPr algn="l"/>
            <a:r>
              <a:rPr lang="en-US" sz="1600" dirty="0">
                <a:solidFill>
                  <a:srgbClr val="003366"/>
                </a:solidFill>
                <a:latin typeface="Century Gothic"/>
              </a:rPr>
              <a:t>A total of </a:t>
            </a:r>
            <a:r>
              <a:rPr lang="en-US" sz="1600" b="1" dirty="0">
                <a:solidFill>
                  <a:srgbClr val="003366"/>
                </a:solidFill>
                <a:latin typeface="Century Gothic"/>
                <a:ea typeface="+mj-lt"/>
                <a:cs typeface="+mj-lt"/>
              </a:rPr>
              <a:t>{{PROPERTY_SIZE}} </a:t>
            </a:r>
            <a:r>
              <a:rPr lang="en-US" sz="1600" b="1" dirty="0">
                <a:solidFill>
                  <a:srgbClr val="003366"/>
                </a:solidFill>
                <a:latin typeface="Century Gothic"/>
              </a:rPr>
              <a:t>SQM </a:t>
            </a:r>
            <a:r>
              <a:rPr lang="en-US" sz="1600" dirty="0">
                <a:solidFill>
                  <a:srgbClr val="003366"/>
                </a:solidFill>
                <a:latin typeface="Century Gothic"/>
              </a:rPr>
              <a:t>{{PROPERTY_TYPE}} for Lease</a:t>
            </a:r>
            <a:endParaRPr lang="en-US" sz="1600" dirty="0">
              <a:solidFill>
                <a:srgbClr val="003366"/>
              </a:solidFill>
              <a:latin typeface="Century Gothic"/>
              <a:ea typeface="+mj-lt"/>
              <a:cs typeface="+mj-lt"/>
            </a:endParaRPr>
          </a:p>
          <a:p>
            <a:pPr algn="l"/>
            <a:endParaRPr lang="en-US" sz="2000" b="1" dirty="0">
              <a:solidFill>
                <a:srgbClr val="0033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endParaRPr>
          </a:p>
          <a:p>
            <a:pPr algn="l"/>
            <a:endParaRPr lang="en-US" sz="1800" dirty="0">
              <a:solidFill>
                <a:srgbClr val="002060"/>
              </a:solidFill>
              <a:latin typeface="Century Gothic"/>
              <a:ea typeface="+mj-lt"/>
              <a:cs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9D515F-944C-FA3D-63EF-A7A113B499C5}"/>
              </a:ext>
            </a:extLst>
          </p:cNvPr>
          <p:cNvSpPr txBox="1"/>
          <p:nvPr/>
        </p:nvSpPr>
        <p:spPr>
          <a:xfrm>
            <a:off x="0" y="1732146"/>
            <a:ext cx="7538135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700" b="1" dirty="0">
                <a:solidFill>
                  <a:srgbClr val="003366"/>
                </a:solidFill>
                <a:latin typeface="Century Gothic"/>
                <a:ea typeface="+mj-lt"/>
                <a:cs typeface="+mj-lt"/>
              </a:rPr>
              <a:t>{{PROPERTY_LOTPLAN}}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643931-C741-37A4-7C89-B235ADF2BA18}"/>
              </a:ext>
            </a:extLst>
          </p:cNvPr>
          <p:cNvSpPr txBox="1"/>
          <p:nvPr/>
        </p:nvSpPr>
        <p:spPr>
          <a:xfrm>
            <a:off x="132765" y="9698223"/>
            <a:ext cx="2589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000" b="1" dirty="0">
                <a:solidFill>
                  <a:srgbClr val="003366"/>
                </a:solidFill>
                <a:latin typeface="Century Gothic" panose="020B0502020202020204" pitchFamily="34" charset="0"/>
              </a:rPr>
              <a:t>{{CTA1_NAME}}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972ED8-90CA-79CC-EA99-E05695B9609E}"/>
              </a:ext>
            </a:extLst>
          </p:cNvPr>
          <p:cNvSpPr txBox="1"/>
          <p:nvPr/>
        </p:nvSpPr>
        <p:spPr>
          <a:xfrm>
            <a:off x="141276" y="9872667"/>
            <a:ext cx="20076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rgbClr val="181D1E"/>
                </a:solidFill>
                <a:latin typeface="Century Gothic" panose="020B0502020202020204" pitchFamily="34" charset="0"/>
              </a:rPr>
              <a:t>{{CTA1_CONTACT_NUMBER}}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AB041C-2795-2609-2BE1-D9D10164A335}"/>
              </a:ext>
            </a:extLst>
          </p:cNvPr>
          <p:cNvSpPr txBox="1"/>
          <p:nvPr/>
        </p:nvSpPr>
        <p:spPr>
          <a:xfrm>
            <a:off x="2268685" y="9691708"/>
            <a:ext cx="2589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000" b="1" dirty="0">
                <a:solidFill>
                  <a:srgbClr val="003366"/>
                </a:solidFill>
                <a:latin typeface="Century Gothic" panose="020B0502020202020204" pitchFamily="34" charset="0"/>
              </a:rPr>
              <a:t>{{CTA2_NAME}}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1961FF-42B8-B580-B6BE-D2DA3A8A77A1}"/>
              </a:ext>
            </a:extLst>
          </p:cNvPr>
          <p:cNvSpPr txBox="1"/>
          <p:nvPr/>
        </p:nvSpPr>
        <p:spPr>
          <a:xfrm>
            <a:off x="141276" y="10021079"/>
            <a:ext cx="21923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rgbClr val="181D1E"/>
                </a:solidFill>
                <a:latin typeface="Century Gothic" panose="020B0502020202020204" pitchFamily="34" charset="0"/>
              </a:rPr>
              <a:t>{{CTA1_EMAIL_ADDRESS}}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E88005-CC84-832E-4A8B-093B4C103F37}"/>
              </a:ext>
            </a:extLst>
          </p:cNvPr>
          <p:cNvSpPr txBox="1"/>
          <p:nvPr/>
        </p:nvSpPr>
        <p:spPr>
          <a:xfrm>
            <a:off x="2292608" y="10014834"/>
            <a:ext cx="25143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rgbClr val="181D1E"/>
                </a:solidFill>
                <a:latin typeface="Century Gothic" panose="020B0502020202020204" pitchFamily="34" charset="0"/>
              </a:rPr>
              <a:t>{{CTA2_EMAIL_ADDRESS}}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416F7E-5B61-585D-242E-BD49E0635F2D}"/>
              </a:ext>
            </a:extLst>
          </p:cNvPr>
          <p:cNvSpPr txBox="1"/>
          <p:nvPr/>
        </p:nvSpPr>
        <p:spPr>
          <a:xfrm>
            <a:off x="2292608" y="9867681"/>
            <a:ext cx="20076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800" dirty="0">
                <a:solidFill>
                  <a:srgbClr val="181D1E"/>
                </a:solidFill>
                <a:latin typeface="Century Gothic" panose="020B0502020202020204" pitchFamily="34" charset="0"/>
              </a:rPr>
              <a:t>{{CTA2_CONTACT_NUMBER}}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73AF32-E2F1-FF68-34D9-63E25DED3AE8}"/>
              </a:ext>
            </a:extLst>
          </p:cNvPr>
          <p:cNvSpPr txBox="1"/>
          <p:nvPr/>
        </p:nvSpPr>
        <p:spPr>
          <a:xfrm>
            <a:off x="-82571" y="9528683"/>
            <a:ext cx="2805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7805"/>
            <a:r>
              <a:rPr lang="en-US" sz="1100" b="1" kern="0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Contact</a:t>
            </a:r>
            <a:r>
              <a:rPr lang="en-US" sz="1100" b="1" kern="0" spc="55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 </a:t>
            </a:r>
            <a:r>
              <a:rPr lang="en-US" sz="1100" b="1" kern="0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us</a:t>
            </a:r>
            <a:r>
              <a:rPr lang="en-US" sz="1100" b="1" kern="0" spc="45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 </a:t>
            </a:r>
            <a:r>
              <a:rPr lang="en-US" sz="1100" b="1" kern="0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for</a:t>
            </a:r>
            <a:r>
              <a:rPr lang="en-US" sz="1100" b="1" kern="0" spc="40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 </a:t>
            </a:r>
            <a:r>
              <a:rPr lang="en-US" sz="1100" b="1" kern="0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further</a:t>
            </a:r>
            <a:r>
              <a:rPr lang="en-US" sz="1100" b="1" kern="0" spc="40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 </a:t>
            </a:r>
            <a:r>
              <a:rPr lang="en-US" sz="1100" b="1" kern="0" spc="-10" dirty="0">
                <a:solidFill>
                  <a:srgbClr val="003366"/>
                </a:solidFill>
                <a:effectLst/>
                <a:latin typeface="Century Gothic" panose="020B0502020202020204" pitchFamily="34" charset="0"/>
                <a:ea typeface="Tahoma" panose="020B0604030504040204" pitchFamily="34" charset="0"/>
              </a:rPr>
              <a:t>information:</a:t>
            </a:r>
            <a:endParaRPr lang="en-PH" sz="1100" b="1" kern="0" dirty="0">
              <a:solidFill>
                <a:srgbClr val="003366"/>
              </a:solidFill>
              <a:effectLst/>
              <a:latin typeface="Century Gothic" panose="020B0502020202020204" pitchFamily="34" charset="0"/>
              <a:ea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1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zoom dir="in"/>
      </p:transition>
    </mc:Choice>
    <mc:Fallback xmlns="">
      <p:transition spd="slow">
        <p:zoom dir="in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7988</TotalTime>
  <Words>258</Words>
  <Application>Microsoft Office PowerPoint</Application>
  <PresentationFormat>Custom</PresentationFormat>
  <Paragraphs>58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Century Gothic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</dc:creator>
  <cp:lastModifiedBy>Dave Policarpio</cp:lastModifiedBy>
  <cp:revision>477</cp:revision>
  <cp:lastPrinted>2024-07-17T10:29:30Z</cp:lastPrinted>
  <dcterms:created xsi:type="dcterms:W3CDTF">2017-01-10T05:15:19Z</dcterms:created>
  <dcterms:modified xsi:type="dcterms:W3CDTF">2026-05-19T01:17:23Z</dcterms:modified>
</cp:coreProperties>
</file>