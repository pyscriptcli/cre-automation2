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7" r:id="rId11"/>
    <p:sldId id="265" r:id="rId12"/>
    <p:sldId id="266" r:id="rId13"/>
  </p:sldIdLst>
  <p:sldSz cx="18288000" cy="10287000"/>
  <p:notesSz cx="6858000" cy="9144000"/>
  <p:embeddedFontLst>
    <p:embeddedFont>
      <p:font typeface="Century Gothic Paneuropean" panose="020B0604020202020204" charset="0"/>
      <p:regular r:id="rId14"/>
    </p:embeddedFont>
    <p:embeddedFont>
      <p:font typeface="Century Gothic Paneuropean Bold" panose="020B0604020202020204" charset="0"/>
      <p:regular r:id="rId15"/>
    </p:embeddedFont>
    <p:embeddedFont>
      <p:font typeface="Cormorant Garamond" panose="020B0604020202020204" charset="0"/>
      <p:regular r:id="rId16"/>
    </p:embeddedFont>
    <p:embeddedFont>
      <p:font typeface="Cormorant Garamond Italics" panose="020B0604020202020204" charset="0"/>
      <p:regular r:id="rId17"/>
    </p:embeddedFont>
    <p:embeddedFont>
      <p:font typeface="Cormorant Garamond Light" panose="020B0604020202020204" charset="0"/>
      <p:regular r:id="rId18"/>
    </p:embeddedFont>
    <p:embeddedFont>
      <p:font typeface="Cormorant Garamond Light Italics" panose="020B0604020202020204" charset="0"/>
      <p:regular r:id="rId19"/>
    </p:embeddedFont>
    <p:embeddedFont>
      <p:font typeface="Cormorant Garamond Medium" panose="020B0604020202020204" charset="0"/>
      <p:regular r:id="rId20"/>
    </p:embeddedFont>
    <p:embeddedFont>
      <p:font typeface="Cormorant Garamond Semi-Bold" panose="020B0604020202020204" charset="0"/>
      <p:regular r:id="rId21"/>
    </p:embeddedFont>
    <p:embeddedFont>
      <p:font typeface="DM Sans Bold Italics" panose="020B0604020202020204" charset="0"/>
      <p:regular r:id="rId22"/>
    </p:embeddedFont>
    <p:embeddedFont>
      <p:font typeface="Montserrat" panose="00000500000000000000" pitchFamily="2" charset="0"/>
      <p:regular r:id="rId23"/>
      <p:bold r:id="rId24"/>
      <p:italic r:id="rId25"/>
      <p:boldItalic r:id="rId26"/>
    </p:embeddedFont>
    <p:embeddedFont>
      <p:font typeface="Montserrat Bold" panose="00000800000000000000" charset="0"/>
      <p:regular r:id="rId27"/>
    </p:embeddedFont>
    <p:embeddedFont>
      <p:font typeface="Montserrat Light" panose="00000400000000000000" pitchFamily="2" charset="0"/>
      <p:regular r:id="rId28"/>
      <p:italic r:id="rId29"/>
    </p:embeddedFont>
    <p:embeddedFont>
      <p:font typeface="Montserrat Medium" panose="00000600000000000000" pitchFamily="2" charset="0"/>
      <p:regular r:id="rId30"/>
      <p:italic r:id="rId3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9A84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65" d="100"/>
          <a:sy n="65" d="100"/>
        </p:scale>
        <p:origin x="126" y="4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font" Target="fonts/font5.fntdata"/><Relationship Id="rId26" Type="http://schemas.openxmlformats.org/officeDocument/2006/relationships/font" Target="fonts/font13.fntdata"/><Relationship Id="rId3" Type="http://schemas.openxmlformats.org/officeDocument/2006/relationships/slide" Target="slides/slide2.xml"/><Relationship Id="rId21" Type="http://schemas.openxmlformats.org/officeDocument/2006/relationships/font" Target="fonts/font8.fntdata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openxmlformats.org/officeDocument/2006/relationships/font" Target="fonts/font12.fntdata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29" Type="http://schemas.openxmlformats.org/officeDocument/2006/relationships/font" Target="fonts/font1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1.fntdata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font" Target="fonts/font10.fntdata"/><Relationship Id="rId28" Type="http://schemas.openxmlformats.org/officeDocument/2006/relationships/font" Target="fonts/font15.fntdata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31" Type="http://schemas.openxmlformats.org/officeDocument/2006/relationships/font" Target="fonts/font1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font" Target="fonts/font9.fntdata"/><Relationship Id="rId27" Type="http://schemas.openxmlformats.org/officeDocument/2006/relationships/font" Target="fonts/font14.fntdata"/><Relationship Id="rId30" Type="http://schemas.openxmlformats.org/officeDocument/2006/relationships/font" Target="fonts/font17.fntdata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5" Type="http://schemas.openxmlformats.org/officeDocument/2006/relationships/hyperlink" Target="https://www.google.com/maps?q=14.6168148,121.0360092" TargetMode="Externa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openxmlformats.org/officeDocument/2006/relationships/hyperlink" Target="https://www.google.com/maps?q=14.6168148,121.0360092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.png"/><Relationship Id="rId4" Type="http://schemas.openxmlformats.org/officeDocument/2006/relationships/image" Target="../media/image7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1A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58051" cy="10270154"/>
            <a:chOff x="0" y="0"/>
            <a:chExt cx="16256000" cy="9144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6256000" cy="9144000"/>
            </a:xfrm>
            <a:custGeom>
              <a:avLst/>
              <a:gdLst/>
              <a:ahLst/>
              <a:cxnLst/>
              <a:rect l="l" t="t" r="r" b="b"/>
              <a:pathLst>
                <a:path w="16256000" h="9144000">
                  <a:moveTo>
                    <a:pt x="0" y="0"/>
                  </a:moveTo>
                  <a:lnTo>
                    <a:pt x="16256000" y="0"/>
                  </a:lnTo>
                  <a:lnTo>
                    <a:pt x="16256000" y="9144000"/>
                  </a:lnTo>
                  <a:lnTo>
                    <a:pt x="0" y="9144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B1B39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28528" y="0"/>
            <a:ext cx="18229523" cy="4566752"/>
            <a:chOff x="0" y="0"/>
            <a:chExt cx="24306031" cy="6089002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6086017" cy="6089002"/>
            </a:xfrm>
            <a:custGeom>
              <a:avLst/>
              <a:gdLst/>
              <a:ahLst/>
              <a:cxnLst/>
              <a:rect l="l" t="t" r="r" b="b"/>
              <a:pathLst>
                <a:path w="6086017" h="6089002">
                  <a:moveTo>
                    <a:pt x="0" y="0"/>
                  </a:moveTo>
                  <a:lnTo>
                    <a:pt x="6086017" y="0"/>
                  </a:lnTo>
                  <a:lnTo>
                    <a:pt x="6086017" y="6089002"/>
                  </a:lnTo>
                  <a:lnTo>
                    <a:pt x="0" y="608900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alphaModFix amt="9999"/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 r="-264" b="-215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Freeform 6"/>
            <p:cNvSpPr/>
            <p:nvPr/>
          </p:nvSpPr>
          <p:spPr>
            <a:xfrm>
              <a:off x="6047980" y="0"/>
              <a:ext cx="6086017" cy="6089002"/>
            </a:xfrm>
            <a:custGeom>
              <a:avLst/>
              <a:gdLst/>
              <a:ahLst/>
              <a:cxnLst/>
              <a:rect l="l" t="t" r="r" b="b"/>
              <a:pathLst>
                <a:path w="6086017" h="6089002">
                  <a:moveTo>
                    <a:pt x="0" y="0"/>
                  </a:moveTo>
                  <a:lnTo>
                    <a:pt x="6086017" y="0"/>
                  </a:lnTo>
                  <a:lnTo>
                    <a:pt x="6086017" y="6089002"/>
                  </a:lnTo>
                  <a:lnTo>
                    <a:pt x="0" y="608900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alphaModFix amt="9999"/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 r="-264" b="-215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Freeform 7"/>
            <p:cNvSpPr/>
            <p:nvPr/>
          </p:nvSpPr>
          <p:spPr>
            <a:xfrm>
              <a:off x="12133997" y="0"/>
              <a:ext cx="6086017" cy="6089002"/>
            </a:xfrm>
            <a:custGeom>
              <a:avLst/>
              <a:gdLst/>
              <a:ahLst/>
              <a:cxnLst/>
              <a:rect l="l" t="t" r="r" b="b"/>
              <a:pathLst>
                <a:path w="6086017" h="6089002">
                  <a:moveTo>
                    <a:pt x="0" y="0"/>
                  </a:moveTo>
                  <a:lnTo>
                    <a:pt x="6086017" y="0"/>
                  </a:lnTo>
                  <a:lnTo>
                    <a:pt x="6086017" y="6089002"/>
                  </a:lnTo>
                  <a:lnTo>
                    <a:pt x="0" y="608900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alphaModFix amt="9999"/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 r="-264" b="-215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Freeform 8"/>
            <p:cNvSpPr/>
            <p:nvPr/>
          </p:nvSpPr>
          <p:spPr>
            <a:xfrm>
              <a:off x="18220014" y="0"/>
              <a:ext cx="6086017" cy="6089002"/>
            </a:xfrm>
            <a:custGeom>
              <a:avLst/>
              <a:gdLst/>
              <a:ahLst/>
              <a:cxnLst/>
              <a:rect l="l" t="t" r="r" b="b"/>
              <a:pathLst>
                <a:path w="6086017" h="6089002">
                  <a:moveTo>
                    <a:pt x="0" y="0"/>
                  </a:moveTo>
                  <a:lnTo>
                    <a:pt x="6086017" y="0"/>
                  </a:lnTo>
                  <a:lnTo>
                    <a:pt x="6086017" y="6089002"/>
                  </a:lnTo>
                  <a:lnTo>
                    <a:pt x="0" y="608900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alphaModFix amt="9999"/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 r="-264" b="-215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9" name="Freeform 9"/>
          <p:cNvSpPr/>
          <p:nvPr/>
        </p:nvSpPr>
        <p:spPr>
          <a:xfrm>
            <a:off x="0" y="4566752"/>
            <a:ext cx="4564513" cy="4566752"/>
          </a:xfrm>
          <a:custGeom>
            <a:avLst/>
            <a:gdLst/>
            <a:ahLst/>
            <a:cxnLst/>
            <a:rect l="l" t="t" r="r" b="b"/>
            <a:pathLst>
              <a:path w="4564513" h="4566752">
                <a:moveTo>
                  <a:pt x="0" y="0"/>
                </a:moveTo>
                <a:lnTo>
                  <a:pt x="4564513" y="0"/>
                </a:lnTo>
                <a:lnTo>
                  <a:pt x="4564513" y="4566751"/>
                </a:lnTo>
                <a:lnTo>
                  <a:pt x="0" y="456675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9999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r="-264" b="-215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Freeform 10"/>
          <p:cNvSpPr/>
          <p:nvPr/>
        </p:nvSpPr>
        <p:spPr>
          <a:xfrm>
            <a:off x="4564513" y="4566752"/>
            <a:ext cx="4564513" cy="4566752"/>
          </a:xfrm>
          <a:custGeom>
            <a:avLst/>
            <a:gdLst/>
            <a:ahLst/>
            <a:cxnLst/>
            <a:rect l="l" t="t" r="r" b="b"/>
            <a:pathLst>
              <a:path w="4564513" h="4566752">
                <a:moveTo>
                  <a:pt x="0" y="0"/>
                </a:moveTo>
                <a:lnTo>
                  <a:pt x="4564513" y="0"/>
                </a:lnTo>
                <a:lnTo>
                  <a:pt x="4564513" y="4566751"/>
                </a:lnTo>
                <a:lnTo>
                  <a:pt x="0" y="456675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9999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r="-264" b="-215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>
          <a:xfrm>
            <a:off x="9129026" y="4566752"/>
            <a:ext cx="4564513" cy="4566752"/>
          </a:xfrm>
          <a:custGeom>
            <a:avLst/>
            <a:gdLst/>
            <a:ahLst/>
            <a:cxnLst/>
            <a:rect l="l" t="t" r="r" b="b"/>
            <a:pathLst>
              <a:path w="4564513" h="4566752">
                <a:moveTo>
                  <a:pt x="0" y="0"/>
                </a:moveTo>
                <a:lnTo>
                  <a:pt x="4564513" y="0"/>
                </a:lnTo>
                <a:lnTo>
                  <a:pt x="4564513" y="4566751"/>
                </a:lnTo>
                <a:lnTo>
                  <a:pt x="0" y="456675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9999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r="-264" b="-215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Freeform 12"/>
          <p:cNvSpPr/>
          <p:nvPr/>
        </p:nvSpPr>
        <p:spPr>
          <a:xfrm>
            <a:off x="13693539" y="4566752"/>
            <a:ext cx="4564513" cy="4566752"/>
          </a:xfrm>
          <a:custGeom>
            <a:avLst/>
            <a:gdLst/>
            <a:ahLst/>
            <a:cxnLst/>
            <a:rect l="l" t="t" r="r" b="b"/>
            <a:pathLst>
              <a:path w="4564513" h="4566752">
                <a:moveTo>
                  <a:pt x="0" y="0"/>
                </a:moveTo>
                <a:lnTo>
                  <a:pt x="4564512" y="0"/>
                </a:lnTo>
                <a:lnTo>
                  <a:pt x="4564512" y="4566751"/>
                </a:lnTo>
                <a:lnTo>
                  <a:pt x="0" y="456675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9999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r="-264" b="-215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3" name="Group 13"/>
          <p:cNvGrpSpPr/>
          <p:nvPr/>
        </p:nvGrpSpPr>
        <p:grpSpPr>
          <a:xfrm>
            <a:off x="28528" y="9133503"/>
            <a:ext cx="18229523" cy="4566752"/>
            <a:chOff x="0" y="0"/>
            <a:chExt cx="24306031" cy="6089002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6086017" cy="6089002"/>
            </a:xfrm>
            <a:custGeom>
              <a:avLst/>
              <a:gdLst/>
              <a:ahLst/>
              <a:cxnLst/>
              <a:rect l="l" t="t" r="r" b="b"/>
              <a:pathLst>
                <a:path w="6086017" h="6089002">
                  <a:moveTo>
                    <a:pt x="0" y="0"/>
                  </a:moveTo>
                  <a:lnTo>
                    <a:pt x="6086017" y="0"/>
                  </a:lnTo>
                  <a:lnTo>
                    <a:pt x="6086017" y="6089002"/>
                  </a:lnTo>
                  <a:lnTo>
                    <a:pt x="0" y="608900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alphaModFix amt="9999"/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 r="-264" b="-215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Freeform 15"/>
            <p:cNvSpPr/>
            <p:nvPr/>
          </p:nvSpPr>
          <p:spPr>
            <a:xfrm>
              <a:off x="6047980" y="0"/>
              <a:ext cx="6086017" cy="6089002"/>
            </a:xfrm>
            <a:custGeom>
              <a:avLst/>
              <a:gdLst/>
              <a:ahLst/>
              <a:cxnLst/>
              <a:rect l="l" t="t" r="r" b="b"/>
              <a:pathLst>
                <a:path w="6086017" h="6089002">
                  <a:moveTo>
                    <a:pt x="0" y="0"/>
                  </a:moveTo>
                  <a:lnTo>
                    <a:pt x="6086017" y="0"/>
                  </a:lnTo>
                  <a:lnTo>
                    <a:pt x="6086017" y="6089002"/>
                  </a:lnTo>
                  <a:lnTo>
                    <a:pt x="0" y="608900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alphaModFix amt="9999"/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 r="-264" b="-215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16"/>
            <p:cNvSpPr/>
            <p:nvPr/>
          </p:nvSpPr>
          <p:spPr>
            <a:xfrm>
              <a:off x="12133997" y="0"/>
              <a:ext cx="6086017" cy="6089002"/>
            </a:xfrm>
            <a:custGeom>
              <a:avLst/>
              <a:gdLst/>
              <a:ahLst/>
              <a:cxnLst/>
              <a:rect l="l" t="t" r="r" b="b"/>
              <a:pathLst>
                <a:path w="6086017" h="6089002">
                  <a:moveTo>
                    <a:pt x="0" y="0"/>
                  </a:moveTo>
                  <a:lnTo>
                    <a:pt x="6086017" y="0"/>
                  </a:lnTo>
                  <a:lnTo>
                    <a:pt x="6086017" y="6089002"/>
                  </a:lnTo>
                  <a:lnTo>
                    <a:pt x="0" y="608900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alphaModFix amt="9999"/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 r="-264" b="-215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Freeform 17"/>
            <p:cNvSpPr/>
            <p:nvPr/>
          </p:nvSpPr>
          <p:spPr>
            <a:xfrm>
              <a:off x="18220014" y="0"/>
              <a:ext cx="6086017" cy="6089002"/>
            </a:xfrm>
            <a:custGeom>
              <a:avLst/>
              <a:gdLst/>
              <a:ahLst/>
              <a:cxnLst/>
              <a:rect l="l" t="t" r="r" b="b"/>
              <a:pathLst>
                <a:path w="6086017" h="6089002">
                  <a:moveTo>
                    <a:pt x="0" y="0"/>
                  </a:moveTo>
                  <a:lnTo>
                    <a:pt x="6086017" y="0"/>
                  </a:lnTo>
                  <a:lnTo>
                    <a:pt x="6086017" y="6089002"/>
                  </a:lnTo>
                  <a:lnTo>
                    <a:pt x="0" y="608900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alphaModFix amt="9999"/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 r="-264" b="-215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8" name="Freeform 18"/>
          <p:cNvSpPr/>
          <p:nvPr/>
        </p:nvSpPr>
        <p:spPr>
          <a:xfrm>
            <a:off x="4840322" y="0"/>
            <a:ext cx="13417730" cy="10270154"/>
          </a:xfrm>
          <a:custGeom>
            <a:avLst/>
            <a:gdLst/>
            <a:ahLst/>
            <a:cxnLst/>
            <a:rect l="l" t="t" r="r" b="b"/>
            <a:pathLst>
              <a:path w="13417730" h="10270154">
                <a:moveTo>
                  <a:pt x="0" y="0"/>
                </a:moveTo>
                <a:lnTo>
                  <a:pt x="13417729" y="0"/>
                </a:lnTo>
                <a:lnTo>
                  <a:pt x="13417729" y="10270154"/>
                </a:lnTo>
                <a:lnTo>
                  <a:pt x="0" y="1027015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3000"/>
            </a:blip>
            <a:stretch>
              <a:fillRect t="-2" b="-2"/>
            </a:stretch>
          </a:blipFill>
        </p:spPr>
        <p:txBody>
          <a:bodyPr/>
          <a:lstStyle/>
          <a:p>
            <a:endParaRPr lang="en-US" dirty="0"/>
          </a:p>
        </p:txBody>
      </p:sp>
      <p:grpSp>
        <p:nvGrpSpPr>
          <p:cNvPr id="19" name="Group 19"/>
          <p:cNvGrpSpPr/>
          <p:nvPr/>
        </p:nvGrpSpPr>
        <p:grpSpPr>
          <a:xfrm>
            <a:off x="16204021" y="684677"/>
            <a:ext cx="1369354" cy="1055544"/>
            <a:chOff x="0" y="0"/>
            <a:chExt cx="1219200" cy="939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1219200" cy="939800"/>
            </a:xfrm>
            <a:custGeom>
              <a:avLst/>
              <a:gdLst/>
              <a:ahLst/>
              <a:cxnLst/>
              <a:rect l="l" t="t" r="r" b="b"/>
              <a:pathLst>
                <a:path w="1219200" h="939800">
                  <a:moveTo>
                    <a:pt x="0" y="0"/>
                  </a:moveTo>
                  <a:lnTo>
                    <a:pt x="1219200" y="0"/>
                  </a:lnTo>
                  <a:lnTo>
                    <a:pt x="1219200" y="939800"/>
                  </a:lnTo>
                  <a:lnTo>
                    <a:pt x="0" y="939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1" name="TextBox 21"/>
          <p:cNvSpPr txBox="1"/>
          <p:nvPr/>
        </p:nvSpPr>
        <p:spPr>
          <a:xfrm>
            <a:off x="684179" y="6703535"/>
            <a:ext cx="12871455" cy="149983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1499"/>
              </a:lnSpc>
            </a:pPr>
            <a:r>
              <a:rPr lang="en-US" sz="10797" dirty="0">
                <a:solidFill>
                  <a:srgbClr val="FFFCFB"/>
                </a:solidFill>
                <a:latin typeface="Cormorant Garamond Light"/>
                <a:ea typeface="Cormorant Garamond Light"/>
                <a:cs typeface="Cormorant Garamond Light"/>
                <a:sym typeface="Cormorant Garamond Light"/>
              </a:rPr>
              <a:t>{{PROPERTY_NAME}}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739561" y="6181206"/>
            <a:ext cx="6394632" cy="29751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521"/>
              </a:lnSpc>
              <a:spcBef>
                <a:spcPct val="0"/>
              </a:spcBef>
            </a:pPr>
            <a:r>
              <a:rPr lang="en-US" sz="1800" b="1" spc="720" dirty="0">
                <a:solidFill>
                  <a:srgbClr val="C9A84C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{{PROPERTY_TYPE}} FOR LEASE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822083" y="8665701"/>
            <a:ext cx="4964125" cy="3067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1"/>
              </a:lnSpc>
              <a:spcBef>
                <a:spcPct val="0"/>
              </a:spcBef>
            </a:pPr>
            <a:r>
              <a:rPr lang="en-US" sz="1800" b="1" spc="720">
                <a:solidFill>
                  <a:srgbClr val="FFFCF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PRIME PHILIPPINES 2026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822082" y="8235408"/>
            <a:ext cx="11293717" cy="30676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521"/>
              </a:lnSpc>
              <a:spcBef>
                <a:spcPct val="0"/>
              </a:spcBef>
            </a:pPr>
            <a:r>
              <a:rPr lang="en-US" b="1" spc="720" dirty="0">
                <a:solidFill>
                  <a:srgbClr val="C9A84C"/>
                </a:solidFill>
                <a:latin typeface="Cormorant Garamond Medium"/>
                <a:ea typeface="Cormorant Garamond Medium"/>
                <a:cs typeface="Cormorant Garamond Medium"/>
                <a:sym typeface="Cormorant Garamond Medium"/>
              </a:rPr>
              <a:t>{{PROPERTY_ADDRESS}}</a:t>
            </a:r>
            <a:endParaRPr lang="en-US" sz="1800" b="1" spc="720" dirty="0">
              <a:solidFill>
                <a:srgbClr val="C9A84C"/>
              </a:solidFill>
              <a:latin typeface="Cormorant Garamond Medium"/>
              <a:ea typeface="Cormorant Garamond Medium"/>
              <a:cs typeface="Cormorant Garamond Medium"/>
              <a:sym typeface="Cormorant Garamond Medium"/>
              <a:hlinkClick r:id="rId5" tooltip="https://www.google.com/maps?q=14.6168148,121.0360092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33350" y="0"/>
            <a:ext cx="21450136" cy="10730328"/>
            <a:chOff x="0" y="0"/>
            <a:chExt cx="28600182" cy="1430710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7150045" cy="7153552"/>
            </a:xfrm>
            <a:custGeom>
              <a:avLst/>
              <a:gdLst/>
              <a:ahLst/>
              <a:cxnLst/>
              <a:rect l="l" t="t" r="r" b="b"/>
              <a:pathLst>
                <a:path w="7150045" h="7153552">
                  <a:moveTo>
                    <a:pt x="0" y="0"/>
                  </a:moveTo>
                  <a:lnTo>
                    <a:pt x="7150045" y="0"/>
                  </a:lnTo>
                  <a:lnTo>
                    <a:pt x="7150045" y="7153552"/>
                  </a:lnTo>
                  <a:lnTo>
                    <a:pt x="0" y="71535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alphaModFix amt="50000"/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 r="-264" b="-215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Freeform 4"/>
            <p:cNvSpPr/>
            <p:nvPr/>
          </p:nvSpPr>
          <p:spPr>
            <a:xfrm>
              <a:off x="7150045" y="0"/>
              <a:ext cx="7150045" cy="7153552"/>
            </a:xfrm>
            <a:custGeom>
              <a:avLst/>
              <a:gdLst/>
              <a:ahLst/>
              <a:cxnLst/>
              <a:rect l="l" t="t" r="r" b="b"/>
              <a:pathLst>
                <a:path w="7150045" h="7153552">
                  <a:moveTo>
                    <a:pt x="0" y="0"/>
                  </a:moveTo>
                  <a:lnTo>
                    <a:pt x="7150046" y="0"/>
                  </a:lnTo>
                  <a:lnTo>
                    <a:pt x="7150046" y="7153552"/>
                  </a:lnTo>
                  <a:lnTo>
                    <a:pt x="0" y="71535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alphaModFix amt="50000"/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 r="-264" b="-215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Freeform 5"/>
            <p:cNvSpPr/>
            <p:nvPr/>
          </p:nvSpPr>
          <p:spPr>
            <a:xfrm>
              <a:off x="14300091" y="0"/>
              <a:ext cx="7150045" cy="7153552"/>
            </a:xfrm>
            <a:custGeom>
              <a:avLst/>
              <a:gdLst/>
              <a:ahLst/>
              <a:cxnLst/>
              <a:rect l="l" t="t" r="r" b="b"/>
              <a:pathLst>
                <a:path w="7150045" h="7153552">
                  <a:moveTo>
                    <a:pt x="0" y="0"/>
                  </a:moveTo>
                  <a:lnTo>
                    <a:pt x="7150045" y="0"/>
                  </a:lnTo>
                  <a:lnTo>
                    <a:pt x="7150045" y="7153552"/>
                  </a:lnTo>
                  <a:lnTo>
                    <a:pt x="0" y="71535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alphaModFix amt="50000"/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 r="-264" b="-215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Freeform 6"/>
            <p:cNvSpPr/>
            <p:nvPr/>
          </p:nvSpPr>
          <p:spPr>
            <a:xfrm>
              <a:off x="21450136" y="0"/>
              <a:ext cx="7150045" cy="7153552"/>
            </a:xfrm>
            <a:custGeom>
              <a:avLst/>
              <a:gdLst/>
              <a:ahLst/>
              <a:cxnLst/>
              <a:rect l="l" t="t" r="r" b="b"/>
              <a:pathLst>
                <a:path w="7150045" h="7153552">
                  <a:moveTo>
                    <a:pt x="0" y="0"/>
                  </a:moveTo>
                  <a:lnTo>
                    <a:pt x="7150046" y="0"/>
                  </a:lnTo>
                  <a:lnTo>
                    <a:pt x="7150046" y="7153552"/>
                  </a:lnTo>
                  <a:lnTo>
                    <a:pt x="0" y="71535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alphaModFix amt="50000"/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 r="-264" b="-215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Freeform 7"/>
            <p:cNvSpPr/>
            <p:nvPr/>
          </p:nvSpPr>
          <p:spPr>
            <a:xfrm>
              <a:off x="0" y="7153552"/>
              <a:ext cx="7150045" cy="7153552"/>
            </a:xfrm>
            <a:custGeom>
              <a:avLst/>
              <a:gdLst/>
              <a:ahLst/>
              <a:cxnLst/>
              <a:rect l="l" t="t" r="r" b="b"/>
              <a:pathLst>
                <a:path w="7150045" h="7153552">
                  <a:moveTo>
                    <a:pt x="0" y="0"/>
                  </a:moveTo>
                  <a:lnTo>
                    <a:pt x="7150045" y="0"/>
                  </a:lnTo>
                  <a:lnTo>
                    <a:pt x="7150045" y="7153552"/>
                  </a:lnTo>
                  <a:lnTo>
                    <a:pt x="0" y="71535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alphaModFix amt="50000"/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 r="-264" b="-215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Freeform 8"/>
            <p:cNvSpPr/>
            <p:nvPr/>
          </p:nvSpPr>
          <p:spPr>
            <a:xfrm>
              <a:off x="7150045" y="7153552"/>
              <a:ext cx="7150045" cy="7153552"/>
            </a:xfrm>
            <a:custGeom>
              <a:avLst/>
              <a:gdLst/>
              <a:ahLst/>
              <a:cxnLst/>
              <a:rect l="l" t="t" r="r" b="b"/>
              <a:pathLst>
                <a:path w="7150045" h="7153552">
                  <a:moveTo>
                    <a:pt x="0" y="0"/>
                  </a:moveTo>
                  <a:lnTo>
                    <a:pt x="7150046" y="0"/>
                  </a:lnTo>
                  <a:lnTo>
                    <a:pt x="7150046" y="7153552"/>
                  </a:lnTo>
                  <a:lnTo>
                    <a:pt x="0" y="71535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alphaModFix amt="50000"/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 r="-264" b="-215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Freeform 9"/>
            <p:cNvSpPr/>
            <p:nvPr/>
          </p:nvSpPr>
          <p:spPr>
            <a:xfrm>
              <a:off x="14300091" y="7153552"/>
              <a:ext cx="7150045" cy="7153552"/>
            </a:xfrm>
            <a:custGeom>
              <a:avLst/>
              <a:gdLst/>
              <a:ahLst/>
              <a:cxnLst/>
              <a:rect l="l" t="t" r="r" b="b"/>
              <a:pathLst>
                <a:path w="7150045" h="7153552">
                  <a:moveTo>
                    <a:pt x="0" y="0"/>
                  </a:moveTo>
                  <a:lnTo>
                    <a:pt x="7150045" y="0"/>
                  </a:lnTo>
                  <a:lnTo>
                    <a:pt x="7150045" y="7153552"/>
                  </a:lnTo>
                  <a:lnTo>
                    <a:pt x="0" y="71535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alphaModFix amt="50000"/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 r="-264" b="-215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Freeform 10"/>
            <p:cNvSpPr/>
            <p:nvPr/>
          </p:nvSpPr>
          <p:spPr>
            <a:xfrm>
              <a:off x="21450136" y="7153552"/>
              <a:ext cx="7150045" cy="7153552"/>
            </a:xfrm>
            <a:custGeom>
              <a:avLst/>
              <a:gdLst/>
              <a:ahLst/>
              <a:cxnLst/>
              <a:rect l="l" t="t" r="r" b="b"/>
              <a:pathLst>
                <a:path w="7150045" h="7153552">
                  <a:moveTo>
                    <a:pt x="0" y="0"/>
                  </a:moveTo>
                  <a:lnTo>
                    <a:pt x="7150046" y="0"/>
                  </a:lnTo>
                  <a:lnTo>
                    <a:pt x="7150046" y="7153552"/>
                  </a:lnTo>
                  <a:lnTo>
                    <a:pt x="0" y="71535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alphaModFix amt="50000"/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 r="-264" b="-215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569908" y="1715015"/>
            <a:ext cx="5028453" cy="2004760"/>
            <a:chOff x="0" y="0"/>
            <a:chExt cx="1859235" cy="741246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859235" cy="741246"/>
            </a:xfrm>
            <a:custGeom>
              <a:avLst/>
              <a:gdLst/>
              <a:ahLst/>
              <a:cxnLst/>
              <a:rect l="l" t="t" r="r" b="b"/>
              <a:pathLst>
                <a:path w="1859235" h="741246">
                  <a:moveTo>
                    <a:pt x="0" y="0"/>
                  </a:moveTo>
                  <a:lnTo>
                    <a:pt x="1859235" y="0"/>
                  </a:lnTo>
                  <a:lnTo>
                    <a:pt x="1859235" y="741246"/>
                  </a:lnTo>
                  <a:lnTo>
                    <a:pt x="0" y="741246"/>
                  </a:lnTo>
                  <a:close/>
                </a:path>
              </a:pathLst>
            </a:custGeom>
            <a:solidFill>
              <a:srgbClr val="FCFD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0"/>
              <a:ext cx="1859235" cy="74124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40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0124614" y="1715015"/>
            <a:ext cx="7578114" cy="8152388"/>
            <a:chOff x="0" y="0"/>
            <a:chExt cx="1995882" cy="2147131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995882" cy="2147131"/>
            </a:xfrm>
            <a:custGeom>
              <a:avLst/>
              <a:gdLst/>
              <a:ahLst/>
              <a:cxnLst/>
              <a:rect l="l" t="t" r="r" b="b"/>
              <a:pathLst>
                <a:path w="1995882" h="2147131">
                  <a:moveTo>
                    <a:pt x="0" y="0"/>
                  </a:moveTo>
                  <a:lnTo>
                    <a:pt x="1995882" y="0"/>
                  </a:lnTo>
                  <a:lnTo>
                    <a:pt x="1995882" y="2147131"/>
                  </a:lnTo>
                  <a:lnTo>
                    <a:pt x="0" y="2147131"/>
                  </a:lnTo>
                  <a:close/>
                </a:path>
              </a:pathLst>
            </a:custGeom>
            <a:solidFill>
              <a:srgbClr val="FCFD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0"/>
              <a:ext cx="1995882" cy="214713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40"/>
                </a:lnSpc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5817436" y="1715015"/>
            <a:ext cx="4083683" cy="2004760"/>
            <a:chOff x="0" y="0"/>
            <a:chExt cx="1509913" cy="741246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509913" cy="741246"/>
            </a:xfrm>
            <a:custGeom>
              <a:avLst/>
              <a:gdLst/>
              <a:ahLst/>
              <a:cxnLst/>
              <a:rect l="l" t="t" r="r" b="b"/>
              <a:pathLst>
                <a:path w="1509913" h="741246">
                  <a:moveTo>
                    <a:pt x="0" y="0"/>
                  </a:moveTo>
                  <a:lnTo>
                    <a:pt x="1509913" y="0"/>
                  </a:lnTo>
                  <a:lnTo>
                    <a:pt x="1509913" y="741246"/>
                  </a:lnTo>
                  <a:lnTo>
                    <a:pt x="0" y="741246"/>
                  </a:lnTo>
                  <a:close/>
                </a:path>
              </a:pathLst>
            </a:custGeom>
            <a:solidFill>
              <a:srgbClr val="FCFD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0"/>
              <a:ext cx="1509913" cy="74124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40"/>
                </a:lnSpc>
              </a:pPr>
              <a:endParaRPr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6089842" y="573636"/>
            <a:ext cx="1169458" cy="895542"/>
            <a:chOff x="0" y="0"/>
            <a:chExt cx="1068108" cy="817931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068070" cy="817880"/>
            </a:xfrm>
            <a:custGeom>
              <a:avLst/>
              <a:gdLst/>
              <a:ahLst/>
              <a:cxnLst/>
              <a:rect l="l" t="t" r="r" b="b"/>
              <a:pathLst>
                <a:path w="1068070" h="817880">
                  <a:moveTo>
                    <a:pt x="0" y="0"/>
                  </a:moveTo>
                  <a:lnTo>
                    <a:pt x="1068070" y="0"/>
                  </a:lnTo>
                  <a:lnTo>
                    <a:pt x="1068070" y="817880"/>
                  </a:lnTo>
                  <a:lnTo>
                    <a:pt x="0" y="8178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-3" b="-6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2" name="AutoShape 22"/>
          <p:cNvSpPr/>
          <p:nvPr/>
        </p:nvSpPr>
        <p:spPr>
          <a:xfrm>
            <a:off x="1094551" y="1350321"/>
            <a:ext cx="14840038" cy="0"/>
          </a:xfrm>
          <a:prstGeom prst="line">
            <a:avLst/>
          </a:prstGeom>
          <a:ln w="38100" cap="flat">
            <a:solidFill>
              <a:srgbClr val="C9A84C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23" name="Group 23"/>
          <p:cNvGrpSpPr/>
          <p:nvPr/>
        </p:nvGrpSpPr>
        <p:grpSpPr>
          <a:xfrm>
            <a:off x="539914" y="3871048"/>
            <a:ext cx="6463562" cy="1848395"/>
            <a:chOff x="0" y="0"/>
            <a:chExt cx="2389856" cy="683431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2389856" cy="683431"/>
            </a:xfrm>
            <a:custGeom>
              <a:avLst/>
              <a:gdLst/>
              <a:ahLst/>
              <a:cxnLst/>
              <a:rect l="l" t="t" r="r" b="b"/>
              <a:pathLst>
                <a:path w="2389856" h="683431">
                  <a:moveTo>
                    <a:pt x="0" y="0"/>
                  </a:moveTo>
                  <a:lnTo>
                    <a:pt x="2389856" y="0"/>
                  </a:lnTo>
                  <a:lnTo>
                    <a:pt x="2389856" y="683431"/>
                  </a:lnTo>
                  <a:lnTo>
                    <a:pt x="0" y="683431"/>
                  </a:lnTo>
                  <a:close/>
                </a:path>
              </a:pathLst>
            </a:custGeom>
            <a:solidFill>
              <a:srgbClr val="FCFD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0" y="0"/>
              <a:ext cx="2389856" cy="68343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40"/>
                </a:lnSpc>
              </a:pPr>
              <a:endParaRPr/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7252546" y="3871048"/>
            <a:ext cx="2648574" cy="1848395"/>
            <a:chOff x="0" y="0"/>
            <a:chExt cx="979291" cy="683431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979291" cy="683431"/>
            </a:xfrm>
            <a:custGeom>
              <a:avLst/>
              <a:gdLst/>
              <a:ahLst/>
              <a:cxnLst/>
              <a:rect l="l" t="t" r="r" b="b"/>
              <a:pathLst>
                <a:path w="979291" h="683431">
                  <a:moveTo>
                    <a:pt x="0" y="0"/>
                  </a:moveTo>
                  <a:lnTo>
                    <a:pt x="979291" y="0"/>
                  </a:lnTo>
                  <a:lnTo>
                    <a:pt x="979291" y="683431"/>
                  </a:lnTo>
                  <a:lnTo>
                    <a:pt x="0" y="683431"/>
                  </a:lnTo>
                  <a:close/>
                </a:path>
              </a:pathLst>
            </a:custGeom>
            <a:solidFill>
              <a:srgbClr val="FCFD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0" y="0"/>
              <a:ext cx="979291" cy="68343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40"/>
                </a:lnSpc>
              </a:pPr>
              <a:endParaRPr/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569908" y="5895984"/>
            <a:ext cx="6214492" cy="1880935"/>
            <a:chOff x="0" y="0"/>
            <a:chExt cx="2297765" cy="695462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2297765" cy="695462"/>
            </a:xfrm>
            <a:custGeom>
              <a:avLst/>
              <a:gdLst/>
              <a:ahLst/>
              <a:cxnLst/>
              <a:rect l="l" t="t" r="r" b="b"/>
              <a:pathLst>
                <a:path w="2297765" h="695462">
                  <a:moveTo>
                    <a:pt x="0" y="0"/>
                  </a:moveTo>
                  <a:lnTo>
                    <a:pt x="2297765" y="0"/>
                  </a:lnTo>
                  <a:lnTo>
                    <a:pt x="2297765" y="695462"/>
                  </a:lnTo>
                  <a:lnTo>
                    <a:pt x="0" y="695462"/>
                  </a:lnTo>
                  <a:close/>
                </a:path>
              </a:pathLst>
            </a:custGeom>
            <a:solidFill>
              <a:srgbClr val="FCFD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0" y="0"/>
              <a:ext cx="2297765" cy="69546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40"/>
                </a:lnSpc>
              </a:pPr>
              <a:endParaRPr/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7003476" y="5895984"/>
            <a:ext cx="2897644" cy="1880935"/>
            <a:chOff x="0" y="0"/>
            <a:chExt cx="1071383" cy="695462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1071383" cy="695462"/>
            </a:xfrm>
            <a:custGeom>
              <a:avLst/>
              <a:gdLst/>
              <a:ahLst/>
              <a:cxnLst/>
              <a:rect l="l" t="t" r="r" b="b"/>
              <a:pathLst>
                <a:path w="1071383" h="695462">
                  <a:moveTo>
                    <a:pt x="0" y="0"/>
                  </a:moveTo>
                  <a:lnTo>
                    <a:pt x="1071383" y="0"/>
                  </a:lnTo>
                  <a:lnTo>
                    <a:pt x="1071383" y="695462"/>
                  </a:lnTo>
                  <a:lnTo>
                    <a:pt x="0" y="695462"/>
                  </a:lnTo>
                  <a:close/>
                </a:path>
              </a:pathLst>
            </a:custGeom>
            <a:solidFill>
              <a:srgbClr val="FCFD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0" y="0"/>
              <a:ext cx="1071383" cy="69546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40"/>
                </a:lnSpc>
              </a:pPr>
              <a:endParaRPr/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569908" y="7986469"/>
            <a:ext cx="6463562" cy="1880935"/>
            <a:chOff x="0" y="0"/>
            <a:chExt cx="2389856" cy="695462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2389856" cy="695462"/>
            </a:xfrm>
            <a:custGeom>
              <a:avLst/>
              <a:gdLst/>
              <a:ahLst/>
              <a:cxnLst/>
              <a:rect l="l" t="t" r="r" b="b"/>
              <a:pathLst>
                <a:path w="2389856" h="695462">
                  <a:moveTo>
                    <a:pt x="0" y="0"/>
                  </a:moveTo>
                  <a:lnTo>
                    <a:pt x="2389856" y="0"/>
                  </a:lnTo>
                  <a:lnTo>
                    <a:pt x="2389856" y="695462"/>
                  </a:lnTo>
                  <a:lnTo>
                    <a:pt x="0" y="695462"/>
                  </a:lnTo>
                  <a:close/>
                </a:path>
              </a:pathLst>
            </a:custGeom>
            <a:solidFill>
              <a:srgbClr val="FCFD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0" y="0"/>
              <a:ext cx="2389856" cy="69546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40"/>
                </a:lnSpc>
              </a:pPr>
              <a:endParaRPr/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7252546" y="8019008"/>
            <a:ext cx="2648574" cy="1848395"/>
            <a:chOff x="0" y="0"/>
            <a:chExt cx="979291" cy="683431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979291" cy="683431"/>
            </a:xfrm>
            <a:custGeom>
              <a:avLst/>
              <a:gdLst/>
              <a:ahLst/>
              <a:cxnLst/>
              <a:rect l="l" t="t" r="r" b="b"/>
              <a:pathLst>
                <a:path w="979291" h="683431">
                  <a:moveTo>
                    <a:pt x="0" y="0"/>
                  </a:moveTo>
                  <a:lnTo>
                    <a:pt x="979291" y="0"/>
                  </a:lnTo>
                  <a:lnTo>
                    <a:pt x="979291" y="683431"/>
                  </a:lnTo>
                  <a:lnTo>
                    <a:pt x="0" y="683431"/>
                  </a:lnTo>
                  <a:close/>
                </a:path>
              </a:pathLst>
            </a:custGeom>
            <a:solidFill>
              <a:srgbClr val="FCFD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0" y="0"/>
              <a:ext cx="979291" cy="68343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40"/>
                </a:lnSpc>
              </a:pPr>
              <a:endParaRPr/>
            </a:p>
          </p:txBody>
        </p:sp>
      </p:grpSp>
      <p:sp>
        <p:nvSpPr>
          <p:cNvPr id="41" name="Freeform 41"/>
          <p:cNvSpPr/>
          <p:nvPr/>
        </p:nvSpPr>
        <p:spPr>
          <a:xfrm>
            <a:off x="10664278" y="1965073"/>
            <a:ext cx="6397068" cy="5418112"/>
          </a:xfrm>
          <a:custGeom>
            <a:avLst/>
            <a:gdLst/>
            <a:ahLst/>
            <a:cxnLst/>
            <a:rect l="l" t="t" r="r" b="b"/>
            <a:pathLst>
              <a:path w="6397068" h="5418112">
                <a:moveTo>
                  <a:pt x="0" y="0"/>
                </a:moveTo>
                <a:lnTo>
                  <a:pt x="6397068" y="0"/>
                </a:lnTo>
                <a:lnTo>
                  <a:pt x="6397068" y="5418112"/>
                </a:lnTo>
                <a:lnTo>
                  <a:pt x="0" y="541811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871" t="-1834" r="-1009" b="-14183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2" name="TextBox 42"/>
          <p:cNvSpPr txBox="1"/>
          <p:nvPr/>
        </p:nvSpPr>
        <p:spPr>
          <a:xfrm>
            <a:off x="10466323" y="7543459"/>
            <a:ext cx="6792977" cy="17681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800" b="1">
                <a:solidFill>
                  <a:srgbClr val="27282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QUEZON CITY</a:t>
            </a:r>
            <a:r>
              <a:rPr lang="en-US" sz="1800">
                <a:solidFill>
                  <a:srgbClr val="272828"/>
                </a:solidFill>
                <a:latin typeface="Montserrat"/>
                <a:ea typeface="Montserrat"/>
                <a:cs typeface="Montserrat"/>
                <a:sym typeface="Montserrat"/>
              </a:rPr>
              <a:t> IS A LANDLOCKED HIGHLY URBANIZED CITY IN THE NATIONAL CAPITAL REGION WITH LAND AREA OF</a:t>
            </a:r>
            <a:r>
              <a:rPr lang="en-US" sz="1800" b="1">
                <a:solidFill>
                  <a:srgbClr val="27282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171.71 SQUARE KILOMETERS</a:t>
            </a:r>
            <a:r>
              <a:rPr lang="en-US" sz="1800">
                <a:solidFill>
                  <a:srgbClr val="272828"/>
                </a:solidFill>
                <a:latin typeface="Montserrat"/>
                <a:ea typeface="Montserrat"/>
                <a:cs typeface="Montserrat"/>
                <a:sym typeface="Montserrat"/>
              </a:rPr>
              <a:t> OR 66.30 SQUARE MILES, MAKING IT THE LARGEST CITY IN METRO MANILA IN TERMS OF LAND AREA. MOREOVER, ITS POPULATION REPRESENTS </a:t>
            </a:r>
            <a:r>
              <a:rPr lang="en-US" sz="1800" b="1">
                <a:solidFill>
                  <a:srgbClr val="27282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22.03% OF THE TOTAL POPULATION OF THE NATIONAL CAPITAL REGION.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1094551" y="657250"/>
            <a:ext cx="15845438" cy="657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950"/>
              </a:lnSpc>
            </a:pPr>
            <a:r>
              <a:rPr lang="en-US" sz="5000">
                <a:solidFill>
                  <a:srgbClr val="272828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ECONOMIC HIGHLIGHTS IN QUEZON CITY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6238801" y="2362742"/>
            <a:ext cx="3241842" cy="1494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39"/>
              </a:lnSpc>
            </a:pPr>
            <a:r>
              <a:rPr lang="en-US" sz="1679">
                <a:solidFill>
                  <a:srgbClr val="000000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Most Populous Barangay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5963872" y="1842804"/>
            <a:ext cx="3790812" cy="4151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27"/>
              </a:lnSpc>
            </a:pPr>
            <a:r>
              <a:rPr lang="en-US" sz="2559" b="1">
                <a:solidFill>
                  <a:srgbClr val="C9A84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Brgy. Commonwealth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10466323" y="9523328"/>
            <a:ext cx="3725947" cy="1226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0"/>
              </a:lnSpc>
            </a:pPr>
            <a:r>
              <a:rPr lang="en-US" sz="1380">
                <a:solidFill>
                  <a:srgbClr val="000000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Source </a:t>
            </a:r>
            <a:r>
              <a:rPr lang="en-US" sz="1380" i="1">
                <a:solidFill>
                  <a:srgbClr val="003366"/>
                </a:solidFill>
                <a:latin typeface="Cormorant Garamond Italics"/>
                <a:ea typeface="Cormorant Garamond Italics"/>
                <a:cs typeface="Cormorant Garamond Italics"/>
                <a:sym typeface="Cormorant Garamond Italics"/>
              </a:rPr>
              <a:t>PRIME Philippines Research &amp; Advisory, 2025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6238357" y="3440652"/>
            <a:ext cx="3241842" cy="1227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90"/>
              </a:lnSpc>
            </a:pPr>
            <a:r>
              <a:rPr lang="en-US" sz="1380" i="1">
                <a:solidFill>
                  <a:srgbClr val="003366"/>
                </a:solidFill>
                <a:latin typeface="Cormorant Garamond Italics"/>
                <a:ea typeface="Cormorant Garamond Italics"/>
                <a:cs typeface="Cormorant Garamond Italics"/>
                <a:sym typeface="Cormorant Garamond Italics"/>
              </a:rPr>
              <a:t>Source: (PSA, 2024)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6055811" y="2620484"/>
            <a:ext cx="3607822" cy="4151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27"/>
              </a:lnSpc>
            </a:pPr>
            <a:r>
              <a:rPr lang="en-US" sz="2559" b="1">
                <a:solidFill>
                  <a:srgbClr val="C9A84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215,035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6238801" y="3140422"/>
            <a:ext cx="3241842" cy="1494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39"/>
              </a:lnSpc>
            </a:pPr>
            <a:r>
              <a:rPr lang="en-US" sz="1679">
                <a:solidFill>
                  <a:srgbClr val="000000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Population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778251" y="2325605"/>
            <a:ext cx="1497265" cy="10539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37"/>
              </a:lnSpc>
            </a:pPr>
            <a:r>
              <a:rPr lang="en-US" sz="3259" b="1">
                <a:solidFill>
                  <a:srgbClr val="C9A84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Rank 2nd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2465975" y="1818631"/>
            <a:ext cx="2970621" cy="14809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679">
                <a:solidFill>
                  <a:srgbClr val="000000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Based on the 2024 Cities and Municipalities Competitiveness Index (CMCI), Quezon City ranked as the 2nd Overall Most Competitive Highly Urbanized City in the Philippines, with a total score of 69.79.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778251" y="1931949"/>
            <a:ext cx="1497265" cy="4231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60"/>
              </a:lnSpc>
            </a:pPr>
            <a:r>
              <a:rPr lang="en-US" sz="1660" b="1">
                <a:solidFill>
                  <a:srgbClr val="27282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Competitive City Ranking: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2419580" y="3440652"/>
            <a:ext cx="2970621" cy="1227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690"/>
              </a:lnSpc>
            </a:pPr>
            <a:r>
              <a:rPr lang="en-US" sz="1380" i="1">
                <a:solidFill>
                  <a:srgbClr val="003366"/>
                </a:solidFill>
                <a:latin typeface="Cormorant Garamond Italics"/>
                <a:ea typeface="Cormorant Garamond Italics"/>
                <a:cs typeface="Cormorant Garamond Italics"/>
                <a:sym typeface="Cormorant Garamond Italics"/>
              </a:rPr>
              <a:t>Source: CMCI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7481854" y="4215075"/>
            <a:ext cx="2189957" cy="4590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17"/>
              </a:lnSpc>
            </a:pPr>
            <a:r>
              <a:rPr lang="en-US" sz="2859" b="1">
                <a:solidFill>
                  <a:srgbClr val="C9A84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161.11 km²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7640425" y="4808302"/>
            <a:ext cx="1872816" cy="1494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39"/>
              </a:lnSpc>
            </a:pPr>
            <a:r>
              <a:rPr lang="en-US" sz="1679">
                <a:solidFill>
                  <a:srgbClr val="000000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Total Land Area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7632135" y="5123581"/>
            <a:ext cx="1872816" cy="1227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90"/>
              </a:lnSpc>
            </a:pPr>
            <a:r>
              <a:rPr lang="en-US" sz="1380" i="1">
                <a:solidFill>
                  <a:srgbClr val="003366"/>
                </a:solidFill>
                <a:latin typeface="Cormorant Garamond Italics"/>
                <a:ea typeface="Cormorant Garamond Italics"/>
                <a:cs typeface="Cormorant Garamond Italics"/>
                <a:sym typeface="Cormorant Garamond Italics"/>
              </a:rPr>
              <a:t>Source: PhilAtlas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912784" y="4255023"/>
            <a:ext cx="2189957" cy="4590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17"/>
              </a:lnSpc>
            </a:pPr>
            <a:r>
              <a:rPr lang="en-US" sz="2859" b="1">
                <a:solidFill>
                  <a:srgbClr val="C9A84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3,084,270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912784" y="4849263"/>
            <a:ext cx="1872816" cy="1494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39"/>
              </a:lnSpc>
            </a:pPr>
            <a:r>
              <a:rPr lang="en-US" sz="1679">
                <a:solidFill>
                  <a:srgbClr val="000000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Total Population</a:t>
            </a:r>
          </a:p>
        </p:txBody>
      </p:sp>
      <p:sp>
        <p:nvSpPr>
          <p:cNvPr id="59" name="TextBox 59"/>
          <p:cNvSpPr txBox="1"/>
          <p:nvPr/>
        </p:nvSpPr>
        <p:spPr>
          <a:xfrm>
            <a:off x="912784" y="5183982"/>
            <a:ext cx="1872816" cy="1227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0"/>
              </a:lnSpc>
            </a:pPr>
            <a:r>
              <a:rPr lang="en-US" sz="1380" i="1">
                <a:solidFill>
                  <a:srgbClr val="003366"/>
                </a:solidFill>
                <a:latin typeface="Cormorant Garamond Italics"/>
                <a:ea typeface="Cormorant Garamond Italics"/>
                <a:cs typeface="Cormorant Garamond Italics"/>
                <a:sym typeface="Cormorant Garamond Italics"/>
              </a:rPr>
              <a:t>Source: PSA, 2024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4224056" y="4255052"/>
            <a:ext cx="2189957" cy="4590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17"/>
              </a:lnSpc>
            </a:pPr>
            <a:r>
              <a:rPr lang="en-US" sz="2859" b="1">
                <a:solidFill>
                  <a:srgbClr val="C9A84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18,987/km²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4224056" y="4849263"/>
            <a:ext cx="1872816" cy="1494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39"/>
              </a:lnSpc>
            </a:pPr>
            <a:r>
              <a:rPr lang="en-US" sz="1679">
                <a:solidFill>
                  <a:srgbClr val="000000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Population Density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4224056" y="5184058"/>
            <a:ext cx="1872816" cy="1226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0"/>
              </a:lnSpc>
            </a:pPr>
            <a:r>
              <a:rPr lang="en-US" sz="1380" i="1">
                <a:solidFill>
                  <a:srgbClr val="003366"/>
                </a:solidFill>
                <a:latin typeface="Cormorant Garamond Italics"/>
                <a:ea typeface="Cormorant Garamond Italics"/>
                <a:cs typeface="Cormorant Garamond Italics"/>
                <a:sym typeface="Cormorant Garamond Italics"/>
              </a:rPr>
              <a:t>Source: City Population, 2024</a:t>
            </a:r>
          </a:p>
        </p:txBody>
      </p:sp>
      <p:sp>
        <p:nvSpPr>
          <p:cNvPr id="63" name="TextBox 63"/>
          <p:cNvSpPr txBox="1"/>
          <p:nvPr/>
        </p:nvSpPr>
        <p:spPr>
          <a:xfrm>
            <a:off x="1351989" y="6188858"/>
            <a:ext cx="4839412" cy="7327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927"/>
              </a:lnSpc>
            </a:pPr>
            <a:r>
              <a:rPr lang="en-US" sz="4559" b="1">
                <a:solidFill>
                  <a:srgbClr val="C9A84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₱1.33 Trillion</a:t>
            </a:r>
          </a:p>
        </p:txBody>
      </p:sp>
      <p:sp>
        <p:nvSpPr>
          <p:cNvPr id="64" name="TextBox 64"/>
          <p:cNvSpPr txBox="1"/>
          <p:nvPr/>
        </p:nvSpPr>
        <p:spPr>
          <a:xfrm>
            <a:off x="1515215" y="7088234"/>
            <a:ext cx="4323880" cy="1493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39"/>
              </a:lnSpc>
            </a:pPr>
            <a:r>
              <a:rPr lang="en-US" sz="1679">
                <a:solidFill>
                  <a:srgbClr val="000000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National GDP of Quezon City</a:t>
            </a:r>
          </a:p>
        </p:txBody>
      </p:sp>
      <p:sp>
        <p:nvSpPr>
          <p:cNvPr id="65" name="TextBox 65"/>
          <p:cNvSpPr txBox="1"/>
          <p:nvPr/>
        </p:nvSpPr>
        <p:spPr>
          <a:xfrm>
            <a:off x="2658376" y="7323263"/>
            <a:ext cx="1872816" cy="1226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90"/>
              </a:lnSpc>
            </a:pPr>
            <a:r>
              <a:rPr lang="en-US" sz="1380" i="1">
                <a:solidFill>
                  <a:srgbClr val="003366"/>
                </a:solidFill>
                <a:latin typeface="Cormorant Garamond Italics"/>
                <a:ea typeface="Cormorant Garamond Italics"/>
                <a:cs typeface="Cormorant Garamond Italics"/>
                <a:sym typeface="Cormorant Garamond Italics"/>
              </a:rPr>
              <a:t>Source: PSA, 2024</a:t>
            </a:r>
          </a:p>
        </p:txBody>
      </p:sp>
      <p:sp>
        <p:nvSpPr>
          <p:cNvPr id="66" name="TextBox 66"/>
          <p:cNvSpPr txBox="1"/>
          <p:nvPr/>
        </p:nvSpPr>
        <p:spPr>
          <a:xfrm>
            <a:off x="7357319" y="6306532"/>
            <a:ext cx="2189957" cy="4590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17"/>
              </a:lnSpc>
            </a:pPr>
            <a:r>
              <a:rPr lang="en-US" sz="2859" b="1">
                <a:solidFill>
                  <a:srgbClr val="C9A84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142</a:t>
            </a:r>
          </a:p>
        </p:txBody>
      </p:sp>
      <p:sp>
        <p:nvSpPr>
          <p:cNvPr id="67" name="TextBox 67"/>
          <p:cNvSpPr txBox="1"/>
          <p:nvPr/>
        </p:nvSpPr>
        <p:spPr>
          <a:xfrm>
            <a:off x="7515890" y="6899759"/>
            <a:ext cx="1872816" cy="1493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39"/>
              </a:lnSpc>
            </a:pPr>
            <a:r>
              <a:rPr lang="en-US" sz="1679">
                <a:solidFill>
                  <a:srgbClr val="000000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Number of Barangays</a:t>
            </a:r>
          </a:p>
        </p:txBody>
      </p:sp>
      <p:sp>
        <p:nvSpPr>
          <p:cNvPr id="68" name="TextBox 68"/>
          <p:cNvSpPr txBox="1"/>
          <p:nvPr/>
        </p:nvSpPr>
        <p:spPr>
          <a:xfrm>
            <a:off x="7507600" y="7215038"/>
            <a:ext cx="1872816" cy="1226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90"/>
              </a:lnSpc>
            </a:pPr>
            <a:r>
              <a:rPr lang="en-US" sz="1380" i="1">
                <a:solidFill>
                  <a:srgbClr val="003366"/>
                </a:solidFill>
                <a:latin typeface="Cormorant Garamond Italics"/>
                <a:ea typeface="Cormorant Garamond Italics"/>
                <a:cs typeface="Cormorant Garamond Italics"/>
                <a:sym typeface="Cormorant Garamond Italics"/>
              </a:rPr>
              <a:t>Source: PSA, 2024</a:t>
            </a:r>
          </a:p>
        </p:txBody>
      </p:sp>
      <p:sp>
        <p:nvSpPr>
          <p:cNvPr id="69" name="TextBox 69"/>
          <p:cNvSpPr txBox="1"/>
          <p:nvPr/>
        </p:nvSpPr>
        <p:spPr>
          <a:xfrm>
            <a:off x="7481854" y="8363035"/>
            <a:ext cx="2189957" cy="4590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17"/>
              </a:lnSpc>
            </a:pPr>
            <a:r>
              <a:rPr lang="en-US" sz="2859" b="1">
                <a:solidFill>
                  <a:srgbClr val="C9A84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4.2%</a:t>
            </a:r>
          </a:p>
        </p:txBody>
      </p:sp>
      <p:sp>
        <p:nvSpPr>
          <p:cNvPr id="70" name="TextBox 70"/>
          <p:cNvSpPr txBox="1"/>
          <p:nvPr/>
        </p:nvSpPr>
        <p:spPr>
          <a:xfrm>
            <a:off x="7519703" y="8955410"/>
            <a:ext cx="2114260" cy="1493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39"/>
              </a:lnSpc>
            </a:pPr>
            <a:r>
              <a:rPr lang="en-US" sz="1679">
                <a:solidFill>
                  <a:srgbClr val="000000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Population Growth Rate</a:t>
            </a:r>
          </a:p>
        </p:txBody>
      </p:sp>
      <p:sp>
        <p:nvSpPr>
          <p:cNvPr id="71" name="TextBox 71"/>
          <p:cNvSpPr txBox="1"/>
          <p:nvPr/>
        </p:nvSpPr>
        <p:spPr>
          <a:xfrm>
            <a:off x="7434051" y="9266639"/>
            <a:ext cx="2268984" cy="1226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90"/>
              </a:lnSpc>
            </a:pPr>
            <a:r>
              <a:rPr lang="en-US" sz="1380" i="1">
                <a:solidFill>
                  <a:srgbClr val="003366"/>
                </a:solidFill>
                <a:latin typeface="Cormorant Garamond Italics"/>
                <a:ea typeface="Cormorant Garamond Italics"/>
                <a:cs typeface="Cormorant Garamond Italics"/>
                <a:sym typeface="Cormorant Garamond Italics"/>
              </a:rPr>
              <a:t>Source: City Population, 2020-2024</a:t>
            </a:r>
          </a:p>
        </p:txBody>
      </p:sp>
      <p:sp>
        <p:nvSpPr>
          <p:cNvPr id="72" name="TextBox 72"/>
          <p:cNvSpPr txBox="1"/>
          <p:nvPr/>
        </p:nvSpPr>
        <p:spPr>
          <a:xfrm>
            <a:off x="912784" y="8349266"/>
            <a:ext cx="2993444" cy="2136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60"/>
              </a:lnSpc>
            </a:pPr>
            <a:r>
              <a:rPr lang="en-US" sz="1660" b="1">
                <a:solidFill>
                  <a:srgbClr val="27282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Income Classification:</a:t>
            </a:r>
          </a:p>
        </p:txBody>
      </p:sp>
      <p:sp>
        <p:nvSpPr>
          <p:cNvPr id="73" name="TextBox 73"/>
          <p:cNvSpPr txBox="1"/>
          <p:nvPr/>
        </p:nvSpPr>
        <p:spPr>
          <a:xfrm>
            <a:off x="914121" y="8591503"/>
            <a:ext cx="3989902" cy="4590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17"/>
              </a:lnSpc>
            </a:pPr>
            <a:r>
              <a:rPr lang="en-US" sz="2859" b="1">
                <a:solidFill>
                  <a:srgbClr val="C9A84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1st Income Class City</a:t>
            </a:r>
          </a:p>
        </p:txBody>
      </p:sp>
      <p:sp>
        <p:nvSpPr>
          <p:cNvPr id="74" name="TextBox 74"/>
          <p:cNvSpPr txBox="1"/>
          <p:nvPr/>
        </p:nvSpPr>
        <p:spPr>
          <a:xfrm>
            <a:off x="912784" y="9221548"/>
            <a:ext cx="4634644" cy="1493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39"/>
              </a:lnSpc>
            </a:pPr>
            <a:r>
              <a:rPr lang="en-US" sz="1679">
                <a:solidFill>
                  <a:srgbClr val="000000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Classified as Special City and a Highly Urbanized City</a:t>
            </a:r>
          </a:p>
        </p:txBody>
      </p:sp>
      <p:sp>
        <p:nvSpPr>
          <p:cNvPr id="75" name="TextBox 75"/>
          <p:cNvSpPr txBox="1"/>
          <p:nvPr/>
        </p:nvSpPr>
        <p:spPr>
          <a:xfrm>
            <a:off x="912784" y="9523252"/>
            <a:ext cx="1872816" cy="1227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0"/>
              </a:lnSpc>
            </a:pPr>
            <a:r>
              <a:rPr lang="en-US" sz="1380" i="1">
                <a:solidFill>
                  <a:srgbClr val="003366"/>
                </a:solidFill>
                <a:latin typeface="Cormorant Garamond Italics"/>
                <a:ea typeface="Cormorant Garamond Italics"/>
                <a:cs typeface="Cormorant Garamond Italics"/>
                <a:sym typeface="Cormorant Garamond Italics"/>
              </a:rPr>
              <a:t>Source: PSA, 2024</a:t>
            </a:r>
          </a:p>
        </p:txBody>
      </p:sp>
      <p:grpSp>
        <p:nvGrpSpPr>
          <p:cNvPr id="76" name="Group 76"/>
          <p:cNvGrpSpPr/>
          <p:nvPr/>
        </p:nvGrpSpPr>
        <p:grpSpPr>
          <a:xfrm>
            <a:off x="-9525" y="10097679"/>
            <a:ext cx="18288000" cy="454842"/>
            <a:chOff x="0" y="0"/>
            <a:chExt cx="4816593" cy="119794"/>
          </a:xfrm>
        </p:grpSpPr>
        <p:sp>
          <p:nvSpPr>
            <p:cNvPr id="77" name="Freeform 77"/>
            <p:cNvSpPr/>
            <p:nvPr/>
          </p:nvSpPr>
          <p:spPr>
            <a:xfrm>
              <a:off x="0" y="0"/>
              <a:ext cx="4816592" cy="119794"/>
            </a:xfrm>
            <a:custGeom>
              <a:avLst/>
              <a:gdLst/>
              <a:ahLst/>
              <a:cxnLst/>
              <a:rect l="l" t="t" r="r" b="b"/>
              <a:pathLst>
                <a:path w="4816592" h="119794">
                  <a:moveTo>
                    <a:pt x="0" y="0"/>
                  </a:moveTo>
                  <a:lnTo>
                    <a:pt x="4816592" y="0"/>
                  </a:lnTo>
                  <a:lnTo>
                    <a:pt x="4816592" y="119794"/>
                  </a:lnTo>
                  <a:lnTo>
                    <a:pt x="0" y="119794"/>
                  </a:lnTo>
                  <a:close/>
                </a:path>
              </a:pathLst>
            </a:custGeom>
            <a:gradFill rotWithShape="1">
              <a:gsLst>
                <a:gs pos="0">
                  <a:srgbClr val="0C0C0E">
                    <a:alpha val="100000"/>
                  </a:srgbClr>
                </a:gs>
                <a:gs pos="50000">
                  <a:srgbClr val="003366">
                    <a:alpha val="100000"/>
                  </a:srgbClr>
                </a:gs>
                <a:gs pos="100000">
                  <a:srgbClr val="C9A84C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0" y="-9525"/>
              <a:ext cx="4816593" cy="12931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40"/>
                </a:lnSpc>
              </a:pPr>
              <a:endParaRPr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33350" y="0"/>
            <a:ext cx="21450136" cy="10730328"/>
            <a:chOff x="0" y="0"/>
            <a:chExt cx="28600182" cy="1430710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7150045" cy="7153552"/>
            </a:xfrm>
            <a:custGeom>
              <a:avLst/>
              <a:gdLst/>
              <a:ahLst/>
              <a:cxnLst/>
              <a:rect l="l" t="t" r="r" b="b"/>
              <a:pathLst>
                <a:path w="7150045" h="7153552">
                  <a:moveTo>
                    <a:pt x="0" y="0"/>
                  </a:moveTo>
                  <a:lnTo>
                    <a:pt x="7150045" y="0"/>
                  </a:lnTo>
                  <a:lnTo>
                    <a:pt x="7150045" y="7153552"/>
                  </a:lnTo>
                  <a:lnTo>
                    <a:pt x="0" y="71535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alphaModFix amt="50000"/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 r="-264" b="-215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Freeform 4"/>
            <p:cNvSpPr/>
            <p:nvPr/>
          </p:nvSpPr>
          <p:spPr>
            <a:xfrm>
              <a:off x="7150045" y="0"/>
              <a:ext cx="7150045" cy="7153552"/>
            </a:xfrm>
            <a:custGeom>
              <a:avLst/>
              <a:gdLst/>
              <a:ahLst/>
              <a:cxnLst/>
              <a:rect l="l" t="t" r="r" b="b"/>
              <a:pathLst>
                <a:path w="7150045" h="7153552">
                  <a:moveTo>
                    <a:pt x="0" y="0"/>
                  </a:moveTo>
                  <a:lnTo>
                    <a:pt x="7150046" y="0"/>
                  </a:lnTo>
                  <a:lnTo>
                    <a:pt x="7150046" y="7153552"/>
                  </a:lnTo>
                  <a:lnTo>
                    <a:pt x="0" y="71535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alphaModFix amt="50000"/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 r="-264" b="-215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Freeform 5"/>
            <p:cNvSpPr/>
            <p:nvPr/>
          </p:nvSpPr>
          <p:spPr>
            <a:xfrm>
              <a:off x="14300091" y="0"/>
              <a:ext cx="7150045" cy="7153552"/>
            </a:xfrm>
            <a:custGeom>
              <a:avLst/>
              <a:gdLst/>
              <a:ahLst/>
              <a:cxnLst/>
              <a:rect l="l" t="t" r="r" b="b"/>
              <a:pathLst>
                <a:path w="7150045" h="7153552">
                  <a:moveTo>
                    <a:pt x="0" y="0"/>
                  </a:moveTo>
                  <a:lnTo>
                    <a:pt x="7150045" y="0"/>
                  </a:lnTo>
                  <a:lnTo>
                    <a:pt x="7150045" y="7153552"/>
                  </a:lnTo>
                  <a:lnTo>
                    <a:pt x="0" y="71535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alphaModFix amt="50000"/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 r="-264" b="-215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Freeform 6"/>
            <p:cNvSpPr/>
            <p:nvPr/>
          </p:nvSpPr>
          <p:spPr>
            <a:xfrm>
              <a:off x="21450136" y="0"/>
              <a:ext cx="7150045" cy="7153552"/>
            </a:xfrm>
            <a:custGeom>
              <a:avLst/>
              <a:gdLst/>
              <a:ahLst/>
              <a:cxnLst/>
              <a:rect l="l" t="t" r="r" b="b"/>
              <a:pathLst>
                <a:path w="7150045" h="7153552">
                  <a:moveTo>
                    <a:pt x="0" y="0"/>
                  </a:moveTo>
                  <a:lnTo>
                    <a:pt x="7150046" y="0"/>
                  </a:lnTo>
                  <a:lnTo>
                    <a:pt x="7150046" y="7153552"/>
                  </a:lnTo>
                  <a:lnTo>
                    <a:pt x="0" y="71535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alphaModFix amt="50000"/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 r="-264" b="-215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Freeform 7"/>
            <p:cNvSpPr/>
            <p:nvPr/>
          </p:nvSpPr>
          <p:spPr>
            <a:xfrm>
              <a:off x="0" y="7153552"/>
              <a:ext cx="7150045" cy="7153552"/>
            </a:xfrm>
            <a:custGeom>
              <a:avLst/>
              <a:gdLst/>
              <a:ahLst/>
              <a:cxnLst/>
              <a:rect l="l" t="t" r="r" b="b"/>
              <a:pathLst>
                <a:path w="7150045" h="7153552">
                  <a:moveTo>
                    <a:pt x="0" y="0"/>
                  </a:moveTo>
                  <a:lnTo>
                    <a:pt x="7150045" y="0"/>
                  </a:lnTo>
                  <a:lnTo>
                    <a:pt x="7150045" y="7153552"/>
                  </a:lnTo>
                  <a:lnTo>
                    <a:pt x="0" y="71535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alphaModFix amt="50000"/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 r="-264" b="-215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Freeform 8"/>
            <p:cNvSpPr/>
            <p:nvPr/>
          </p:nvSpPr>
          <p:spPr>
            <a:xfrm>
              <a:off x="7150045" y="7153552"/>
              <a:ext cx="7150045" cy="7153552"/>
            </a:xfrm>
            <a:custGeom>
              <a:avLst/>
              <a:gdLst/>
              <a:ahLst/>
              <a:cxnLst/>
              <a:rect l="l" t="t" r="r" b="b"/>
              <a:pathLst>
                <a:path w="7150045" h="7153552">
                  <a:moveTo>
                    <a:pt x="0" y="0"/>
                  </a:moveTo>
                  <a:lnTo>
                    <a:pt x="7150046" y="0"/>
                  </a:lnTo>
                  <a:lnTo>
                    <a:pt x="7150046" y="7153552"/>
                  </a:lnTo>
                  <a:lnTo>
                    <a:pt x="0" y="71535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alphaModFix amt="50000"/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 r="-264" b="-215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Freeform 9"/>
            <p:cNvSpPr/>
            <p:nvPr/>
          </p:nvSpPr>
          <p:spPr>
            <a:xfrm>
              <a:off x="14300091" y="7153552"/>
              <a:ext cx="7150045" cy="7153552"/>
            </a:xfrm>
            <a:custGeom>
              <a:avLst/>
              <a:gdLst/>
              <a:ahLst/>
              <a:cxnLst/>
              <a:rect l="l" t="t" r="r" b="b"/>
              <a:pathLst>
                <a:path w="7150045" h="7153552">
                  <a:moveTo>
                    <a:pt x="0" y="0"/>
                  </a:moveTo>
                  <a:lnTo>
                    <a:pt x="7150045" y="0"/>
                  </a:lnTo>
                  <a:lnTo>
                    <a:pt x="7150045" y="7153552"/>
                  </a:lnTo>
                  <a:lnTo>
                    <a:pt x="0" y="71535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alphaModFix amt="50000"/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 r="-264" b="-215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Freeform 10"/>
            <p:cNvSpPr/>
            <p:nvPr/>
          </p:nvSpPr>
          <p:spPr>
            <a:xfrm>
              <a:off x="21450136" y="7153552"/>
              <a:ext cx="7150045" cy="7153552"/>
            </a:xfrm>
            <a:custGeom>
              <a:avLst/>
              <a:gdLst/>
              <a:ahLst/>
              <a:cxnLst/>
              <a:rect l="l" t="t" r="r" b="b"/>
              <a:pathLst>
                <a:path w="7150045" h="7153552">
                  <a:moveTo>
                    <a:pt x="0" y="0"/>
                  </a:moveTo>
                  <a:lnTo>
                    <a:pt x="7150046" y="0"/>
                  </a:lnTo>
                  <a:lnTo>
                    <a:pt x="7150046" y="7153552"/>
                  </a:lnTo>
                  <a:lnTo>
                    <a:pt x="0" y="71535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alphaModFix amt="50000"/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 r="-264" b="-215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aphicFrame>
        <p:nvGraphicFramePr>
          <p:cNvPr id="11" name="Table 11"/>
          <p:cNvGraphicFramePr>
            <a:graphicFrameLocks noGrp="1"/>
          </p:cNvGraphicFramePr>
          <p:nvPr/>
        </p:nvGraphicFramePr>
        <p:xfrm>
          <a:off x="10842471" y="2650080"/>
          <a:ext cx="6528804" cy="2786813"/>
        </p:xfrm>
        <a:graphic>
          <a:graphicData uri="http://schemas.openxmlformats.org/drawingml/2006/table">
            <a:tbl>
              <a:tblPr/>
              <a:tblGrid>
                <a:gridCol w="65288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84532">
                <a:tc>
                  <a:txBody>
                    <a:bodyPr/>
                    <a:lstStyle/>
                    <a:p>
                      <a:pPr algn="ctr">
                        <a:lnSpc>
                          <a:spcPts val="1919"/>
                        </a:lnSpc>
                        <a:defRPr/>
                      </a:pPr>
                      <a:r>
                        <a:rPr lang="en-US" sz="1599" b="1" dirty="0">
                          <a:solidFill>
                            <a:srgbClr val="FFFFFF"/>
                          </a:solidFill>
                          <a:latin typeface="Century Gothic Paneuropean Bold"/>
                          <a:ea typeface="Century Gothic Paneuropean Bold"/>
                          <a:cs typeface="Century Gothic Paneuropean Bold"/>
                          <a:sym typeface="Century Gothic Paneuropean Bold"/>
                        </a:rPr>
                        <a:t>Key Features</a:t>
                      </a:r>
                      <a:endParaRPr lang="en-US" sz="1100" dirty="0"/>
                    </a:p>
                  </a:txBody>
                  <a:tcPr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1A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02281">
                <a:tc>
                  <a:txBody>
                    <a:bodyPr/>
                    <a:lstStyle/>
                    <a:p>
                      <a:pPr algn="l">
                        <a:lnSpc>
                          <a:spcPts val="1919"/>
                        </a:lnSpc>
                        <a:defRPr/>
                      </a:pPr>
                      <a:endParaRPr lang="en-US" sz="1100" dirty="0"/>
                    </a:p>
                  </a:txBody>
                  <a:tcPr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2" name="Table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49953132"/>
              </p:ext>
            </p:extLst>
          </p:nvPr>
        </p:nvGraphicFramePr>
        <p:xfrm>
          <a:off x="10842471" y="5556319"/>
          <a:ext cx="6528805" cy="3392807"/>
        </p:xfrm>
        <a:graphic>
          <a:graphicData uri="http://schemas.openxmlformats.org/drawingml/2006/table">
            <a:tbl>
              <a:tblPr/>
              <a:tblGrid>
                <a:gridCol w="326480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639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78982">
                <a:tc gridSpan="2">
                  <a:txBody>
                    <a:bodyPr/>
                    <a:lstStyle/>
                    <a:p>
                      <a:pPr algn="ctr">
                        <a:lnSpc>
                          <a:spcPts val="1920"/>
                        </a:lnSpc>
                        <a:defRPr/>
                      </a:pPr>
                      <a:r>
                        <a:rPr lang="en-US" sz="1600" b="1">
                          <a:solidFill>
                            <a:srgbClr val="FFFFFF"/>
                          </a:solidFill>
                          <a:latin typeface="Century Gothic Paneuropean Bold"/>
                          <a:ea typeface="Century Gothic Paneuropean Bold"/>
                          <a:cs typeface="Century Gothic Paneuropean Bold"/>
                          <a:sym typeface="Century Gothic Paneuropean Bold"/>
                        </a:rPr>
                        <a:t>Lease Terms  &amp; Conditions</a:t>
                      </a:r>
                      <a:endParaRPr lang="en-US" sz="1100"/>
                    </a:p>
                  </a:txBody>
                  <a:tcPr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1A3D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lnSpc>
                          <a:spcPts val="1920"/>
                        </a:lnSpc>
                        <a:defRPr/>
                      </a:pPr>
                      <a:r>
                        <a:rPr lang="en-US" sz="1600" b="1">
                          <a:solidFill>
                            <a:srgbClr val="FFFFFF"/>
                          </a:solidFill>
                          <a:latin typeface="Century Gothic Paneuropean Bold"/>
                          <a:ea typeface="Century Gothic Paneuropean Bold"/>
                          <a:cs typeface="Century Gothic Paneuropean Bold"/>
                          <a:sym typeface="Century Gothic Paneuropean Bold"/>
                        </a:rPr>
                        <a:t>Lease Terms  &amp; Conditions</a:t>
                      </a:r>
                      <a:endParaRPr lang="en-US" sz="1100"/>
                    </a:p>
                  </a:txBody>
                  <a:tcPr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1A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5073">
                <a:tc>
                  <a:txBody>
                    <a:bodyPr/>
                    <a:lstStyle/>
                    <a:p>
                      <a:pPr algn="ctr">
                        <a:lnSpc>
                          <a:spcPts val="1920"/>
                        </a:lnSpc>
                        <a:defRPr/>
                      </a:pPr>
                      <a:r>
                        <a:rPr lang="en-US" sz="1600" dirty="0">
                          <a:solidFill>
                            <a:srgbClr val="272828"/>
                          </a:solidFill>
                          <a:latin typeface="Century Gothic Paneuropean"/>
                          <a:ea typeface="Century Gothic Paneuropean"/>
                          <a:cs typeface="Century Gothic Paneuropean"/>
                          <a:sym typeface="Century Gothic Paneuropean"/>
                        </a:rPr>
                        <a:t>Rental Rates</a:t>
                      </a:r>
                      <a:endParaRPr lang="en-US" sz="1100" dirty="0"/>
                    </a:p>
                  </a:txBody>
                  <a:tcPr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20"/>
                        </a:lnSpc>
                        <a:defRPr/>
                      </a:pPr>
                      <a:r>
                        <a:rPr lang="en-US" sz="1600" dirty="0">
                          <a:latin typeface="Century Gothic Paneuropean" panose="020B0604020202020204" charset="0"/>
                          <a:cs typeface="Century Gothic Paneuropean" panose="020B0604020202020204" charset="0"/>
                        </a:rPr>
                        <a:t>{{RENTAL_RATES}} </a:t>
                      </a:r>
                      <a:endParaRPr lang="en-US" sz="1600" dirty="0"/>
                    </a:p>
                  </a:txBody>
                  <a:tcPr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5073">
                <a:tc>
                  <a:txBody>
                    <a:bodyPr/>
                    <a:lstStyle/>
                    <a:p>
                      <a:pPr algn="ctr">
                        <a:lnSpc>
                          <a:spcPts val="1920"/>
                        </a:lnSpc>
                        <a:defRPr/>
                      </a:pPr>
                      <a:r>
                        <a:rPr lang="en-US" sz="1600">
                          <a:solidFill>
                            <a:srgbClr val="272828"/>
                          </a:solidFill>
                          <a:latin typeface="Century Gothic Paneuropean"/>
                          <a:ea typeface="Century Gothic Paneuropean"/>
                          <a:cs typeface="Century Gothic Paneuropean"/>
                          <a:sym typeface="Century Gothic Paneuropean"/>
                        </a:rPr>
                        <a:t>Security Deposit</a:t>
                      </a:r>
                      <a:endParaRPr lang="en-US" sz="1100"/>
                    </a:p>
                  </a:txBody>
                  <a:tcPr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ts val="19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solidFill>
                            <a:srgbClr val="272828"/>
                          </a:solidFill>
                          <a:latin typeface="Century Gothic Paneuropean" panose="020B0604020202020204" charset="0"/>
                          <a:ea typeface="Century Gothic Paneuropean"/>
                          <a:cs typeface="Century Gothic Paneuropean" panose="020B0604020202020204" charset="0"/>
                          <a:sym typeface="Century Gothic Paneuropean"/>
                        </a:rPr>
                        <a:t> </a:t>
                      </a:r>
                      <a:r>
                        <a:rPr lang="en-US" sz="1600" dirty="0">
                          <a:latin typeface="Century Gothic Paneuropean" panose="020B0604020202020204" charset="0"/>
                          <a:cs typeface="Century Gothic Paneuropean" panose="020B0604020202020204" charset="0"/>
                        </a:rPr>
                        <a:t>{{SECURITY_DEPOSIT}} </a:t>
                      </a:r>
                      <a:r>
                        <a:rPr lang="en-US" sz="1600" dirty="0">
                          <a:solidFill>
                            <a:srgbClr val="272828"/>
                          </a:solidFill>
                          <a:latin typeface="Century Gothic Paneuropean" panose="020B0604020202020204" charset="0"/>
                          <a:cs typeface="Century Gothic Paneuropean" panose="020B0604020202020204" charset="0"/>
                          <a:sym typeface="Century Gothic Paneuropean"/>
                        </a:rPr>
                        <a:t>m</a:t>
                      </a:r>
                      <a:r>
                        <a:rPr lang="en-US" sz="1600" dirty="0">
                          <a:solidFill>
                            <a:srgbClr val="272828"/>
                          </a:solidFill>
                          <a:latin typeface="Century Gothic Paneuropean" panose="020B0604020202020204" charset="0"/>
                          <a:ea typeface="Century Gothic Paneuropean"/>
                          <a:cs typeface="Century Gothic Paneuropean" panose="020B0604020202020204" charset="0"/>
                          <a:sym typeface="Century Gothic Paneuropean"/>
                        </a:rPr>
                        <a:t>onths</a:t>
                      </a:r>
                      <a:endParaRPr lang="en-US" sz="1600" dirty="0">
                        <a:latin typeface="Century Gothic Paneuropean" panose="020B0604020202020204" charset="0"/>
                        <a:cs typeface="Century Gothic Paneuropean" panose="020B0604020202020204" charset="0"/>
                      </a:endParaRPr>
                    </a:p>
                  </a:txBody>
                  <a:tcPr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5073">
                <a:tc>
                  <a:txBody>
                    <a:bodyPr/>
                    <a:lstStyle/>
                    <a:p>
                      <a:pPr algn="ctr">
                        <a:lnSpc>
                          <a:spcPts val="1920"/>
                        </a:lnSpc>
                        <a:defRPr/>
                      </a:pPr>
                      <a:r>
                        <a:rPr lang="en-US" sz="1600">
                          <a:solidFill>
                            <a:srgbClr val="272828"/>
                          </a:solidFill>
                          <a:latin typeface="Century Gothic Paneuropean"/>
                          <a:ea typeface="Century Gothic Paneuropean"/>
                          <a:cs typeface="Century Gothic Paneuropean"/>
                          <a:sym typeface="Century Gothic Paneuropean"/>
                        </a:rPr>
                        <a:t>Advance Rent</a:t>
                      </a:r>
                      <a:endParaRPr lang="en-US" sz="1100"/>
                    </a:p>
                  </a:txBody>
                  <a:tcPr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20"/>
                        </a:lnSpc>
                        <a:defRPr/>
                      </a:pPr>
                      <a:r>
                        <a:rPr lang="en-US" sz="1600" dirty="0">
                          <a:latin typeface="Century Gothic Paneuropean" panose="020B0604020202020204" charset="0"/>
                          <a:cs typeface="Century Gothic Paneuropean" panose="020B0604020202020204" charset="0"/>
                        </a:rPr>
                        <a:t>{{ADVANCE_RENT}} </a:t>
                      </a:r>
                      <a:r>
                        <a:rPr lang="en-US" sz="1600" dirty="0">
                          <a:solidFill>
                            <a:srgbClr val="272828"/>
                          </a:solidFill>
                          <a:latin typeface="Century Gothic Paneuropean" panose="020B0604020202020204" charset="0"/>
                          <a:cs typeface="Century Gothic Paneuropean" panose="020B0604020202020204" charset="0"/>
                          <a:sym typeface="Century Gothic Paneuropean"/>
                        </a:rPr>
                        <a:t>m</a:t>
                      </a:r>
                      <a:r>
                        <a:rPr lang="en-US" sz="1600" dirty="0">
                          <a:solidFill>
                            <a:srgbClr val="272828"/>
                          </a:solidFill>
                          <a:latin typeface="Century Gothic Paneuropean" panose="020B0604020202020204" charset="0"/>
                          <a:ea typeface="Century Gothic Paneuropean"/>
                          <a:cs typeface="Century Gothic Paneuropean" panose="020B0604020202020204" charset="0"/>
                          <a:sym typeface="Century Gothic Paneuropean"/>
                        </a:rPr>
                        <a:t>onths</a:t>
                      </a:r>
                      <a:endParaRPr lang="en-US" sz="1600" dirty="0"/>
                    </a:p>
                  </a:txBody>
                  <a:tcPr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53533">
                <a:tc>
                  <a:txBody>
                    <a:bodyPr/>
                    <a:lstStyle/>
                    <a:p>
                      <a:pPr algn="ctr">
                        <a:lnSpc>
                          <a:spcPts val="1920"/>
                        </a:lnSpc>
                        <a:defRPr/>
                      </a:pPr>
                      <a:r>
                        <a:rPr lang="en-US" sz="1600" dirty="0">
                          <a:solidFill>
                            <a:srgbClr val="272828"/>
                          </a:solidFill>
                          <a:latin typeface="Century Gothic Paneuropean"/>
                          <a:ea typeface="Century Gothic Paneuropean"/>
                          <a:cs typeface="Century Gothic Paneuropean"/>
                          <a:sym typeface="Century Gothic Paneuropean"/>
                        </a:rPr>
                        <a:t>Escalation Rate</a:t>
                      </a:r>
                      <a:endParaRPr lang="en-US" sz="1100" dirty="0"/>
                    </a:p>
                  </a:txBody>
                  <a:tcPr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20"/>
                        </a:lnSpc>
                        <a:defRPr/>
                      </a:pPr>
                      <a:r>
                        <a:rPr lang="en-US" sz="1600" dirty="0">
                          <a:latin typeface="Century Gothic Paneuropean" panose="020B0604020202020204" charset="0"/>
                          <a:cs typeface="Century Gothic Paneuropean" panose="020B0604020202020204" charset="0"/>
                        </a:rPr>
                        <a:t>{{ESCALATION_RATE}} </a:t>
                      </a:r>
                      <a:endParaRPr lang="en-US" sz="1600" dirty="0"/>
                    </a:p>
                  </a:txBody>
                  <a:tcPr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5073">
                <a:tc>
                  <a:txBody>
                    <a:bodyPr/>
                    <a:lstStyle/>
                    <a:p>
                      <a:pPr algn="ctr">
                        <a:lnSpc>
                          <a:spcPts val="1920"/>
                        </a:lnSpc>
                        <a:defRPr/>
                      </a:pPr>
                      <a:r>
                        <a:rPr lang="en-US" sz="1600">
                          <a:solidFill>
                            <a:srgbClr val="272828"/>
                          </a:solidFill>
                          <a:latin typeface="Century Gothic Paneuropean"/>
                          <a:ea typeface="Century Gothic Paneuropean"/>
                          <a:cs typeface="Century Gothic Paneuropean"/>
                          <a:sym typeface="Century Gothic Paneuropean"/>
                        </a:rPr>
                        <a:t>Preffered Lease Term</a:t>
                      </a:r>
                      <a:endParaRPr lang="en-US" sz="1100"/>
                    </a:p>
                  </a:txBody>
                  <a:tcPr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20"/>
                        </a:lnSpc>
                        <a:defRPr/>
                      </a:pPr>
                      <a:r>
                        <a:rPr lang="en-US" sz="1600" dirty="0">
                          <a:latin typeface="Century Gothic Paneuropean" panose="020B0604020202020204" charset="0"/>
                          <a:cs typeface="Century Gothic Paneuropean" panose="020B0604020202020204" charset="0"/>
                        </a:rPr>
                        <a:t>{{LEASE_TERM}}</a:t>
                      </a:r>
                      <a:endParaRPr lang="en-US" sz="1600" dirty="0"/>
                    </a:p>
                  </a:txBody>
                  <a:tcPr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4" name="Freeform 14"/>
          <p:cNvSpPr/>
          <p:nvPr/>
        </p:nvSpPr>
        <p:spPr>
          <a:xfrm>
            <a:off x="606838" y="476250"/>
            <a:ext cx="17305212" cy="1285152"/>
          </a:xfrm>
          <a:custGeom>
            <a:avLst/>
            <a:gdLst/>
            <a:ahLst/>
            <a:cxnLst/>
            <a:rect l="l" t="t" r="r" b="b"/>
            <a:pathLst>
              <a:path w="23073616" h="1713534">
                <a:moveTo>
                  <a:pt x="0" y="0"/>
                </a:moveTo>
                <a:lnTo>
                  <a:pt x="23073616" y="0"/>
                </a:lnTo>
                <a:lnTo>
                  <a:pt x="23073616" y="1713534"/>
                </a:lnTo>
                <a:lnTo>
                  <a:pt x="0" y="1713534"/>
                </a:lnTo>
                <a:close/>
              </a:path>
            </a:pathLst>
          </a:custGeom>
          <a:blipFill>
            <a:blip r:embed="rId3">
              <a:alphaModFix amt="0"/>
            </a:blip>
            <a:stretch>
              <a:fillRect t="-132413" r="30476" b="-13241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5" name="TextBox 15"/>
          <p:cNvSpPr txBox="1"/>
          <p:nvPr/>
        </p:nvSpPr>
        <p:spPr>
          <a:xfrm>
            <a:off x="606838" y="436498"/>
            <a:ext cx="17305211" cy="1278002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algn="l">
              <a:lnSpc>
                <a:spcPts val="7199"/>
              </a:lnSpc>
            </a:pPr>
            <a:r>
              <a:rPr lang="en-US" sz="5999" dirty="0">
                <a:solidFill>
                  <a:srgbClr val="272828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{{PROPERTY_NAME}}         </a:t>
            </a:r>
          </a:p>
        </p:txBody>
      </p:sp>
      <p:sp>
        <p:nvSpPr>
          <p:cNvPr id="17" name="Freeform 17"/>
          <p:cNvSpPr/>
          <p:nvPr/>
        </p:nvSpPr>
        <p:spPr>
          <a:xfrm>
            <a:off x="642785" y="1615056"/>
            <a:ext cx="16830979" cy="453999"/>
          </a:xfrm>
          <a:custGeom>
            <a:avLst/>
            <a:gdLst/>
            <a:ahLst/>
            <a:cxnLst/>
            <a:rect l="l" t="t" r="r" b="b"/>
            <a:pathLst>
              <a:path w="22441305" h="605332">
                <a:moveTo>
                  <a:pt x="0" y="0"/>
                </a:moveTo>
                <a:lnTo>
                  <a:pt x="22441305" y="0"/>
                </a:lnTo>
                <a:lnTo>
                  <a:pt x="22441305" y="605332"/>
                </a:lnTo>
                <a:lnTo>
                  <a:pt x="0" y="605332"/>
                </a:lnTo>
                <a:close/>
              </a:path>
            </a:pathLst>
          </a:custGeom>
          <a:blipFill>
            <a:blip r:embed="rId3">
              <a:alphaModFix amt="0"/>
            </a:blip>
            <a:stretch>
              <a:fillRect t="-601263" b="-743463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8" name="TextBox 18"/>
          <p:cNvSpPr txBox="1"/>
          <p:nvPr/>
        </p:nvSpPr>
        <p:spPr>
          <a:xfrm>
            <a:off x="642785" y="1607912"/>
            <a:ext cx="16830980" cy="461144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>
              <a:lnSpc>
                <a:spcPts val="2521"/>
              </a:lnSpc>
              <a:spcBef>
                <a:spcPct val="0"/>
              </a:spcBef>
            </a:pPr>
            <a:r>
              <a:rPr lang="en-US" sz="2400" b="1" spc="720" dirty="0">
                <a:solidFill>
                  <a:srgbClr val="C9A84C"/>
                </a:solidFill>
                <a:latin typeface="Cormorant Garamond Medium"/>
                <a:ea typeface="Cormorant Garamond Medium"/>
                <a:cs typeface="Cormorant Garamond Medium"/>
                <a:sym typeface="Cormorant Garamond Medium"/>
              </a:rPr>
              <a:t>{{PROPERTY_ADDRESS}}</a:t>
            </a:r>
            <a:endParaRPr lang="en-US" sz="2400" b="1" spc="720" dirty="0">
              <a:solidFill>
                <a:srgbClr val="C9A84C"/>
              </a:solidFill>
              <a:latin typeface="Cormorant Garamond Medium"/>
              <a:ea typeface="Cormorant Garamond Medium"/>
              <a:cs typeface="Cormorant Garamond Medium"/>
              <a:sym typeface="Cormorant Garamond Medium"/>
              <a:hlinkClick r:id="rId4" tooltip="https://www.google.com/maps?q=14.6168148,121.0360092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</p:txBody>
      </p:sp>
      <p:grpSp>
        <p:nvGrpSpPr>
          <p:cNvPr id="21" name="Group 21"/>
          <p:cNvGrpSpPr/>
          <p:nvPr/>
        </p:nvGrpSpPr>
        <p:grpSpPr>
          <a:xfrm>
            <a:off x="-9525" y="10097679"/>
            <a:ext cx="18288000" cy="454842"/>
            <a:chOff x="0" y="0"/>
            <a:chExt cx="4816593" cy="119794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4816592" cy="119794"/>
            </a:xfrm>
            <a:custGeom>
              <a:avLst/>
              <a:gdLst/>
              <a:ahLst/>
              <a:cxnLst/>
              <a:rect l="l" t="t" r="r" b="b"/>
              <a:pathLst>
                <a:path w="4816592" h="119794">
                  <a:moveTo>
                    <a:pt x="0" y="0"/>
                  </a:moveTo>
                  <a:lnTo>
                    <a:pt x="4816592" y="0"/>
                  </a:lnTo>
                  <a:lnTo>
                    <a:pt x="4816592" y="119794"/>
                  </a:lnTo>
                  <a:lnTo>
                    <a:pt x="0" y="119794"/>
                  </a:lnTo>
                  <a:close/>
                </a:path>
              </a:pathLst>
            </a:custGeom>
            <a:gradFill rotWithShape="1">
              <a:gsLst>
                <a:gs pos="0">
                  <a:srgbClr val="0C0C0E">
                    <a:alpha val="100000"/>
                  </a:srgbClr>
                </a:gs>
                <a:gs pos="50000">
                  <a:srgbClr val="003366">
                    <a:alpha val="100000"/>
                  </a:srgbClr>
                </a:gs>
                <a:gs pos="100000">
                  <a:srgbClr val="C9A84C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-9525"/>
              <a:ext cx="4816593" cy="12931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40"/>
                </a:lnSpc>
              </a:pPr>
              <a:endParaRPr/>
            </a:p>
          </p:txBody>
        </p:sp>
      </p:grpSp>
      <p:sp>
        <p:nvSpPr>
          <p:cNvPr id="24" name="Freeform 24"/>
          <p:cNvSpPr/>
          <p:nvPr/>
        </p:nvSpPr>
        <p:spPr>
          <a:xfrm>
            <a:off x="16220378" y="631096"/>
            <a:ext cx="1038922" cy="795208"/>
          </a:xfrm>
          <a:custGeom>
            <a:avLst/>
            <a:gdLst/>
            <a:ahLst/>
            <a:cxnLst/>
            <a:rect l="l" t="t" r="r" b="b"/>
            <a:pathLst>
              <a:path w="1038922" h="795208">
                <a:moveTo>
                  <a:pt x="0" y="0"/>
                </a:moveTo>
                <a:lnTo>
                  <a:pt x="1038922" y="0"/>
                </a:lnTo>
                <a:lnTo>
                  <a:pt x="1038922" y="795208"/>
                </a:lnTo>
                <a:lnTo>
                  <a:pt x="0" y="79520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5" name="TextBox 25"/>
          <p:cNvSpPr txBox="1"/>
          <p:nvPr/>
        </p:nvSpPr>
        <p:spPr>
          <a:xfrm>
            <a:off x="9139661" y="4567896"/>
            <a:ext cx="9525" cy="15665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880"/>
              </a:lnSpc>
            </a:pPr>
            <a:endParaRPr/>
          </a:p>
        </p:txBody>
      </p:sp>
      <p:sp>
        <p:nvSpPr>
          <p:cNvPr id="27" name="Freeform 27"/>
          <p:cNvSpPr/>
          <p:nvPr/>
        </p:nvSpPr>
        <p:spPr>
          <a:xfrm>
            <a:off x="8229600" y="1119540"/>
            <a:ext cx="16830979" cy="453999"/>
          </a:xfrm>
          <a:custGeom>
            <a:avLst/>
            <a:gdLst/>
            <a:ahLst/>
            <a:cxnLst/>
            <a:rect l="l" t="t" r="r" b="b"/>
            <a:pathLst>
              <a:path w="22441305" h="605332">
                <a:moveTo>
                  <a:pt x="0" y="0"/>
                </a:moveTo>
                <a:lnTo>
                  <a:pt x="22441305" y="0"/>
                </a:lnTo>
                <a:lnTo>
                  <a:pt x="22441305" y="605332"/>
                </a:lnTo>
                <a:lnTo>
                  <a:pt x="0" y="605332"/>
                </a:lnTo>
                <a:close/>
              </a:path>
            </a:pathLst>
          </a:custGeom>
          <a:blipFill>
            <a:blip r:embed="rId3">
              <a:alphaModFix amt="0"/>
            </a:blip>
            <a:stretch>
              <a:fillRect t="-601263" b="-743463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8" name="TextBox 28"/>
          <p:cNvSpPr txBox="1"/>
          <p:nvPr/>
        </p:nvSpPr>
        <p:spPr>
          <a:xfrm>
            <a:off x="7888328" y="1068483"/>
            <a:ext cx="16830980" cy="461144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algn="just">
              <a:lnSpc>
                <a:spcPts val="2640"/>
              </a:lnSpc>
            </a:pPr>
            <a:r>
              <a:rPr lang="en-US" sz="2200" b="1" i="1" dirty="0">
                <a:solidFill>
                  <a:srgbClr val="C9A84C"/>
                </a:solidFill>
                <a:latin typeface="DM Sans Bold Italics"/>
                <a:ea typeface="DM Sans Bold Italics"/>
                <a:cs typeface="DM Sans Bold Italics"/>
                <a:sym typeface="DM Sans Bold Italics"/>
              </a:rPr>
              <a:t>{{LEASABLE_AREA}} sqm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5B72E3A3-AD4F-794C-8A4B-EB5C2E20BB89}"/>
              </a:ext>
            </a:extLst>
          </p:cNvPr>
          <p:cNvSpPr/>
          <p:nvPr/>
        </p:nvSpPr>
        <p:spPr>
          <a:xfrm>
            <a:off x="606838" y="2642015"/>
            <a:ext cx="9984880" cy="652544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800" dirty="0">
                <a:solidFill>
                  <a:srgbClr val="C9A84C"/>
                </a:solidFill>
                <a:latin typeface="Century Gothic Paneuropean" panose="020B0604020202020204" charset="0"/>
                <a:cs typeface="Century Gothic Paneuropean" panose="020B0604020202020204" charset="0"/>
              </a:rPr>
              <a:t>{{PROPERTY_PHOTO_1}}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33350" y="0"/>
            <a:ext cx="21450136" cy="10730328"/>
            <a:chOff x="0" y="0"/>
            <a:chExt cx="28600182" cy="1430710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7150045" cy="7153552"/>
            </a:xfrm>
            <a:custGeom>
              <a:avLst/>
              <a:gdLst/>
              <a:ahLst/>
              <a:cxnLst/>
              <a:rect l="l" t="t" r="r" b="b"/>
              <a:pathLst>
                <a:path w="7150045" h="7153552">
                  <a:moveTo>
                    <a:pt x="0" y="0"/>
                  </a:moveTo>
                  <a:lnTo>
                    <a:pt x="7150045" y="0"/>
                  </a:lnTo>
                  <a:lnTo>
                    <a:pt x="7150045" y="7153552"/>
                  </a:lnTo>
                  <a:lnTo>
                    <a:pt x="0" y="71535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alphaModFix amt="50000"/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 r="-264" b="-215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Freeform 4"/>
            <p:cNvSpPr/>
            <p:nvPr/>
          </p:nvSpPr>
          <p:spPr>
            <a:xfrm>
              <a:off x="7150045" y="0"/>
              <a:ext cx="7150045" cy="7153552"/>
            </a:xfrm>
            <a:custGeom>
              <a:avLst/>
              <a:gdLst/>
              <a:ahLst/>
              <a:cxnLst/>
              <a:rect l="l" t="t" r="r" b="b"/>
              <a:pathLst>
                <a:path w="7150045" h="7153552">
                  <a:moveTo>
                    <a:pt x="0" y="0"/>
                  </a:moveTo>
                  <a:lnTo>
                    <a:pt x="7150046" y="0"/>
                  </a:lnTo>
                  <a:lnTo>
                    <a:pt x="7150046" y="7153552"/>
                  </a:lnTo>
                  <a:lnTo>
                    <a:pt x="0" y="71535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alphaModFix amt="50000"/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 r="-264" b="-215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Freeform 5"/>
            <p:cNvSpPr/>
            <p:nvPr/>
          </p:nvSpPr>
          <p:spPr>
            <a:xfrm>
              <a:off x="14300091" y="0"/>
              <a:ext cx="7150045" cy="7153552"/>
            </a:xfrm>
            <a:custGeom>
              <a:avLst/>
              <a:gdLst/>
              <a:ahLst/>
              <a:cxnLst/>
              <a:rect l="l" t="t" r="r" b="b"/>
              <a:pathLst>
                <a:path w="7150045" h="7153552">
                  <a:moveTo>
                    <a:pt x="0" y="0"/>
                  </a:moveTo>
                  <a:lnTo>
                    <a:pt x="7150045" y="0"/>
                  </a:lnTo>
                  <a:lnTo>
                    <a:pt x="7150045" y="7153552"/>
                  </a:lnTo>
                  <a:lnTo>
                    <a:pt x="0" y="71535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alphaModFix amt="50000"/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 r="-264" b="-215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Freeform 6"/>
            <p:cNvSpPr/>
            <p:nvPr/>
          </p:nvSpPr>
          <p:spPr>
            <a:xfrm>
              <a:off x="21450136" y="0"/>
              <a:ext cx="7150045" cy="7153552"/>
            </a:xfrm>
            <a:custGeom>
              <a:avLst/>
              <a:gdLst/>
              <a:ahLst/>
              <a:cxnLst/>
              <a:rect l="l" t="t" r="r" b="b"/>
              <a:pathLst>
                <a:path w="7150045" h="7153552">
                  <a:moveTo>
                    <a:pt x="0" y="0"/>
                  </a:moveTo>
                  <a:lnTo>
                    <a:pt x="7150046" y="0"/>
                  </a:lnTo>
                  <a:lnTo>
                    <a:pt x="7150046" y="7153552"/>
                  </a:lnTo>
                  <a:lnTo>
                    <a:pt x="0" y="71535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alphaModFix amt="50000"/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 r="-264" b="-215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Freeform 7"/>
            <p:cNvSpPr/>
            <p:nvPr/>
          </p:nvSpPr>
          <p:spPr>
            <a:xfrm>
              <a:off x="0" y="7153552"/>
              <a:ext cx="7150045" cy="7153552"/>
            </a:xfrm>
            <a:custGeom>
              <a:avLst/>
              <a:gdLst/>
              <a:ahLst/>
              <a:cxnLst/>
              <a:rect l="l" t="t" r="r" b="b"/>
              <a:pathLst>
                <a:path w="7150045" h="7153552">
                  <a:moveTo>
                    <a:pt x="0" y="0"/>
                  </a:moveTo>
                  <a:lnTo>
                    <a:pt x="7150045" y="0"/>
                  </a:lnTo>
                  <a:lnTo>
                    <a:pt x="7150045" y="7153552"/>
                  </a:lnTo>
                  <a:lnTo>
                    <a:pt x="0" y="71535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alphaModFix amt="50000"/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 r="-264" b="-215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Freeform 8"/>
            <p:cNvSpPr/>
            <p:nvPr/>
          </p:nvSpPr>
          <p:spPr>
            <a:xfrm>
              <a:off x="7150045" y="7153552"/>
              <a:ext cx="7150045" cy="7153552"/>
            </a:xfrm>
            <a:custGeom>
              <a:avLst/>
              <a:gdLst/>
              <a:ahLst/>
              <a:cxnLst/>
              <a:rect l="l" t="t" r="r" b="b"/>
              <a:pathLst>
                <a:path w="7150045" h="7153552">
                  <a:moveTo>
                    <a:pt x="0" y="0"/>
                  </a:moveTo>
                  <a:lnTo>
                    <a:pt x="7150046" y="0"/>
                  </a:lnTo>
                  <a:lnTo>
                    <a:pt x="7150046" y="7153552"/>
                  </a:lnTo>
                  <a:lnTo>
                    <a:pt x="0" y="71535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alphaModFix amt="50000"/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 r="-264" b="-215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Freeform 9"/>
            <p:cNvSpPr/>
            <p:nvPr/>
          </p:nvSpPr>
          <p:spPr>
            <a:xfrm>
              <a:off x="14300091" y="7153552"/>
              <a:ext cx="7150045" cy="7153552"/>
            </a:xfrm>
            <a:custGeom>
              <a:avLst/>
              <a:gdLst/>
              <a:ahLst/>
              <a:cxnLst/>
              <a:rect l="l" t="t" r="r" b="b"/>
              <a:pathLst>
                <a:path w="7150045" h="7153552">
                  <a:moveTo>
                    <a:pt x="0" y="0"/>
                  </a:moveTo>
                  <a:lnTo>
                    <a:pt x="7150045" y="0"/>
                  </a:lnTo>
                  <a:lnTo>
                    <a:pt x="7150045" y="7153552"/>
                  </a:lnTo>
                  <a:lnTo>
                    <a:pt x="0" y="71535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alphaModFix amt="50000"/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 r="-264" b="-215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Freeform 10"/>
            <p:cNvSpPr/>
            <p:nvPr/>
          </p:nvSpPr>
          <p:spPr>
            <a:xfrm>
              <a:off x="21450136" y="7153552"/>
              <a:ext cx="7150045" cy="7153552"/>
            </a:xfrm>
            <a:custGeom>
              <a:avLst/>
              <a:gdLst/>
              <a:ahLst/>
              <a:cxnLst/>
              <a:rect l="l" t="t" r="r" b="b"/>
              <a:pathLst>
                <a:path w="7150045" h="7153552">
                  <a:moveTo>
                    <a:pt x="0" y="0"/>
                  </a:moveTo>
                  <a:lnTo>
                    <a:pt x="7150046" y="0"/>
                  </a:lnTo>
                  <a:lnTo>
                    <a:pt x="7150046" y="7153552"/>
                  </a:lnTo>
                  <a:lnTo>
                    <a:pt x="0" y="71535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alphaModFix amt="50000"/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 r="-264" b="-215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-9525" y="10097679"/>
            <a:ext cx="18288000" cy="454842"/>
            <a:chOff x="0" y="0"/>
            <a:chExt cx="4816593" cy="119794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4816592" cy="119794"/>
            </a:xfrm>
            <a:custGeom>
              <a:avLst/>
              <a:gdLst/>
              <a:ahLst/>
              <a:cxnLst/>
              <a:rect l="l" t="t" r="r" b="b"/>
              <a:pathLst>
                <a:path w="4816592" h="119794">
                  <a:moveTo>
                    <a:pt x="0" y="0"/>
                  </a:moveTo>
                  <a:lnTo>
                    <a:pt x="4816592" y="0"/>
                  </a:lnTo>
                  <a:lnTo>
                    <a:pt x="4816592" y="119794"/>
                  </a:lnTo>
                  <a:lnTo>
                    <a:pt x="0" y="119794"/>
                  </a:lnTo>
                  <a:close/>
                </a:path>
              </a:pathLst>
            </a:custGeom>
            <a:gradFill rotWithShape="1">
              <a:gsLst>
                <a:gs pos="0">
                  <a:srgbClr val="0C0C0E">
                    <a:alpha val="100000"/>
                  </a:srgbClr>
                </a:gs>
                <a:gs pos="50000">
                  <a:srgbClr val="003366">
                    <a:alpha val="100000"/>
                  </a:srgbClr>
                </a:gs>
                <a:gs pos="100000">
                  <a:srgbClr val="C9A84C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9525"/>
              <a:ext cx="4816593" cy="12931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40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6089842" y="573636"/>
            <a:ext cx="1169458" cy="895542"/>
            <a:chOff x="0" y="0"/>
            <a:chExt cx="1068108" cy="817931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068070" cy="817880"/>
            </a:xfrm>
            <a:custGeom>
              <a:avLst/>
              <a:gdLst/>
              <a:ahLst/>
              <a:cxnLst/>
              <a:rect l="l" t="t" r="r" b="b"/>
              <a:pathLst>
                <a:path w="1068070" h="817880">
                  <a:moveTo>
                    <a:pt x="0" y="0"/>
                  </a:moveTo>
                  <a:lnTo>
                    <a:pt x="1068070" y="0"/>
                  </a:lnTo>
                  <a:lnTo>
                    <a:pt x="1068070" y="817880"/>
                  </a:lnTo>
                  <a:lnTo>
                    <a:pt x="0" y="8178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-3" b="-6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6" name="AutoShape 16"/>
          <p:cNvSpPr/>
          <p:nvPr/>
        </p:nvSpPr>
        <p:spPr>
          <a:xfrm>
            <a:off x="1094551" y="1350321"/>
            <a:ext cx="14840038" cy="0"/>
          </a:xfrm>
          <a:prstGeom prst="line">
            <a:avLst/>
          </a:prstGeom>
          <a:ln w="38100" cap="flat">
            <a:solidFill>
              <a:srgbClr val="C9A84C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7" name="Freeform 17"/>
          <p:cNvSpPr/>
          <p:nvPr/>
        </p:nvSpPr>
        <p:spPr>
          <a:xfrm>
            <a:off x="9588287" y="1906598"/>
            <a:ext cx="7351702" cy="7351702"/>
          </a:xfrm>
          <a:custGeom>
            <a:avLst/>
            <a:gdLst/>
            <a:ahLst/>
            <a:cxnLst/>
            <a:rect l="l" t="t" r="r" b="b"/>
            <a:pathLst>
              <a:path w="7351702" h="7351702">
                <a:moveTo>
                  <a:pt x="0" y="0"/>
                </a:moveTo>
                <a:lnTo>
                  <a:pt x="7351702" y="0"/>
                </a:lnTo>
                <a:lnTo>
                  <a:pt x="7351702" y="7351702"/>
                </a:lnTo>
                <a:lnTo>
                  <a:pt x="0" y="735170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50159" r="-27815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8" name="Freeform 18"/>
          <p:cNvSpPr/>
          <p:nvPr/>
        </p:nvSpPr>
        <p:spPr>
          <a:xfrm>
            <a:off x="1094551" y="2576250"/>
            <a:ext cx="1570981" cy="6012397"/>
          </a:xfrm>
          <a:custGeom>
            <a:avLst/>
            <a:gdLst/>
            <a:ahLst/>
            <a:cxnLst/>
            <a:rect l="l" t="t" r="r" b="b"/>
            <a:pathLst>
              <a:path w="1570981" h="6012397">
                <a:moveTo>
                  <a:pt x="0" y="0"/>
                </a:moveTo>
                <a:lnTo>
                  <a:pt x="1570981" y="0"/>
                </a:lnTo>
                <a:lnTo>
                  <a:pt x="1570981" y="6012398"/>
                </a:lnTo>
                <a:lnTo>
                  <a:pt x="0" y="601239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9" name="TextBox 19"/>
          <p:cNvSpPr txBox="1"/>
          <p:nvPr/>
        </p:nvSpPr>
        <p:spPr>
          <a:xfrm>
            <a:off x="1094551" y="657250"/>
            <a:ext cx="15845438" cy="657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950"/>
              </a:lnSpc>
            </a:pPr>
            <a:r>
              <a:rPr lang="en-US" sz="5000">
                <a:solidFill>
                  <a:srgbClr val="272828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VICINITY OVERVIEW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78475" cy="10281642"/>
          </a:xfrm>
          <a:custGeom>
            <a:avLst/>
            <a:gdLst/>
            <a:ahLst/>
            <a:cxnLst/>
            <a:rect l="l" t="t" r="r" b="b"/>
            <a:pathLst>
              <a:path w="18278475" h="10281642">
                <a:moveTo>
                  <a:pt x="0" y="0"/>
                </a:moveTo>
                <a:lnTo>
                  <a:pt x="18278475" y="0"/>
                </a:lnTo>
                <a:lnTo>
                  <a:pt x="18278475" y="10281642"/>
                </a:lnTo>
                <a:lnTo>
                  <a:pt x="0" y="1028164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16220378" y="911312"/>
            <a:ext cx="1038922" cy="795208"/>
          </a:xfrm>
          <a:custGeom>
            <a:avLst/>
            <a:gdLst/>
            <a:ahLst/>
            <a:cxnLst/>
            <a:rect l="l" t="t" r="r" b="b"/>
            <a:pathLst>
              <a:path w="1038922" h="795208">
                <a:moveTo>
                  <a:pt x="0" y="0"/>
                </a:moveTo>
                <a:lnTo>
                  <a:pt x="1038922" y="0"/>
                </a:lnTo>
                <a:lnTo>
                  <a:pt x="1038922" y="795208"/>
                </a:lnTo>
                <a:lnTo>
                  <a:pt x="0" y="79520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4" name="Group 4"/>
          <p:cNvGrpSpPr/>
          <p:nvPr/>
        </p:nvGrpSpPr>
        <p:grpSpPr>
          <a:xfrm>
            <a:off x="-9525" y="10097679"/>
            <a:ext cx="18288000" cy="454842"/>
            <a:chOff x="0" y="0"/>
            <a:chExt cx="4816593" cy="119794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4816592" cy="119794"/>
            </a:xfrm>
            <a:custGeom>
              <a:avLst/>
              <a:gdLst/>
              <a:ahLst/>
              <a:cxnLst/>
              <a:rect l="l" t="t" r="r" b="b"/>
              <a:pathLst>
                <a:path w="4816592" h="119794">
                  <a:moveTo>
                    <a:pt x="0" y="0"/>
                  </a:moveTo>
                  <a:lnTo>
                    <a:pt x="4816592" y="0"/>
                  </a:lnTo>
                  <a:lnTo>
                    <a:pt x="4816592" y="119794"/>
                  </a:lnTo>
                  <a:lnTo>
                    <a:pt x="0" y="119794"/>
                  </a:lnTo>
                  <a:close/>
                </a:path>
              </a:pathLst>
            </a:custGeom>
            <a:gradFill rotWithShape="1">
              <a:gsLst>
                <a:gs pos="0">
                  <a:srgbClr val="0C0C0E">
                    <a:alpha val="100000"/>
                  </a:srgbClr>
                </a:gs>
                <a:gs pos="50000">
                  <a:srgbClr val="003366">
                    <a:alpha val="100000"/>
                  </a:srgbClr>
                </a:gs>
                <a:gs pos="100000">
                  <a:srgbClr val="C9A84C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9525"/>
              <a:ext cx="4816593" cy="12931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40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-133350" y="479781"/>
            <a:ext cx="8585818" cy="752957"/>
            <a:chOff x="0" y="0"/>
            <a:chExt cx="2261285" cy="19831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261285" cy="198310"/>
            </a:xfrm>
            <a:custGeom>
              <a:avLst/>
              <a:gdLst/>
              <a:ahLst/>
              <a:cxnLst/>
              <a:rect l="l" t="t" r="r" b="b"/>
              <a:pathLst>
                <a:path w="2261285" h="198310">
                  <a:moveTo>
                    <a:pt x="0" y="0"/>
                  </a:moveTo>
                  <a:lnTo>
                    <a:pt x="2261285" y="0"/>
                  </a:lnTo>
                  <a:lnTo>
                    <a:pt x="2261285" y="198310"/>
                  </a:lnTo>
                  <a:lnTo>
                    <a:pt x="0" y="198310"/>
                  </a:lnTo>
                  <a:close/>
                </a:path>
              </a:pathLst>
            </a:custGeom>
            <a:solidFill>
              <a:srgbClr val="021A3D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0"/>
              <a:ext cx="2261285" cy="1983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960"/>
                </a:lnSpc>
              </a:pPr>
              <a:r>
                <a:rPr lang="en-US" sz="3300" b="1">
                  <a:solidFill>
                    <a:srgbClr val="FFFFFF"/>
                  </a:solidFill>
                  <a:latin typeface="Cormorant Garamond Semi-Bold"/>
                  <a:ea typeface="Cormorant Garamond Semi-Bold"/>
                  <a:cs typeface="Cormorant Garamond Semi-Bold"/>
                  <a:sym typeface="Cormorant Garamond Semi-Bold"/>
                </a:rPr>
                <a:t>PROPERTY LOCATION &amp; VICINITY MAP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1A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16256000" cy="9144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6256000" cy="9144000"/>
            </a:xfrm>
            <a:custGeom>
              <a:avLst/>
              <a:gdLst/>
              <a:ahLst/>
              <a:cxnLst/>
              <a:rect l="l" t="t" r="r" b="b"/>
              <a:pathLst>
                <a:path w="16256000" h="9144000">
                  <a:moveTo>
                    <a:pt x="0" y="0"/>
                  </a:moveTo>
                  <a:lnTo>
                    <a:pt x="16256000" y="0"/>
                  </a:lnTo>
                  <a:lnTo>
                    <a:pt x="16256000" y="9144000"/>
                  </a:lnTo>
                  <a:lnTo>
                    <a:pt x="0" y="9144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B1B39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28575" y="0"/>
            <a:ext cx="18259425" cy="4574242"/>
            <a:chOff x="0" y="0"/>
            <a:chExt cx="24345900" cy="609899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6096000" cy="6098990"/>
            </a:xfrm>
            <a:custGeom>
              <a:avLst/>
              <a:gdLst/>
              <a:ahLst/>
              <a:cxnLst/>
              <a:rect l="l" t="t" r="r" b="b"/>
              <a:pathLst>
                <a:path w="6096000" h="6098990">
                  <a:moveTo>
                    <a:pt x="0" y="0"/>
                  </a:moveTo>
                  <a:lnTo>
                    <a:pt x="6096000" y="0"/>
                  </a:lnTo>
                  <a:lnTo>
                    <a:pt x="6096000" y="6098990"/>
                  </a:lnTo>
                  <a:lnTo>
                    <a:pt x="0" y="609899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alphaModFix amt="9999"/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 r="-264" b="-215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Freeform 6"/>
            <p:cNvSpPr/>
            <p:nvPr/>
          </p:nvSpPr>
          <p:spPr>
            <a:xfrm>
              <a:off x="6057900" y="0"/>
              <a:ext cx="6096000" cy="6098990"/>
            </a:xfrm>
            <a:custGeom>
              <a:avLst/>
              <a:gdLst/>
              <a:ahLst/>
              <a:cxnLst/>
              <a:rect l="l" t="t" r="r" b="b"/>
              <a:pathLst>
                <a:path w="6096000" h="6098990">
                  <a:moveTo>
                    <a:pt x="0" y="0"/>
                  </a:moveTo>
                  <a:lnTo>
                    <a:pt x="6096000" y="0"/>
                  </a:lnTo>
                  <a:lnTo>
                    <a:pt x="6096000" y="6098990"/>
                  </a:lnTo>
                  <a:lnTo>
                    <a:pt x="0" y="609899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alphaModFix amt="9999"/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 r="-264" b="-215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Freeform 7"/>
            <p:cNvSpPr/>
            <p:nvPr/>
          </p:nvSpPr>
          <p:spPr>
            <a:xfrm>
              <a:off x="12153900" y="0"/>
              <a:ext cx="6096000" cy="6098990"/>
            </a:xfrm>
            <a:custGeom>
              <a:avLst/>
              <a:gdLst/>
              <a:ahLst/>
              <a:cxnLst/>
              <a:rect l="l" t="t" r="r" b="b"/>
              <a:pathLst>
                <a:path w="6096000" h="6098990">
                  <a:moveTo>
                    <a:pt x="0" y="0"/>
                  </a:moveTo>
                  <a:lnTo>
                    <a:pt x="6096000" y="0"/>
                  </a:lnTo>
                  <a:lnTo>
                    <a:pt x="6096000" y="6098990"/>
                  </a:lnTo>
                  <a:lnTo>
                    <a:pt x="0" y="609899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alphaModFix amt="9999"/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 r="-264" b="-215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Freeform 8"/>
            <p:cNvSpPr/>
            <p:nvPr/>
          </p:nvSpPr>
          <p:spPr>
            <a:xfrm>
              <a:off x="18249900" y="0"/>
              <a:ext cx="6096000" cy="6098990"/>
            </a:xfrm>
            <a:custGeom>
              <a:avLst/>
              <a:gdLst/>
              <a:ahLst/>
              <a:cxnLst/>
              <a:rect l="l" t="t" r="r" b="b"/>
              <a:pathLst>
                <a:path w="6096000" h="6098990">
                  <a:moveTo>
                    <a:pt x="0" y="0"/>
                  </a:moveTo>
                  <a:lnTo>
                    <a:pt x="6096000" y="0"/>
                  </a:lnTo>
                  <a:lnTo>
                    <a:pt x="6096000" y="6098990"/>
                  </a:lnTo>
                  <a:lnTo>
                    <a:pt x="0" y="609899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alphaModFix amt="9999"/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 r="-264" b="-215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9" name="Freeform 9"/>
          <p:cNvSpPr/>
          <p:nvPr/>
        </p:nvSpPr>
        <p:spPr>
          <a:xfrm>
            <a:off x="0" y="4574242"/>
            <a:ext cx="4572000" cy="4574242"/>
          </a:xfrm>
          <a:custGeom>
            <a:avLst/>
            <a:gdLst/>
            <a:ahLst/>
            <a:cxnLst/>
            <a:rect l="l" t="t" r="r" b="b"/>
            <a:pathLst>
              <a:path w="4572000" h="4574242">
                <a:moveTo>
                  <a:pt x="0" y="0"/>
                </a:moveTo>
                <a:lnTo>
                  <a:pt x="4572000" y="0"/>
                </a:lnTo>
                <a:lnTo>
                  <a:pt x="4572000" y="4574243"/>
                </a:lnTo>
                <a:lnTo>
                  <a:pt x="0" y="457424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9999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r="-264" b="-215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Freeform 10"/>
          <p:cNvSpPr/>
          <p:nvPr/>
        </p:nvSpPr>
        <p:spPr>
          <a:xfrm>
            <a:off x="4572000" y="4574242"/>
            <a:ext cx="4572000" cy="4574242"/>
          </a:xfrm>
          <a:custGeom>
            <a:avLst/>
            <a:gdLst/>
            <a:ahLst/>
            <a:cxnLst/>
            <a:rect l="l" t="t" r="r" b="b"/>
            <a:pathLst>
              <a:path w="4572000" h="4574242">
                <a:moveTo>
                  <a:pt x="0" y="0"/>
                </a:moveTo>
                <a:lnTo>
                  <a:pt x="4572000" y="0"/>
                </a:lnTo>
                <a:lnTo>
                  <a:pt x="4572000" y="4574243"/>
                </a:lnTo>
                <a:lnTo>
                  <a:pt x="0" y="457424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9999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r="-264" b="-215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>
          <a:xfrm>
            <a:off x="9144000" y="4574242"/>
            <a:ext cx="4572000" cy="4574242"/>
          </a:xfrm>
          <a:custGeom>
            <a:avLst/>
            <a:gdLst/>
            <a:ahLst/>
            <a:cxnLst/>
            <a:rect l="l" t="t" r="r" b="b"/>
            <a:pathLst>
              <a:path w="4572000" h="4574242">
                <a:moveTo>
                  <a:pt x="0" y="0"/>
                </a:moveTo>
                <a:lnTo>
                  <a:pt x="4572000" y="0"/>
                </a:lnTo>
                <a:lnTo>
                  <a:pt x="4572000" y="4574243"/>
                </a:lnTo>
                <a:lnTo>
                  <a:pt x="0" y="457424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9999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r="-264" b="-215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Freeform 12"/>
          <p:cNvSpPr/>
          <p:nvPr/>
        </p:nvSpPr>
        <p:spPr>
          <a:xfrm>
            <a:off x="13716000" y="4574242"/>
            <a:ext cx="4572000" cy="4574242"/>
          </a:xfrm>
          <a:custGeom>
            <a:avLst/>
            <a:gdLst/>
            <a:ahLst/>
            <a:cxnLst/>
            <a:rect l="l" t="t" r="r" b="b"/>
            <a:pathLst>
              <a:path w="4572000" h="4574242">
                <a:moveTo>
                  <a:pt x="0" y="0"/>
                </a:moveTo>
                <a:lnTo>
                  <a:pt x="4572000" y="0"/>
                </a:lnTo>
                <a:lnTo>
                  <a:pt x="4572000" y="4574243"/>
                </a:lnTo>
                <a:lnTo>
                  <a:pt x="0" y="457424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9999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r="-264" b="-215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3" name="Group 13"/>
          <p:cNvGrpSpPr/>
          <p:nvPr/>
        </p:nvGrpSpPr>
        <p:grpSpPr>
          <a:xfrm>
            <a:off x="28575" y="9148485"/>
            <a:ext cx="18259425" cy="4574242"/>
            <a:chOff x="0" y="0"/>
            <a:chExt cx="24345900" cy="609899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6096000" cy="6098990"/>
            </a:xfrm>
            <a:custGeom>
              <a:avLst/>
              <a:gdLst/>
              <a:ahLst/>
              <a:cxnLst/>
              <a:rect l="l" t="t" r="r" b="b"/>
              <a:pathLst>
                <a:path w="6096000" h="6098990">
                  <a:moveTo>
                    <a:pt x="0" y="0"/>
                  </a:moveTo>
                  <a:lnTo>
                    <a:pt x="6096000" y="0"/>
                  </a:lnTo>
                  <a:lnTo>
                    <a:pt x="6096000" y="6098990"/>
                  </a:lnTo>
                  <a:lnTo>
                    <a:pt x="0" y="609899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alphaModFix amt="9999"/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 r="-264" b="-215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Freeform 15"/>
            <p:cNvSpPr/>
            <p:nvPr/>
          </p:nvSpPr>
          <p:spPr>
            <a:xfrm>
              <a:off x="6057900" y="0"/>
              <a:ext cx="6096000" cy="6098990"/>
            </a:xfrm>
            <a:custGeom>
              <a:avLst/>
              <a:gdLst/>
              <a:ahLst/>
              <a:cxnLst/>
              <a:rect l="l" t="t" r="r" b="b"/>
              <a:pathLst>
                <a:path w="6096000" h="6098990">
                  <a:moveTo>
                    <a:pt x="0" y="0"/>
                  </a:moveTo>
                  <a:lnTo>
                    <a:pt x="6096000" y="0"/>
                  </a:lnTo>
                  <a:lnTo>
                    <a:pt x="6096000" y="6098990"/>
                  </a:lnTo>
                  <a:lnTo>
                    <a:pt x="0" y="609899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alphaModFix amt="9999"/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 r="-264" b="-215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16"/>
            <p:cNvSpPr/>
            <p:nvPr/>
          </p:nvSpPr>
          <p:spPr>
            <a:xfrm>
              <a:off x="12153900" y="0"/>
              <a:ext cx="6096000" cy="6098990"/>
            </a:xfrm>
            <a:custGeom>
              <a:avLst/>
              <a:gdLst/>
              <a:ahLst/>
              <a:cxnLst/>
              <a:rect l="l" t="t" r="r" b="b"/>
              <a:pathLst>
                <a:path w="6096000" h="6098990">
                  <a:moveTo>
                    <a:pt x="0" y="0"/>
                  </a:moveTo>
                  <a:lnTo>
                    <a:pt x="6096000" y="0"/>
                  </a:lnTo>
                  <a:lnTo>
                    <a:pt x="6096000" y="6098990"/>
                  </a:lnTo>
                  <a:lnTo>
                    <a:pt x="0" y="609899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alphaModFix amt="9999"/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 r="-264" b="-215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Freeform 17"/>
            <p:cNvSpPr/>
            <p:nvPr/>
          </p:nvSpPr>
          <p:spPr>
            <a:xfrm>
              <a:off x="18249900" y="0"/>
              <a:ext cx="6096000" cy="6098990"/>
            </a:xfrm>
            <a:custGeom>
              <a:avLst/>
              <a:gdLst/>
              <a:ahLst/>
              <a:cxnLst/>
              <a:rect l="l" t="t" r="r" b="b"/>
              <a:pathLst>
                <a:path w="6096000" h="6098990">
                  <a:moveTo>
                    <a:pt x="0" y="0"/>
                  </a:moveTo>
                  <a:lnTo>
                    <a:pt x="6096000" y="0"/>
                  </a:lnTo>
                  <a:lnTo>
                    <a:pt x="6096000" y="6098990"/>
                  </a:lnTo>
                  <a:lnTo>
                    <a:pt x="0" y="609899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alphaModFix amt="9999"/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 r="-264" b="-215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8" name="Freeform 18"/>
          <p:cNvSpPr/>
          <p:nvPr/>
        </p:nvSpPr>
        <p:spPr>
          <a:xfrm>
            <a:off x="4848261" y="0"/>
            <a:ext cx="13439738" cy="10287000"/>
          </a:xfrm>
          <a:custGeom>
            <a:avLst/>
            <a:gdLst/>
            <a:ahLst/>
            <a:cxnLst/>
            <a:rect l="l" t="t" r="r" b="b"/>
            <a:pathLst>
              <a:path w="13439738" h="10287000">
                <a:moveTo>
                  <a:pt x="0" y="0"/>
                </a:moveTo>
                <a:lnTo>
                  <a:pt x="13439739" y="0"/>
                </a:lnTo>
                <a:lnTo>
                  <a:pt x="13439739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3000"/>
            </a:blip>
            <a:stretch>
              <a:fillRect t="-2" b="-2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9" name="Group 19"/>
          <p:cNvGrpSpPr/>
          <p:nvPr/>
        </p:nvGrpSpPr>
        <p:grpSpPr>
          <a:xfrm>
            <a:off x="16230600" y="685800"/>
            <a:ext cx="1371600" cy="1057275"/>
            <a:chOff x="0" y="0"/>
            <a:chExt cx="1219200" cy="939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1219200" cy="939800"/>
            </a:xfrm>
            <a:custGeom>
              <a:avLst/>
              <a:gdLst/>
              <a:ahLst/>
              <a:cxnLst/>
              <a:rect l="l" t="t" r="r" b="b"/>
              <a:pathLst>
                <a:path w="1219200" h="939800">
                  <a:moveTo>
                    <a:pt x="0" y="0"/>
                  </a:moveTo>
                  <a:lnTo>
                    <a:pt x="1219200" y="0"/>
                  </a:lnTo>
                  <a:lnTo>
                    <a:pt x="1219200" y="939800"/>
                  </a:lnTo>
                  <a:lnTo>
                    <a:pt x="0" y="939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1" name="TextBox 21"/>
          <p:cNvSpPr txBox="1"/>
          <p:nvPr/>
        </p:nvSpPr>
        <p:spPr>
          <a:xfrm>
            <a:off x="915742" y="6665786"/>
            <a:ext cx="9718572" cy="15093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517"/>
              </a:lnSpc>
            </a:pPr>
            <a:r>
              <a:rPr lang="en-US" sz="10814" dirty="0">
                <a:solidFill>
                  <a:srgbClr val="FFFCFB"/>
                </a:solidFill>
                <a:latin typeface="Cormorant Garamond Light"/>
                <a:ea typeface="Cormorant Garamond Light"/>
                <a:cs typeface="Cormorant Garamond Light"/>
                <a:sym typeface="Cormorant Garamond Light"/>
              </a:rPr>
              <a:t>Demographics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915742" y="6205439"/>
            <a:ext cx="5790866" cy="3066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5"/>
              </a:lnSpc>
              <a:spcBef>
                <a:spcPct val="0"/>
              </a:spcBef>
            </a:pPr>
            <a:r>
              <a:rPr lang="en-US" sz="1803" b="1" spc="721" dirty="0">
                <a:solidFill>
                  <a:srgbClr val="C9A84C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{{PROPERTY_NAME}}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915742" y="8315070"/>
            <a:ext cx="4972720" cy="3066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5"/>
              </a:lnSpc>
              <a:spcBef>
                <a:spcPct val="0"/>
              </a:spcBef>
            </a:pPr>
            <a:r>
              <a:rPr lang="en-US" sz="1803" b="1" spc="721" dirty="0">
                <a:solidFill>
                  <a:srgbClr val="FFFCF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PRIME PHILIPPINES 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33350" y="0"/>
            <a:ext cx="21450136" cy="10730328"/>
            <a:chOff x="0" y="0"/>
            <a:chExt cx="28600182" cy="1430710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7150045" cy="7153552"/>
            </a:xfrm>
            <a:custGeom>
              <a:avLst/>
              <a:gdLst/>
              <a:ahLst/>
              <a:cxnLst/>
              <a:rect l="l" t="t" r="r" b="b"/>
              <a:pathLst>
                <a:path w="7150045" h="7153552">
                  <a:moveTo>
                    <a:pt x="0" y="0"/>
                  </a:moveTo>
                  <a:lnTo>
                    <a:pt x="7150045" y="0"/>
                  </a:lnTo>
                  <a:lnTo>
                    <a:pt x="7150045" y="7153552"/>
                  </a:lnTo>
                  <a:lnTo>
                    <a:pt x="0" y="71535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alphaModFix amt="50000"/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 r="-264" b="-215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Freeform 4"/>
            <p:cNvSpPr/>
            <p:nvPr/>
          </p:nvSpPr>
          <p:spPr>
            <a:xfrm>
              <a:off x="7150045" y="0"/>
              <a:ext cx="7150045" cy="7153552"/>
            </a:xfrm>
            <a:custGeom>
              <a:avLst/>
              <a:gdLst/>
              <a:ahLst/>
              <a:cxnLst/>
              <a:rect l="l" t="t" r="r" b="b"/>
              <a:pathLst>
                <a:path w="7150045" h="7153552">
                  <a:moveTo>
                    <a:pt x="0" y="0"/>
                  </a:moveTo>
                  <a:lnTo>
                    <a:pt x="7150046" y="0"/>
                  </a:lnTo>
                  <a:lnTo>
                    <a:pt x="7150046" y="7153552"/>
                  </a:lnTo>
                  <a:lnTo>
                    <a:pt x="0" y="71535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alphaModFix amt="50000"/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 r="-264" b="-215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Freeform 5"/>
            <p:cNvSpPr/>
            <p:nvPr/>
          </p:nvSpPr>
          <p:spPr>
            <a:xfrm>
              <a:off x="14300091" y="0"/>
              <a:ext cx="7150045" cy="7153552"/>
            </a:xfrm>
            <a:custGeom>
              <a:avLst/>
              <a:gdLst/>
              <a:ahLst/>
              <a:cxnLst/>
              <a:rect l="l" t="t" r="r" b="b"/>
              <a:pathLst>
                <a:path w="7150045" h="7153552">
                  <a:moveTo>
                    <a:pt x="0" y="0"/>
                  </a:moveTo>
                  <a:lnTo>
                    <a:pt x="7150045" y="0"/>
                  </a:lnTo>
                  <a:lnTo>
                    <a:pt x="7150045" y="7153552"/>
                  </a:lnTo>
                  <a:lnTo>
                    <a:pt x="0" y="71535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alphaModFix amt="50000"/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 r="-264" b="-215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Freeform 6"/>
            <p:cNvSpPr/>
            <p:nvPr/>
          </p:nvSpPr>
          <p:spPr>
            <a:xfrm>
              <a:off x="21450136" y="0"/>
              <a:ext cx="7150045" cy="7153552"/>
            </a:xfrm>
            <a:custGeom>
              <a:avLst/>
              <a:gdLst/>
              <a:ahLst/>
              <a:cxnLst/>
              <a:rect l="l" t="t" r="r" b="b"/>
              <a:pathLst>
                <a:path w="7150045" h="7153552">
                  <a:moveTo>
                    <a:pt x="0" y="0"/>
                  </a:moveTo>
                  <a:lnTo>
                    <a:pt x="7150046" y="0"/>
                  </a:lnTo>
                  <a:lnTo>
                    <a:pt x="7150046" y="7153552"/>
                  </a:lnTo>
                  <a:lnTo>
                    <a:pt x="0" y="71535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alphaModFix amt="50000"/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 r="-264" b="-215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Freeform 7"/>
            <p:cNvSpPr/>
            <p:nvPr/>
          </p:nvSpPr>
          <p:spPr>
            <a:xfrm>
              <a:off x="0" y="7153552"/>
              <a:ext cx="7150045" cy="7153552"/>
            </a:xfrm>
            <a:custGeom>
              <a:avLst/>
              <a:gdLst/>
              <a:ahLst/>
              <a:cxnLst/>
              <a:rect l="l" t="t" r="r" b="b"/>
              <a:pathLst>
                <a:path w="7150045" h="7153552">
                  <a:moveTo>
                    <a:pt x="0" y="0"/>
                  </a:moveTo>
                  <a:lnTo>
                    <a:pt x="7150045" y="0"/>
                  </a:lnTo>
                  <a:lnTo>
                    <a:pt x="7150045" y="7153552"/>
                  </a:lnTo>
                  <a:lnTo>
                    <a:pt x="0" y="71535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alphaModFix amt="50000"/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 r="-264" b="-215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Freeform 8"/>
            <p:cNvSpPr/>
            <p:nvPr/>
          </p:nvSpPr>
          <p:spPr>
            <a:xfrm>
              <a:off x="7150045" y="7153552"/>
              <a:ext cx="7150045" cy="7153552"/>
            </a:xfrm>
            <a:custGeom>
              <a:avLst/>
              <a:gdLst/>
              <a:ahLst/>
              <a:cxnLst/>
              <a:rect l="l" t="t" r="r" b="b"/>
              <a:pathLst>
                <a:path w="7150045" h="7153552">
                  <a:moveTo>
                    <a:pt x="0" y="0"/>
                  </a:moveTo>
                  <a:lnTo>
                    <a:pt x="7150046" y="0"/>
                  </a:lnTo>
                  <a:lnTo>
                    <a:pt x="7150046" y="7153552"/>
                  </a:lnTo>
                  <a:lnTo>
                    <a:pt x="0" y="71535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alphaModFix amt="50000"/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 r="-264" b="-215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Freeform 9"/>
            <p:cNvSpPr/>
            <p:nvPr/>
          </p:nvSpPr>
          <p:spPr>
            <a:xfrm>
              <a:off x="14300091" y="7153552"/>
              <a:ext cx="7150045" cy="7153552"/>
            </a:xfrm>
            <a:custGeom>
              <a:avLst/>
              <a:gdLst/>
              <a:ahLst/>
              <a:cxnLst/>
              <a:rect l="l" t="t" r="r" b="b"/>
              <a:pathLst>
                <a:path w="7150045" h="7153552">
                  <a:moveTo>
                    <a:pt x="0" y="0"/>
                  </a:moveTo>
                  <a:lnTo>
                    <a:pt x="7150045" y="0"/>
                  </a:lnTo>
                  <a:lnTo>
                    <a:pt x="7150045" y="7153552"/>
                  </a:lnTo>
                  <a:lnTo>
                    <a:pt x="0" y="71535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alphaModFix amt="50000"/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 r="-264" b="-215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Freeform 10"/>
            <p:cNvSpPr/>
            <p:nvPr/>
          </p:nvSpPr>
          <p:spPr>
            <a:xfrm>
              <a:off x="21450136" y="7153552"/>
              <a:ext cx="7150045" cy="7153552"/>
            </a:xfrm>
            <a:custGeom>
              <a:avLst/>
              <a:gdLst/>
              <a:ahLst/>
              <a:cxnLst/>
              <a:rect l="l" t="t" r="r" b="b"/>
              <a:pathLst>
                <a:path w="7150045" h="7153552">
                  <a:moveTo>
                    <a:pt x="0" y="0"/>
                  </a:moveTo>
                  <a:lnTo>
                    <a:pt x="7150046" y="0"/>
                  </a:lnTo>
                  <a:lnTo>
                    <a:pt x="7150046" y="7153552"/>
                  </a:lnTo>
                  <a:lnTo>
                    <a:pt x="0" y="71535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alphaModFix amt="50000"/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 r="-264" b="-215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-9525" y="10097679"/>
            <a:ext cx="18288000" cy="454842"/>
            <a:chOff x="0" y="0"/>
            <a:chExt cx="4816593" cy="119794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4816592" cy="119794"/>
            </a:xfrm>
            <a:custGeom>
              <a:avLst/>
              <a:gdLst/>
              <a:ahLst/>
              <a:cxnLst/>
              <a:rect l="l" t="t" r="r" b="b"/>
              <a:pathLst>
                <a:path w="4816592" h="119794">
                  <a:moveTo>
                    <a:pt x="0" y="0"/>
                  </a:moveTo>
                  <a:lnTo>
                    <a:pt x="4816592" y="0"/>
                  </a:lnTo>
                  <a:lnTo>
                    <a:pt x="4816592" y="119794"/>
                  </a:lnTo>
                  <a:lnTo>
                    <a:pt x="0" y="119794"/>
                  </a:lnTo>
                  <a:close/>
                </a:path>
              </a:pathLst>
            </a:custGeom>
            <a:gradFill rotWithShape="1">
              <a:gsLst>
                <a:gs pos="0">
                  <a:srgbClr val="0C0C0E">
                    <a:alpha val="100000"/>
                  </a:srgbClr>
                </a:gs>
                <a:gs pos="50000">
                  <a:srgbClr val="003366">
                    <a:alpha val="100000"/>
                  </a:srgbClr>
                </a:gs>
                <a:gs pos="100000">
                  <a:srgbClr val="C9A84C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9525"/>
              <a:ext cx="4816593" cy="12931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40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6089842" y="573636"/>
            <a:ext cx="1169458" cy="895542"/>
            <a:chOff x="0" y="0"/>
            <a:chExt cx="1068108" cy="817931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068070" cy="817880"/>
            </a:xfrm>
            <a:custGeom>
              <a:avLst/>
              <a:gdLst/>
              <a:ahLst/>
              <a:cxnLst/>
              <a:rect l="l" t="t" r="r" b="b"/>
              <a:pathLst>
                <a:path w="1068070" h="817880">
                  <a:moveTo>
                    <a:pt x="0" y="0"/>
                  </a:moveTo>
                  <a:lnTo>
                    <a:pt x="1068070" y="0"/>
                  </a:lnTo>
                  <a:lnTo>
                    <a:pt x="1068070" y="817880"/>
                  </a:lnTo>
                  <a:lnTo>
                    <a:pt x="0" y="8178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-3" b="-6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6" name="AutoShape 16"/>
          <p:cNvSpPr/>
          <p:nvPr/>
        </p:nvSpPr>
        <p:spPr>
          <a:xfrm>
            <a:off x="1094551" y="1350321"/>
            <a:ext cx="14840038" cy="0"/>
          </a:xfrm>
          <a:prstGeom prst="line">
            <a:avLst/>
          </a:prstGeom>
          <a:ln w="38100" cap="flat">
            <a:solidFill>
              <a:srgbClr val="C9A84C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7" name="Freeform 17"/>
          <p:cNvSpPr/>
          <p:nvPr/>
        </p:nvSpPr>
        <p:spPr>
          <a:xfrm>
            <a:off x="8555768" y="1807867"/>
            <a:ext cx="8384221" cy="7450433"/>
          </a:xfrm>
          <a:custGeom>
            <a:avLst/>
            <a:gdLst/>
            <a:ahLst/>
            <a:cxnLst/>
            <a:rect l="l" t="t" r="r" b="b"/>
            <a:pathLst>
              <a:path w="8384221" h="7450433">
                <a:moveTo>
                  <a:pt x="0" y="0"/>
                </a:moveTo>
                <a:lnTo>
                  <a:pt x="8384221" y="0"/>
                </a:lnTo>
                <a:lnTo>
                  <a:pt x="8384221" y="7450433"/>
                </a:lnTo>
                <a:lnTo>
                  <a:pt x="0" y="745043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8" name="TextBox 18"/>
          <p:cNvSpPr txBox="1"/>
          <p:nvPr/>
        </p:nvSpPr>
        <p:spPr>
          <a:xfrm>
            <a:off x="1094551" y="657250"/>
            <a:ext cx="15845438" cy="657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950"/>
              </a:lnSpc>
            </a:pPr>
            <a:r>
              <a:rPr lang="en-US" sz="5000">
                <a:solidFill>
                  <a:srgbClr val="272828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DEMOGRAPHICS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/>
          <p:cNvSpPr/>
          <p:nvPr/>
        </p:nvSpPr>
        <p:spPr>
          <a:xfrm>
            <a:off x="634123" y="1028700"/>
            <a:ext cx="12031200" cy="1285151"/>
          </a:xfrm>
          <a:custGeom>
            <a:avLst/>
            <a:gdLst/>
            <a:ahLst/>
            <a:cxnLst/>
            <a:rect l="l" t="t" r="r" b="b"/>
            <a:pathLst>
              <a:path w="16041601" h="1713534">
                <a:moveTo>
                  <a:pt x="0" y="0"/>
                </a:moveTo>
                <a:lnTo>
                  <a:pt x="16041601" y="0"/>
                </a:lnTo>
                <a:lnTo>
                  <a:pt x="16041601" y="1713534"/>
                </a:lnTo>
                <a:lnTo>
                  <a:pt x="0" y="1713534"/>
                </a:lnTo>
                <a:close/>
              </a:path>
            </a:pathLst>
          </a:custGeom>
          <a:blipFill>
            <a:blip r:embed="rId2">
              <a:alphaModFix amt="0"/>
            </a:blip>
            <a:stretch>
              <a:fillRect t="-132413" b="-13241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634123" y="1028700"/>
            <a:ext cx="12031199" cy="1285146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algn="l">
              <a:lnSpc>
                <a:spcPts val="7439"/>
              </a:lnSpc>
            </a:pPr>
            <a:r>
              <a:rPr lang="en-US" sz="6199" i="1" dirty="0">
                <a:solidFill>
                  <a:srgbClr val="003366"/>
                </a:solidFill>
                <a:latin typeface="Cormorant Garamond Light Italics"/>
                <a:ea typeface="Cormorant Garamond Light Italics"/>
                <a:cs typeface="Cormorant Garamond Light Italics"/>
                <a:sym typeface="Cormorant Garamond Light Italics"/>
              </a:rPr>
              <a:t>{{PROPERTY_NAME}}</a:t>
            </a:r>
          </a:p>
        </p:txBody>
      </p:sp>
      <p:sp>
        <p:nvSpPr>
          <p:cNvPr id="7" name="Freeform 7"/>
          <p:cNvSpPr/>
          <p:nvPr/>
        </p:nvSpPr>
        <p:spPr>
          <a:xfrm>
            <a:off x="16220378" y="911312"/>
            <a:ext cx="1038922" cy="795208"/>
          </a:xfrm>
          <a:custGeom>
            <a:avLst/>
            <a:gdLst/>
            <a:ahLst/>
            <a:cxnLst/>
            <a:rect l="l" t="t" r="r" b="b"/>
            <a:pathLst>
              <a:path w="1038922" h="795208">
                <a:moveTo>
                  <a:pt x="0" y="0"/>
                </a:moveTo>
                <a:lnTo>
                  <a:pt x="1038922" y="0"/>
                </a:lnTo>
                <a:lnTo>
                  <a:pt x="1038922" y="795208"/>
                </a:lnTo>
                <a:lnTo>
                  <a:pt x="0" y="79520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8" name="Group 8"/>
          <p:cNvGrpSpPr/>
          <p:nvPr/>
        </p:nvGrpSpPr>
        <p:grpSpPr>
          <a:xfrm>
            <a:off x="-9525" y="10097679"/>
            <a:ext cx="18288000" cy="454842"/>
            <a:chOff x="0" y="0"/>
            <a:chExt cx="4816593" cy="119794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4816592" cy="119794"/>
            </a:xfrm>
            <a:custGeom>
              <a:avLst/>
              <a:gdLst/>
              <a:ahLst/>
              <a:cxnLst/>
              <a:rect l="l" t="t" r="r" b="b"/>
              <a:pathLst>
                <a:path w="4816592" h="119794">
                  <a:moveTo>
                    <a:pt x="0" y="0"/>
                  </a:moveTo>
                  <a:lnTo>
                    <a:pt x="4816592" y="0"/>
                  </a:lnTo>
                  <a:lnTo>
                    <a:pt x="4816592" y="119794"/>
                  </a:lnTo>
                  <a:lnTo>
                    <a:pt x="0" y="119794"/>
                  </a:lnTo>
                  <a:close/>
                </a:path>
              </a:pathLst>
            </a:custGeom>
            <a:gradFill rotWithShape="1">
              <a:gsLst>
                <a:gs pos="0">
                  <a:srgbClr val="0C0C0E">
                    <a:alpha val="100000"/>
                  </a:srgbClr>
                </a:gs>
                <a:gs pos="50000">
                  <a:srgbClr val="003366">
                    <a:alpha val="100000"/>
                  </a:srgbClr>
                </a:gs>
                <a:gs pos="100000">
                  <a:srgbClr val="C9A84C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9525"/>
              <a:ext cx="4816593" cy="12931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40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-133350" y="275743"/>
            <a:ext cx="4683825" cy="752957"/>
            <a:chOff x="0" y="0"/>
            <a:chExt cx="1233600" cy="19831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233600" cy="198310"/>
            </a:xfrm>
            <a:custGeom>
              <a:avLst/>
              <a:gdLst/>
              <a:ahLst/>
              <a:cxnLst/>
              <a:rect l="l" t="t" r="r" b="b"/>
              <a:pathLst>
                <a:path w="1233600" h="198310">
                  <a:moveTo>
                    <a:pt x="0" y="0"/>
                  </a:moveTo>
                  <a:lnTo>
                    <a:pt x="1233600" y="0"/>
                  </a:lnTo>
                  <a:lnTo>
                    <a:pt x="1233600" y="198310"/>
                  </a:lnTo>
                  <a:lnTo>
                    <a:pt x="0" y="198310"/>
                  </a:lnTo>
                  <a:close/>
                </a:path>
              </a:pathLst>
            </a:custGeom>
            <a:solidFill>
              <a:srgbClr val="021A3D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0"/>
              <a:ext cx="1233600" cy="1983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960"/>
                </a:lnSpc>
              </a:pPr>
              <a:r>
                <a:rPr lang="en-US" sz="3300" b="1">
                  <a:solidFill>
                    <a:srgbClr val="FFFFFF"/>
                  </a:solidFill>
                  <a:latin typeface="Cormorant Garamond Semi-Bold"/>
                  <a:ea typeface="Cormorant Garamond Semi-Bold"/>
                  <a:cs typeface="Cormorant Garamond Semi-Bold"/>
                  <a:sym typeface="Cormorant Garamond Semi-Bold"/>
                </a:rPr>
                <a:t>ACTUAL PHOTOS</a:t>
              </a:r>
            </a:p>
          </p:txBody>
        </p:sp>
      </p:grpSp>
      <p:sp>
        <p:nvSpPr>
          <p:cNvPr id="18" name="Rectangle 17">
            <a:extLst>
              <a:ext uri="{FF2B5EF4-FFF2-40B4-BE49-F238E27FC236}">
                <a16:creationId xmlns:a16="http://schemas.microsoft.com/office/drawing/2014/main" id="{B099C0B9-1978-7DCE-E123-0D3BDFDCC3C6}"/>
              </a:ext>
            </a:extLst>
          </p:cNvPr>
          <p:cNvSpPr/>
          <p:nvPr/>
        </p:nvSpPr>
        <p:spPr>
          <a:xfrm>
            <a:off x="679758" y="2350011"/>
            <a:ext cx="10842814" cy="681745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800" dirty="0">
                <a:solidFill>
                  <a:srgbClr val="C9A84C"/>
                </a:solidFill>
                <a:latin typeface="Century Gothic Paneuropean" panose="020B0604020202020204" charset="0"/>
                <a:cs typeface="Century Gothic Paneuropean" panose="020B0604020202020204" charset="0"/>
              </a:rPr>
              <a:t>{{PROPERTY_PHOTO_1}}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8E5D04B-1899-9F23-4B96-B4D53247BCDF}"/>
              </a:ext>
            </a:extLst>
          </p:cNvPr>
          <p:cNvSpPr/>
          <p:nvPr/>
        </p:nvSpPr>
        <p:spPr>
          <a:xfrm>
            <a:off x="11661966" y="5840572"/>
            <a:ext cx="5946276" cy="332688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600" dirty="0">
                <a:solidFill>
                  <a:srgbClr val="C9A84C"/>
                </a:solidFill>
                <a:latin typeface="Century Gothic Paneuropean" panose="020B0604020202020204" charset="0"/>
                <a:cs typeface="Century Gothic Paneuropean" panose="020B0604020202020204" charset="0"/>
              </a:rPr>
              <a:t>{{PROPERTY_PHOTO_3}}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6A9ABED-A6D1-490A-A2AB-54D07552E67E}"/>
              </a:ext>
            </a:extLst>
          </p:cNvPr>
          <p:cNvSpPr/>
          <p:nvPr/>
        </p:nvSpPr>
        <p:spPr>
          <a:xfrm>
            <a:off x="11661966" y="2350011"/>
            <a:ext cx="5946276" cy="332688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600" dirty="0">
                <a:solidFill>
                  <a:srgbClr val="C9A84C"/>
                </a:solidFill>
                <a:latin typeface="Century Gothic Paneuropean" panose="020B0604020202020204" charset="0"/>
                <a:cs typeface="Century Gothic Paneuropean" panose="020B0604020202020204" charset="0"/>
              </a:rPr>
              <a:t>{{PROPERTY_PHOTO_2}}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/>
          <p:cNvSpPr/>
          <p:nvPr/>
        </p:nvSpPr>
        <p:spPr>
          <a:xfrm>
            <a:off x="605584" y="1063947"/>
            <a:ext cx="12031200" cy="1285151"/>
          </a:xfrm>
          <a:custGeom>
            <a:avLst/>
            <a:gdLst/>
            <a:ahLst/>
            <a:cxnLst/>
            <a:rect l="l" t="t" r="r" b="b"/>
            <a:pathLst>
              <a:path w="16041601" h="1713534">
                <a:moveTo>
                  <a:pt x="0" y="0"/>
                </a:moveTo>
                <a:lnTo>
                  <a:pt x="16041601" y="0"/>
                </a:lnTo>
                <a:lnTo>
                  <a:pt x="16041601" y="1713534"/>
                </a:lnTo>
                <a:lnTo>
                  <a:pt x="0" y="1713534"/>
                </a:lnTo>
                <a:close/>
              </a:path>
            </a:pathLst>
          </a:custGeom>
          <a:blipFill>
            <a:blip r:embed="rId2">
              <a:alphaModFix amt="0"/>
            </a:blip>
            <a:stretch>
              <a:fillRect t="-132413" b="-13241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16220378" y="911312"/>
            <a:ext cx="1038922" cy="795208"/>
          </a:xfrm>
          <a:custGeom>
            <a:avLst/>
            <a:gdLst/>
            <a:ahLst/>
            <a:cxnLst/>
            <a:rect l="l" t="t" r="r" b="b"/>
            <a:pathLst>
              <a:path w="1038922" h="795208">
                <a:moveTo>
                  <a:pt x="0" y="0"/>
                </a:moveTo>
                <a:lnTo>
                  <a:pt x="1038922" y="0"/>
                </a:lnTo>
                <a:lnTo>
                  <a:pt x="1038922" y="795208"/>
                </a:lnTo>
                <a:lnTo>
                  <a:pt x="0" y="79520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6" name="Group 6"/>
          <p:cNvGrpSpPr/>
          <p:nvPr/>
        </p:nvGrpSpPr>
        <p:grpSpPr>
          <a:xfrm>
            <a:off x="-9525" y="10097679"/>
            <a:ext cx="18288000" cy="454842"/>
            <a:chOff x="0" y="0"/>
            <a:chExt cx="4816593" cy="119794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4816592" cy="119794"/>
            </a:xfrm>
            <a:custGeom>
              <a:avLst/>
              <a:gdLst/>
              <a:ahLst/>
              <a:cxnLst/>
              <a:rect l="l" t="t" r="r" b="b"/>
              <a:pathLst>
                <a:path w="4816592" h="119794">
                  <a:moveTo>
                    <a:pt x="0" y="0"/>
                  </a:moveTo>
                  <a:lnTo>
                    <a:pt x="4816592" y="0"/>
                  </a:lnTo>
                  <a:lnTo>
                    <a:pt x="4816592" y="119794"/>
                  </a:lnTo>
                  <a:lnTo>
                    <a:pt x="0" y="119794"/>
                  </a:lnTo>
                  <a:close/>
                </a:path>
              </a:pathLst>
            </a:custGeom>
            <a:gradFill rotWithShape="1">
              <a:gsLst>
                <a:gs pos="0">
                  <a:srgbClr val="0C0C0E">
                    <a:alpha val="100000"/>
                  </a:srgbClr>
                </a:gs>
                <a:gs pos="50000">
                  <a:srgbClr val="003366">
                    <a:alpha val="100000"/>
                  </a:srgbClr>
                </a:gs>
                <a:gs pos="100000">
                  <a:srgbClr val="C9A84C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9525"/>
              <a:ext cx="4816593" cy="12931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40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-133350" y="275743"/>
            <a:ext cx="4683825" cy="752957"/>
            <a:chOff x="0" y="0"/>
            <a:chExt cx="1233600" cy="19831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233600" cy="198310"/>
            </a:xfrm>
            <a:custGeom>
              <a:avLst/>
              <a:gdLst/>
              <a:ahLst/>
              <a:cxnLst/>
              <a:rect l="l" t="t" r="r" b="b"/>
              <a:pathLst>
                <a:path w="1233600" h="198310">
                  <a:moveTo>
                    <a:pt x="0" y="0"/>
                  </a:moveTo>
                  <a:lnTo>
                    <a:pt x="1233600" y="0"/>
                  </a:lnTo>
                  <a:lnTo>
                    <a:pt x="1233600" y="198310"/>
                  </a:lnTo>
                  <a:lnTo>
                    <a:pt x="0" y="198310"/>
                  </a:lnTo>
                  <a:close/>
                </a:path>
              </a:pathLst>
            </a:custGeom>
            <a:solidFill>
              <a:srgbClr val="021A3D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0"/>
              <a:ext cx="1233600" cy="1983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960"/>
                </a:lnSpc>
              </a:pPr>
              <a:r>
                <a:rPr lang="en-US" sz="3300" b="1" dirty="0">
                  <a:solidFill>
                    <a:srgbClr val="FFFFFF"/>
                  </a:solidFill>
                  <a:latin typeface="Cormorant Garamond Semi-Bold"/>
                  <a:ea typeface="Cormorant Garamond Semi-Bold"/>
                  <a:cs typeface="Cormorant Garamond Semi-Bold"/>
                  <a:sym typeface="Cormorant Garamond Semi-Bold"/>
                </a:rPr>
                <a:t>FLOOR PLAN</a:t>
              </a:r>
            </a:p>
          </p:txBody>
        </p:sp>
      </p:grpSp>
      <p:sp>
        <p:nvSpPr>
          <p:cNvPr id="16" name="TextBox 4">
            <a:extLst>
              <a:ext uri="{FF2B5EF4-FFF2-40B4-BE49-F238E27FC236}">
                <a16:creationId xmlns:a16="http://schemas.microsoft.com/office/drawing/2014/main" id="{AF78AC17-90F8-D8D1-8111-7523A604B44D}"/>
              </a:ext>
            </a:extLst>
          </p:cNvPr>
          <p:cNvSpPr txBox="1"/>
          <p:nvPr/>
        </p:nvSpPr>
        <p:spPr>
          <a:xfrm>
            <a:off x="634123" y="1028700"/>
            <a:ext cx="12031199" cy="1285146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algn="l">
              <a:lnSpc>
                <a:spcPts val="7439"/>
              </a:lnSpc>
            </a:pPr>
            <a:r>
              <a:rPr lang="en-US" sz="6199" i="1" dirty="0">
                <a:solidFill>
                  <a:srgbClr val="003366"/>
                </a:solidFill>
                <a:latin typeface="Cormorant Garamond Light Italics"/>
                <a:ea typeface="Cormorant Garamond Light Italics"/>
                <a:cs typeface="Cormorant Garamond Light Italics"/>
                <a:sym typeface="Cormorant Garamond Light Italics"/>
              </a:rPr>
              <a:t>{{PROPERTY_NAME}}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670E4E2-2A95-E46C-3265-7EA10C0152FE}"/>
              </a:ext>
            </a:extLst>
          </p:cNvPr>
          <p:cNvSpPr/>
          <p:nvPr/>
        </p:nvSpPr>
        <p:spPr>
          <a:xfrm>
            <a:off x="679758" y="2350011"/>
            <a:ext cx="16770042" cy="681745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800" dirty="0">
                <a:solidFill>
                  <a:srgbClr val="C9A84C"/>
                </a:solidFill>
                <a:latin typeface="Century Gothic Paneuropean" panose="020B0604020202020204" charset="0"/>
                <a:cs typeface="Century Gothic Paneuropean" panose="020B0604020202020204" charset="0"/>
              </a:rPr>
              <a:t>{{FLOOR_PLAN}}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C3B1F2-1C63-D062-C9F3-BC2A9D33CF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>
            <a:extLst>
              <a:ext uri="{FF2B5EF4-FFF2-40B4-BE49-F238E27FC236}">
                <a16:creationId xmlns:a16="http://schemas.microsoft.com/office/drawing/2014/main" id="{36204210-A709-D480-356E-B43E62FAA2CC}"/>
              </a:ext>
            </a:extLst>
          </p:cNvPr>
          <p:cNvSpPr/>
          <p:nvPr/>
        </p:nvSpPr>
        <p:spPr>
          <a:xfrm>
            <a:off x="605584" y="1063947"/>
            <a:ext cx="12031200" cy="1285151"/>
          </a:xfrm>
          <a:custGeom>
            <a:avLst/>
            <a:gdLst/>
            <a:ahLst/>
            <a:cxnLst/>
            <a:rect l="l" t="t" r="r" b="b"/>
            <a:pathLst>
              <a:path w="16041601" h="1713534">
                <a:moveTo>
                  <a:pt x="0" y="0"/>
                </a:moveTo>
                <a:lnTo>
                  <a:pt x="16041601" y="0"/>
                </a:lnTo>
                <a:lnTo>
                  <a:pt x="16041601" y="1713534"/>
                </a:lnTo>
                <a:lnTo>
                  <a:pt x="0" y="1713534"/>
                </a:lnTo>
                <a:close/>
              </a:path>
            </a:pathLst>
          </a:custGeom>
          <a:blipFill>
            <a:blip r:embed="rId2">
              <a:alphaModFix amt="0"/>
            </a:blip>
            <a:stretch>
              <a:fillRect t="-132413" b="-13241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5CE20F87-B52A-25BE-B0CF-11F4F395DCCE}"/>
              </a:ext>
            </a:extLst>
          </p:cNvPr>
          <p:cNvSpPr/>
          <p:nvPr/>
        </p:nvSpPr>
        <p:spPr>
          <a:xfrm>
            <a:off x="16220378" y="911312"/>
            <a:ext cx="1038922" cy="795208"/>
          </a:xfrm>
          <a:custGeom>
            <a:avLst/>
            <a:gdLst/>
            <a:ahLst/>
            <a:cxnLst/>
            <a:rect l="l" t="t" r="r" b="b"/>
            <a:pathLst>
              <a:path w="1038922" h="795208">
                <a:moveTo>
                  <a:pt x="0" y="0"/>
                </a:moveTo>
                <a:lnTo>
                  <a:pt x="1038922" y="0"/>
                </a:lnTo>
                <a:lnTo>
                  <a:pt x="1038922" y="795208"/>
                </a:lnTo>
                <a:lnTo>
                  <a:pt x="0" y="79520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6" name="Group 6">
            <a:extLst>
              <a:ext uri="{FF2B5EF4-FFF2-40B4-BE49-F238E27FC236}">
                <a16:creationId xmlns:a16="http://schemas.microsoft.com/office/drawing/2014/main" id="{B047F10C-0AF6-F866-E278-8313F424D0AF}"/>
              </a:ext>
            </a:extLst>
          </p:cNvPr>
          <p:cNvGrpSpPr/>
          <p:nvPr/>
        </p:nvGrpSpPr>
        <p:grpSpPr>
          <a:xfrm>
            <a:off x="-9525" y="10097679"/>
            <a:ext cx="18288000" cy="454842"/>
            <a:chOff x="0" y="0"/>
            <a:chExt cx="4816593" cy="119794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E43A89E8-98B1-E07B-24B9-3A61133B2435}"/>
                </a:ext>
              </a:extLst>
            </p:cNvPr>
            <p:cNvSpPr/>
            <p:nvPr/>
          </p:nvSpPr>
          <p:spPr>
            <a:xfrm>
              <a:off x="0" y="0"/>
              <a:ext cx="4816592" cy="119794"/>
            </a:xfrm>
            <a:custGeom>
              <a:avLst/>
              <a:gdLst/>
              <a:ahLst/>
              <a:cxnLst/>
              <a:rect l="l" t="t" r="r" b="b"/>
              <a:pathLst>
                <a:path w="4816592" h="119794">
                  <a:moveTo>
                    <a:pt x="0" y="0"/>
                  </a:moveTo>
                  <a:lnTo>
                    <a:pt x="4816592" y="0"/>
                  </a:lnTo>
                  <a:lnTo>
                    <a:pt x="4816592" y="119794"/>
                  </a:lnTo>
                  <a:lnTo>
                    <a:pt x="0" y="119794"/>
                  </a:lnTo>
                  <a:close/>
                </a:path>
              </a:pathLst>
            </a:custGeom>
            <a:gradFill rotWithShape="1">
              <a:gsLst>
                <a:gs pos="0">
                  <a:srgbClr val="0C0C0E">
                    <a:alpha val="100000"/>
                  </a:srgbClr>
                </a:gs>
                <a:gs pos="50000">
                  <a:srgbClr val="003366">
                    <a:alpha val="100000"/>
                  </a:srgbClr>
                </a:gs>
                <a:gs pos="100000">
                  <a:srgbClr val="C9A84C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0C784455-51C6-7CE9-D3CC-D957EA0E6711}"/>
                </a:ext>
              </a:extLst>
            </p:cNvPr>
            <p:cNvSpPr txBox="1"/>
            <p:nvPr/>
          </p:nvSpPr>
          <p:spPr>
            <a:xfrm>
              <a:off x="0" y="-9525"/>
              <a:ext cx="4816593" cy="12931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40"/>
                </a:lnSpc>
              </a:pPr>
              <a:endParaRPr/>
            </a:p>
          </p:txBody>
        </p:sp>
      </p:grpSp>
      <p:grpSp>
        <p:nvGrpSpPr>
          <p:cNvPr id="9" name="Group 9">
            <a:extLst>
              <a:ext uri="{FF2B5EF4-FFF2-40B4-BE49-F238E27FC236}">
                <a16:creationId xmlns:a16="http://schemas.microsoft.com/office/drawing/2014/main" id="{532CC6F6-1D8E-CC39-EDEE-F0417DBE3D42}"/>
              </a:ext>
            </a:extLst>
          </p:cNvPr>
          <p:cNvGrpSpPr/>
          <p:nvPr/>
        </p:nvGrpSpPr>
        <p:grpSpPr>
          <a:xfrm>
            <a:off x="-133350" y="275743"/>
            <a:ext cx="4683825" cy="752957"/>
            <a:chOff x="0" y="0"/>
            <a:chExt cx="1233600" cy="198310"/>
          </a:xfrm>
        </p:grpSpPr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889847A1-F542-9587-C555-585941CEC348}"/>
                </a:ext>
              </a:extLst>
            </p:cNvPr>
            <p:cNvSpPr/>
            <p:nvPr/>
          </p:nvSpPr>
          <p:spPr>
            <a:xfrm>
              <a:off x="0" y="0"/>
              <a:ext cx="1233600" cy="198310"/>
            </a:xfrm>
            <a:custGeom>
              <a:avLst/>
              <a:gdLst/>
              <a:ahLst/>
              <a:cxnLst/>
              <a:rect l="l" t="t" r="r" b="b"/>
              <a:pathLst>
                <a:path w="1233600" h="198310">
                  <a:moveTo>
                    <a:pt x="0" y="0"/>
                  </a:moveTo>
                  <a:lnTo>
                    <a:pt x="1233600" y="0"/>
                  </a:lnTo>
                  <a:lnTo>
                    <a:pt x="1233600" y="198310"/>
                  </a:lnTo>
                  <a:lnTo>
                    <a:pt x="0" y="198310"/>
                  </a:lnTo>
                  <a:close/>
                </a:path>
              </a:pathLst>
            </a:custGeom>
            <a:solidFill>
              <a:srgbClr val="021A3D"/>
            </a:soli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1" name="TextBox 11">
              <a:extLst>
                <a:ext uri="{FF2B5EF4-FFF2-40B4-BE49-F238E27FC236}">
                  <a16:creationId xmlns:a16="http://schemas.microsoft.com/office/drawing/2014/main" id="{1C2558F5-EF1D-E948-D7AE-59F268999522}"/>
                </a:ext>
              </a:extLst>
            </p:cNvPr>
            <p:cNvSpPr txBox="1"/>
            <p:nvPr/>
          </p:nvSpPr>
          <p:spPr>
            <a:xfrm>
              <a:off x="0" y="0"/>
              <a:ext cx="1233600" cy="1983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960"/>
                </a:lnSpc>
              </a:pPr>
              <a:r>
                <a:rPr lang="en-US" sz="3300" b="1" dirty="0">
                  <a:solidFill>
                    <a:srgbClr val="FFFFFF"/>
                  </a:solidFill>
                  <a:latin typeface="Cormorant Garamond Semi-Bold"/>
                  <a:ea typeface="Cormorant Garamond Semi-Bold"/>
                  <a:cs typeface="Cormorant Garamond Semi-Bold"/>
                  <a:sym typeface="Cormorant Garamond Semi-Bold"/>
                </a:rPr>
                <a:t>LOT PLAN</a:t>
              </a:r>
            </a:p>
          </p:txBody>
        </p:sp>
      </p:grpSp>
      <p:sp>
        <p:nvSpPr>
          <p:cNvPr id="16" name="TextBox 4">
            <a:extLst>
              <a:ext uri="{FF2B5EF4-FFF2-40B4-BE49-F238E27FC236}">
                <a16:creationId xmlns:a16="http://schemas.microsoft.com/office/drawing/2014/main" id="{D18508B3-195E-2E68-5B90-05C3A720860F}"/>
              </a:ext>
            </a:extLst>
          </p:cNvPr>
          <p:cNvSpPr txBox="1"/>
          <p:nvPr/>
        </p:nvSpPr>
        <p:spPr>
          <a:xfrm>
            <a:off x="634123" y="1028700"/>
            <a:ext cx="12031199" cy="1285146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algn="l">
              <a:lnSpc>
                <a:spcPts val="7439"/>
              </a:lnSpc>
            </a:pPr>
            <a:r>
              <a:rPr lang="en-US" sz="6199" i="1" dirty="0">
                <a:solidFill>
                  <a:srgbClr val="003366"/>
                </a:solidFill>
                <a:latin typeface="Cormorant Garamond Light Italics"/>
                <a:ea typeface="Cormorant Garamond Light Italics"/>
                <a:cs typeface="Cormorant Garamond Light Italics"/>
                <a:sym typeface="Cormorant Garamond Light Italics"/>
              </a:rPr>
              <a:t>{{PROPERTY_NAME}}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CC04BF8-7769-8D6C-D582-45A568242BBD}"/>
              </a:ext>
            </a:extLst>
          </p:cNvPr>
          <p:cNvSpPr/>
          <p:nvPr/>
        </p:nvSpPr>
        <p:spPr>
          <a:xfrm>
            <a:off x="679758" y="2350011"/>
            <a:ext cx="16770042" cy="681745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800" dirty="0">
                <a:solidFill>
                  <a:srgbClr val="C9A84C"/>
                </a:solidFill>
                <a:latin typeface="Century Gothic Paneuropean" panose="020B0604020202020204" charset="0"/>
                <a:cs typeface="Century Gothic Paneuropean" panose="020B0604020202020204" charset="0"/>
              </a:rPr>
              <a:t>{{LOT_PLAN}}</a:t>
            </a:r>
          </a:p>
        </p:txBody>
      </p:sp>
    </p:spTree>
    <p:extLst>
      <p:ext uri="{BB962C8B-B14F-4D97-AF65-F5344CB8AC3E}">
        <p14:creationId xmlns:p14="http://schemas.microsoft.com/office/powerpoint/2010/main" val="26275783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1A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32521" y="47776"/>
            <a:ext cx="5329197" cy="5331810"/>
          </a:xfrm>
          <a:custGeom>
            <a:avLst/>
            <a:gdLst/>
            <a:ahLst/>
            <a:cxnLst/>
            <a:rect l="l" t="t" r="r" b="b"/>
            <a:pathLst>
              <a:path w="5329197" h="5331810">
                <a:moveTo>
                  <a:pt x="0" y="0"/>
                </a:moveTo>
                <a:lnTo>
                  <a:pt x="5329197" y="0"/>
                </a:lnTo>
                <a:lnTo>
                  <a:pt x="5329197" y="5331810"/>
                </a:lnTo>
                <a:lnTo>
                  <a:pt x="0" y="533181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9999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r="-264" b="-215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5461718" y="66708"/>
            <a:ext cx="5329197" cy="5331810"/>
          </a:xfrm>
          <a:custGeom>
            <a:avLst/>
            <a:gdLst/>
            <a:ahLst/>
            <a:cxnLst/>
            <a:rect l="l" t="t" r="r" b="b"/>
            <a:pathLst>
              <a:path w="5329197" h="5331810">
                <a:moveTo>
                  <a:pt x="0" y="0"/>
                </a:moveTo>
                <a:lnTo>
                  <a:pt x="5329196" y="0"/>
                </a:lnTo>
                <a:lnTo>
                  <a:pt x="5329196" y="5331810"/>
                </a:lnTo>
                <a:lnTo>
                  <a:pt x="0" y="533181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9999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r="-264" b="-215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10658393" y="66708"/>
            <a:ext cx="5329197" cy="5331810"/>
          </a:xfrm>
          <a:custGeom>
            <a:avLst/>
            <a:gdLst/>
            <a:ahLst/>
            <a:cxnLst/>
            <a:rect l="l" t="t" r="r" b="b"/>
            <a:pathLst>
              <a:path w="5329197" h="5331810">
                <a:moveTo>
                  <a:pt x="0" y="0"/>
                </a:moveTo>
                <a:lnTo>
                  <a:pt x="5329197" y="0"/>
                </a:lnTo>
                <a:lnTo>
                  <a:pt x="5329197" y="5331810"/>
                </a:lnTo>
                <a:lnTo>
                  <a:pt x="0" y="533181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9999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r="-264" b="-215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15987590" y="66708"/>
            <a:ext cx="5329197" cy="5331810"/>
          </a:xfrm>
          <a:custGeom>
            <a:avLst/>
            <a:gdLst/>
            <a:ahLst/>
            <a:cxnLst/>
            <a:rect l="l" t="t" r="r" b="b"/>
            <a:pathLst>
              <a:path w="5329197" h="5331810">
                <a:moveTo>
                  <a:pt x="0" y="0"/>
                </a:moveTo>
                <a:lnTo>
                  <a:pt x="5329196" y="0"/>
                </a:lnTo>
                <a:lnTo>
                  <a:pt x="5329196" y="5331810"/>
                </a:lnTo>
                <a:lnTo>
                  <a:pt x="0" y="533181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9999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r="-264" b="-215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0" y="5379586"/>
            <a:ext cx="5329197" cy="5331810"/>
          </a:xfrm>
          <a:custGeom>
            <a:avLst/>
            <a:gdLst/>
            <a:ahLst/>
            <a:cxnLst/>
            <a:rect l="l" t="t" r="r" b="b"/>
            <a:pathLst>
              <a:path w="5329197" h="5331810">
                <a:moveTo>
                  <a:pt x="0" y="0"/>
                </a:moveTo>
                <a:lnTo>
                  <a:pt x="5329197" y="0"/>
                </a:lnTo>
                <a:lnTo>
                  <a:pt x="5329197" y="5331811"/>
                </a:lnTo>
                <a:lnTo>
                  <a:pt x="0" y="533181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9999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r="-264" b="-215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>
            <a:off x="5329197" y="5398518"/>
            <a:ext cx="5329197" cy="5331810"/>
          </a:xfrm>
          <a:custGeom>
            <a:avLst/>
            <a:gdLst/>
            <a:ahLst/>
            <a:cxnLst/>
            <a:rect l="l" t="t" r="r" b="b"/>
            <a:pathLst>
              <a:path w="5329197" h="5331810">
                <a:moveTo>
                  <a:pt x="0" y="0"/>
                </a:moveTo>
                <a:lnTo>
                  <a:pt x="5329196" y="0"/>
                </a:lnTo>
                <a:lnTo>
                  <a:pt x="5329196" y="5331810"/>
                </a:lnTo>
                <a:lnTo>
                  <a:pt x="0" y="533181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9999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r="-264" b="-215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8"/>
          <p:cNvSpPr/>
          <p:nvPr/>
        </p:nvSpPr>
        <p:spPr>
          <a:xfrm>
            <a:off x="10658393" y="5398518"/>
            <a:ext cx="5329197" cy="5331810"/>
          </a:xfrm>
          <a:custGeom>
            <a:avLst/>
            <a:gdLst/>
            <a:ahLst/>
            <a:cxnLst/>
            <a:rect l="l" t="t" r="r" b="b"/>
            <a:pathLst>
              <a:path w="5329197" h="5331810">
                <a:moveTo>
                  <a:pt x="0" y="0"/>
                </a:moveTo>
                <a:lnTo>
                  <a:pt x="5329197" y="0"/>
                </a:lnTo>
                <a:lnTo>
                  <a:pt x="5329197" y="5331810"/>
                </a:lnTo>
                <a:lnTo>
                  <a:pt x="0" y="533181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9999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r="-264" b="-215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Freeform 9"/>
          <p:cNvSpPr/>
          <p:nvPr/>
        </p:nvSpPr>
        <p:spPr>
          <a:xfrm>
            <a:off x="15987590" y="5398518"/>
            <a:ext cx="5329197" cy="5331810"/>
          </a:xfrm>
          <a:custGeom>
            <a:avLst/>
            <a:gdLst/>
            <a:ahLst/>
            <a:cxnLst/>
            <a:rect l="l" t="t" r="r" b="b"/>
            <a:pathLst>
              <a:path w="5329197" h="5331810">
                <a:moveTo>
                  <a:pt x="0" y="0"/>
                </a:moveTo>
                <a:lnTo>
                  <a:pt x="5329196" y="0"/>
                </a:lnTo>
                <a:lnTo>
                  <a:pt x="5329196" y="5331810"/>
                </a:lnTo>
                <a:lnTo>
                  <a:pt x="0" y="533181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9999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r="-264" b="-215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Freeform 10"/>
          <p:cNvSpPr/>
          <p:nvPr/>
        </p:nvSpPr>
        <p:spPr>
          <a:xfrm>
            <a:off x="16407641" y="8748777"/>
            <a:ext cx="1162733" cy="889975"/>
          </a:xfrm>
          <a:custGeom>
            <a:avLst/>
            <a:gdLst/>
            <a:ahLst/>
            <a:cxnLst/>
            <a:rect l="l" t="t" r="r" b="b"/>
            <a:pathLst>
              <a:path w="1162733" h="889975">
                <a:moveTo>
                  <a:pt x="0" y="0"/>
                </a:moveTo>
                <a:lnTo>
                  <a:pt x="1162733" y="0"/>
                </a:lnTo>
                <a:lnTo>
                  <a:pt x="1162733" y="889975"/>
                </a:lnTo>
                <a:lnTo>
                  <a:pt x="0" y="88997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1" name="Group 11"/>
          <p:cNvGrpSpPr/>
          <p:nvPr/>
        </p:nvGrpSpPr>
        <p:grpSpPr>
          <a:xfrm>
            <a:off x="-5738841" y="-4080154"/>
            <a:ext cx="21726431" cy="16294823"/>
            <a:chOff x="0" y="0"/>
            <a:chExt cx="812800" cy="6096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609600"/>
            </a:xfrm>
            <a:custGeom>
              <a:avLst/>
              <a:gdLst/>
              <a:ahLst/>
              <a:cxnLst/>
              <a:rect l="l" t="t" r="r" b="b"/>
              <a:pathLst>
                <a:path w="812800" h="609600">
                  <a:moveTo>
                    <a:pt x="203200" y="0"/>
                  </a:moveTo>
                  <a:lnTo>
                    <a:pt x="812800" y="0"/>
                  </a:lnTo>
                  <a:lnTo>
                    <a:pt x="609600" y="609600"/>
                  </a:lnTo>
                  <a:lnTo>
                    <a:pt x="0" y="609600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1600" y="-9525"/>
              <a:ext cx="609600" cy="6191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40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173167" y="449140"/>
            <a:ext cx="9832304" cy="1166889"/>
            <a:chOff x="0" y="0"/>
            <a:chExt cx="13109739" cy="1555852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3109741" cy="1555858"/>
            </a:xfrm>
            <a:custGeom>
              <a:avLst/>
              <a:gdLst/>
              <a:ahLst/>
              <a:cxnLst/>
              <a:rect l="l" t="t" r="r" b="b"/>
              <a:pathLst>
                <a:path w="13109741" h="1555858">
                  <a:moveTo>
                    <a:pt x="0" y="0"/>
                  </a:moveTo>
                  <a:lnTo>
                    <a:pt x="13109741" y="0"/>
                  </a:lnTo>
                  <a:lnTo>
                    <a:pt x="13109741" y="1555858"/>
                  </a:lnTo>
                  <a:lnTo>
                    <a:pt x="0" y="155585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45832" r="-22363" b="-155966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0"/>
              <a:ext cx="13109739" cy="155585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200"/>
                </a:lnSpc>
              </a:pPr>
              <a:r>
                <a:rPr lang="en-US" sz="3500">
                  <a:solidFill>
                    <a:srgbClr val="272828"/>
                  </a:solidFill>
                  <a:latin typeface="Cormorant Garamond"/>
                  <a:ea typeface="Cormorant Garamond"/>
                  <a:cs typeface="Cormorant Garamond"/>
                  <a:sym typeface="Cormorant Garamond"/>
                </a:rPr>
                <a:t>For more information and to schedule a viewing contact us at:</a:t>
              </a:r>
            </a:p>
          </p:txBody>
        </p:sp>
      </p:grpSp>
      <p:sp>
        <p:nvSpPr>
          <p:cNvPr id="17" name="AutoShape 17"/>
          <p:cNvSpPr/>
          <p:nvPr/>
        </p:nvSpPr>
        <p:spPr>
          <a:xfrm>
            <a:off x="576981" y="0"/>
            <a:ext cx="0" cy="5143500"/>
          </a:xfrm>
          <a:prstGeom prst="line">
            <a:avLst/>
          </a:prstGeom>
          <a:ln w="95250" cap="flat">
            <a:solidFill>
              <a:srgbClr val="C9A84C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8" name="Freeform 18"/>
          <p:cNvSpPr/>
          <p:nvPr/>
        </p:nvSpPr>
        <p:spPr>
          <a:xfrm>
            <a:off x="1525830" y="1871701"/>
            <a:ext cx="1484125" cy="1527776"/>
          </a:xfrm>
          <a:custGeom>
            <a:avLst/>
            <a:gdLst/>
            <a:ahLst/>
            <a:cxnLst/>
            <a:rect l="l" t="t" r="r" b="b"/>
            <a:pathLst>
              <a:path w="1484125" h="1527776">
                <a:moveTo>
                  <a:pt x="0" y="0"/>
                </a:moveTo>
                <a:lnTo>
                  <a:pt x="1484125" y="0"/>
                </a:lnTo>
                <a:lnTo>
                  <a:pt x="1484125" y="1527776"/>
                </a:lnTo>
                <a:lnTo>
                  <a:pt x="0" y="152777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1" name="TextBox 21"/>
          <p:cNvSpPr txBox="1"/>
          <p:nvPr/>
        </p:nvSpPr>
        <p:spPr>
          <a:xfrm>
            <a:off x="3159158" y="1969176"/>
            <a:ext cx="2794640" cy="3077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400"/>
              </a:lnSpc>
              <a:spcBef>
                <a:spcPct val="0"/>
              </a:spcBef>
            </a:pPr>
            <a:r>
              <a:rPr lang="en-US" sz="2000" b="1" dirty="0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MR. SONDI TUAZON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3377560" y="2294730"/>
            <a:ext cx="5951087" cy="2666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  <a:spcBef>
                <a:spcPct val="0"/>
              </a:spcBef>
            </a:pPr>
            <a:r>
              <a:rPr lang="en-US" sz="1800" b="1" dirty="0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Sr. Head – Retail and Industrial Markets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3377560" y="2599491"/>
            <a:ext cx="5951087" cy="7999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dirty="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(+63) 917 843 6128</a:t>
            </a:r>
          </a:p>
          <a:p>
            <a:pPr algn="l">
              <a:lnSpc>
                <a:spcPts val="2160"/>
              </a:lnSpc>
            </a:pPr>
            <a:r>
              <a:rPr lang="en-US" sz="1800" dirty="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sondi.tuazon@primephilippines.com</a:t>
            </a:r>
          </a:p>
          <a:p>
            <a:pPr algn="l">
              <a:lnSpc>
                <a:spcPts val="2160"/>
              </a:lnSpc>
              <a:spcBef>
                <a:spcPct val="0"/>
              </a:spcBef>
            </a:pPr>
            <a:r>
              <a:rPr lang="en-US" sz="1800" dirty="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sondi.primecorp@gmail.com 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173167" y="7697488"/>
            <a:ext cx="8299947" cy="7237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lang="en-US" sz="1600" b="1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Manila</a:t>
            </a:r>
          </a:p>
          <a:p>
            <a:pPr algn="l">
              <a:lnSpc>
                <a:spcPts val="1920"/>
              </a:lnSpc>
              <a:spcBef>
                <a:spcPct val="0"/>
              </a:spcBef>
            </a:pPr>
            <a:r>
              <a:rPr lang="en-US" sz="160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32/F SM Megatower, EDSA, corner Doña Julia Vargas Ave, Mandaluyong City Metro Manila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173167" y="7373969"/>
            <a:ext cx="5951087" cy="2666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  <a:spcBef>
                <a:spcPct val="0"/>
              </a:spcBef>
            </a:pPr>
            <a:r>
              <a:rPr lang="en-US" sz="1800" b="1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OFFICE LOCATIONS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173167" y="8478424"/>
            <a:ext cx="8299947" cy="4856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lang="en-US" sz="1600" b="1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Cebu</a:t>
            </a:r>
          </a:p>
          <a:p>
            <a:pPr algn="l">
              <a:lnSpc>
                <a:spcPts val="1920"/>
              </a:lnSpc>
              <a:spcBef>
                <a:spcPct val="0"/>
              </a:spcBef>
            </a:pPr>
            <a:r>
              <a:rPr lang="en-US" sz="160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Fifth Floor, Park Centrale, Cebu I.T. Park Jose Maria del Mar Street, Cebu City 6000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173167" y="9021273"/>
            <a:ext cx="8299947" cy="7237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lang="en-US" sz="1600" b="1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Davao</a:t>
            </a:r>
          </a:p>
          <a:p>
            <a:pPr algn="l">
              <a:lnSpc>
                <a:spcPts val="1920"/>
              </a:lnSpc>
              <a:spcBef>
                <a:spcPct val="0"/>
              </a:spcBef>
            </a:pPr>
            <a:r>
              <a:rPr lang="en-US" sz="160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Fourth Floor, Topaz Tower,Damosa I.T. Park, J.P. Laurel Avenue, Lanang, Davao City 8000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1A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33350" y="0"/>
            <a:ext cx="5362534" cy="5365164"/>
          </a:xfrm>
          <a:custGeom>
            <a:avLst/>
            <a:gdLst/>
            <a:ahLst/>
            <a:cxnLst/>
            <a:rect l="l" t="t" r="r" b="b"/>
            <a:pathLst>
              <a:path w="5362534" h="5365164">
                <a:moveTo>
                  <a:pt x="0" y="0"/>
                </a:moveTo>
                <a:lnTo>
                  <a:pt x="5362534" y="0"/>
                </a:lnTo>
                <a:lnTo>
                  <a:pt x="5362534" y="5365164"/>
                </a:lnTo>
                <a:lnTo>
                  <a:pt x="0" y="536516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9999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r="-264" b="-215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5229184" y="0"/>
            <a:ext cx="5362534" cy="5365164"/>
          </a:xfrm>
          <a:custGeom>
            <a:avLst/>
            <a:gdLst/>
            <a:ahLst/>
            <a:cxnLst/>
            <a:rect l="l" t="t" r="r" b="b"/>
            <a:pathLst>
              <a:path w="5362534" h="5365164">
                <a:moveTo>
                  <a:pt x="0" y="0"/>
                </a:moveTo>
                <a:lnTo>
                  <a:pt x="5362534" y="0"/>
                </a:lnTo>
                <a:lnTo>
                  <a:pt x="5362534" y="5365164"/>
                </a:lnTo>
                <a:lnTo>
                  <a:pt x="0" y="536516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9999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r="-264" b="-215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10591718" y="0"/>
            <a:ext cx="5362534" cy="5365164"/>
          </a:xfrm>
          <a:custGeom>
            <a:avLst/>
            <a:gdLst/>
            <a:ahLst/>
            <a:cxnLst/>
            <a:rect l="l" t="t" r="r" b="b"/>
            <a:pathLst>
              <a:path w="5362534" h="5365164">
                <a:moveTo>
                  <a:pt x="0" y="0"/>
                </a:moveTo>
                <a:lnTo>
                  <a:pt x="5362534" y="0"/>
                </a:lnTo>
                <a:lnTo>
                  <a:pt x="5362534" y="5365164"/>
                </a:lnTo>
                <a:lnTo>
                  <a:pt x="0" y="536516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9999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r="-264" b="-215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15954252" y="0"/>
            <a:ext cx="5362534" cy="5365164"/>
          </a:xfrm>
          <a:custGeom>
            <a:avLst/>
            <a:gdLst/>
            <a:ahLst/>
            <a:cxnLst/>
            <a:rect l="l" t="t" r="r" b="b"/>
            <a:pathLst>
              <a:path w="5362534" h="5365164">
                <a:moveTo>
                  <a:pt x="0" y="0"/>
                </a:moveTo>
                <a:lnTo>
                  <a:pt x="5362534" y="0"/>
                </a:lnTo>
                <a:lnTo>
                  <a:pt x="5362534" y="5365164"/>
                </a:lnTo>
                <a:lnTo>
                  <a:pt x="0" y="536516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9999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r="-264" b="-215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-133350" y="5365164"/>
            <a:ext cx="5362534" cy="5365164"/>
          </a:xfrm>
          <a:custGeom>
            <a:avLst/>
            <a:gdLst/>
            <a:ahLst/>
            <a:cxnLst/>
            <a:rect l="l" t="t" r="r" b="b"/>
            <a:pathLst>
              <a:path w="5362534" h="5365164">
                <a:moveTo>
                  <a:pt x="0" y="0"/>
                </a:moveTo>
                <a:lnTo>
                  <a:pt x="5362534" y="0"/>
                </a:lnTo>
                <a:lnTo>
                  <a:pt x="5362534" y="5365164"/>
                </a:lnTo>
                <a:lnTo>
                  <a:pt x="0" y="536516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9999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r="-264" b="-215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>
            <a:off x="5229184" y="5365164"/>
            <a:ext cx="5362534" cy="5365164"/>
          </a:xfrm>
          <a:custGeom>
            <a:avLst/>
            <a:gdLst/>
            <a:ahLst/>
            <a:cxnLst/>
            <a:rect l="l" t="t" r="r" b="b"/>
            <a:pathLst>
              <a:path w="5362534" h="5365164">
                <a:moveTo>
                  <a:pt x="0" y="0"/>
                </a:moveTo>
                <a:lnTo>
                  <a:pt x="5362534" y="0"/>
                </a:lnTo>
                <a:lnTo>
                  <a:pt x="5362534" y="5365164"/>
                </a:lnTo>
                <a:lnTo>
                  <a:pt x="0" y="536516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9999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r="-264" b="-215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8"/>
          <p:cNvSpPr/>
          <p:nvPr/>
        </p:nvSpPr>
        <p:spPr>
          <a:xfrm>
            <a:off x="10591718" y="5365164"/>
            <a:ext cx="5362534" cy="5365164"/>
          </a:xfrm>
          <a:custGeom>
            <a:avLst/>
            <a:gdLst/>
            <a:ahLst/>
            <a:cxnLst/>
            <a:rect l="l" t="t" r="r" b="b"/>
            <a:pathLst>
              <a:path w="5362534" h="5365164">
                <a:moveTo>
                  <a:pt x="0" y="0"/>
                </a:moveTo>
                <a:lnTo>
                  <a:pt x="5362534" y="0"/>
                </a:lnTo>
                <a:lnTo>
                  <a:pt x="5362534" y="5365164"/>
                </a:lnTo>
                <a:lnTo>
                  <a:pt x="0" y="536516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9999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r="-264" b="-215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Freeform 9"/>
          <p:cNvSpPr/>
          <p:nvPr/>
        </p:nvSpPr>
        <p:spPr>
          <a:xfrm>
            <a:off x="15954252" y="5365164"/>
            <a:ext cx="5362534" cy="5365164"/>
          </a:xfrm>
          <a:custGeom>
            <a:avLst/>
            <a:gdLst/>
            <a:ahLst/>
            <a:cxnLst/>
            <a:rect l="l" t="t" r="r" b="b"/>
            <a:pathLst>
              <a:path w="5362534" h="5365164">
                <a:moveTo>
                  <a:pt x="0" y="0"/>
                </a:moveTo>
                <a:lnTo>
                  <a:pt x="5362534" y="0"/>
                </a:lnTo>
                <a:lnTo>
                  <a:pt x="5362534" y="5365164"/>
                </a:lnTo>
                <a:lnTo>
                  <a:pt x="0" y="536516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9999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r="-264" b="-215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0" name="Group 10"/>
          <p:cNvGrpSpPr/>
          <p:nvPr/>
        </p:nvGrpSpPr>
        <p:grpSpPr>
          <a:xfrm>
            <a:off x="7688065" y="3176222"/>
            <a:ext cx="2726801" cy="2087707"/>
            <a:chOff x="0" y="0"/>
            <a:chExt cx="2438400" cy="18669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438400" cy="1866900"/>
            </a:xfrm>
            <a:custGeom>
              <a:avLst/>
              <a:gdLst/>
              <a:ahLst/>
              <a:cxnLst/>
              <a:rect l="l" t="t" r="r" b="b"/>
              <a:pathLst>
                <a:path w="2438400" h="1866900">
                  <a:moveTo>
                    <a:pt x="0" y="0"/>
                  </a:moveTo>
                  <a:lnTo>
                    <a:pt x="2438400" y="0"/>
                  </a:lnTo>
                  <a:lnTo>
                    <a:pt x="2438400" y="1866900"/>
                  </a:lnTo>
                  <a:lnTo>
                    <a:pt x="0" y="18669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6075129" y="2293838"/>
            <a:ext cx="6137742" cy="3050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10"/>
              </a:lnSpc>
            </a:pPr>
            <a:r>
              <a:rPr lang="en-US" sz="1792" spc="717">
                <a:solidFill>
                  <a:srgbClr val="FFFCFD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PRIME PHILIPPINES • EST. 2013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6888229" y="9012054"/>
            <a:ext cx="4060687" cy="2462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92"/>
              </a:lnSpc>
            </a:pPr>
            <a:r>
              <a:rPr lang="en-US" sz="1494" spc="597">
                <a:solidFill>
                  <a:srgbClr val="FFFCFD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MANILA • CEBU • DAVAO 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2221684" y="5558584"/>
            <a:ext cx="13844632" cy="12181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030"/>
              </a:lnSpc>
            </a:pPr>
            <a:r>
              <a:rPr lang="en-US" sz="7164" spc="257">
                <a:solidFill>
                  <a:srgbClr val="FFFCFB"/>
                </a:solidFill>
                <a:latin typeface="Cormorant Garamond Light"/>
                <a:ea typeface="Cormorant Garamond Light"/>
                <a:cs typeface="Cormorant Garamond Light"/>
                <a:sym typeface="Cormorant Garamond Light"/>
              </a:rPr>
              <a:t>Real Estate. </a:t>
            </a:r>
            <a:r>
              <a:rPr lang="en-US" sz="7164" i="1" spc="257">
                <a:solidFill>
                  <a:srgbClr val="C9A84C"/>
                </a:solidFill>
                <a:latin typeface="Cormorant Garamond Light Italics"/>
                <a:ea typeface="Cormorant Garamond Light Italics"/>
                <a:cs typeface="Cormorant Garamond Light Italics"/>
                <a:sym typeface="Cormorant Garamond Light Italics"/>
              </a:rPr>
              <a:t>We Advise. You Advance.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102</TotalTime>
  <Words>499</Words>
  <Application>Microsoft Office PowerPoint</Application>
  <PresentationFormat>Custom</PresentationFormat>
  <Paragraphs>87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8" baseType="lpstr">
      <vt:lpstr>DM Sans Bold Italics</vt:lpstr>
      <vt:lpstr>Cormorant Garamond Medium</vt:lpstr>
      <vt:lpstr>Montserrat</vt:lpstr>
      <vt:lpstr>Arial</vt:lpstr>
      <vt:lpstr>Montserrat Medium</vt:lpstr>
      <vt:lpstr>Cormorant Garamond Light Italics</vt:lpstr>
      <vt:lpstr>Cormorant Garamond Semi-Bold</vt:lpstr>
      <vt:lpstr>Cormorant Garamond Light</vt:lpstr>
      <vt:lpstr>Cormorant Garamond Italics</vt:lpstr>
      <vt:lpstr>Century Gothic Paneuropean Bold</vt:lpstr>
      <vt:lpstr>Calibri</vt:lpstr>
      <vt:lpstr>Century Gothic Paneuropean</vt:lpstr>
      <vt:lpstr>Montserrat Light</vt:lpstr>
      <vt:lpstr>Montserrat Bold</vt:lpstr>
      <vt:lpstr>Cormorant Garamond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HEMADY PROPERTY</dc:title>
  <cp:lastModifiedBy>Dave Policarpio</cp:lastModifiedBy>
  <cp:revision>5</cp:revision>
  <dcterms:created xsi:type="dcterms:W3CDTF">2006-08-16T00:00:00Z</dcterms:created>
  <dcterms:modified xsi:type="dcterms:W3CDTF">2026-06-23T08:50:13Z</dcterms:modified>
  <dc:identifier>DAHLe4sV1zc</dc:identifier>
</cp:coreProperties>
</file>