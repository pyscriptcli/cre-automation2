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80700"/>
  <p:notesSz cx="6858000" cy="9144000"/>
  <p:embeddedFontLst>
    <p:embeddedFont>
      <p:font typeface="Cormorant Garamond" panose="020B0604020202020204" charset="0"/>
      <p:regular r:id="rId3"/>
    </p:embeddedFont>
    <p:embeddedFont>
      <p:font typeface="Cormorant Garamond Bold" panose="020B0604020202020204" charset="0"/>
      <p:regular r:id="rId4"/>
    </p:embeddedFont>
    <p:embeddedFont>
      <p:font typeface="Cormorant Garamond Bold Italics" panose="020B0604020202020204" charset="0"/>
      <p:regular r:id="rId5"/>
    </p:embeddedFont>
    <p:embeddedFont>
      <p:font typeface="Montserrat" panose="00000500000000000000" pitchFamily="2" charset="0"/>
      <p:regular r:id="rId6"/>
      <p:bold r:id="rId7"/>
      <p:italic r:id="rId8"/>
      <p:boldItalic r:id="rId9"/>
    </p:embeddedFont>
    <p:embeddedFont>
      <p:font typeface="Montserrat Bold" panose="00000800000000000000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A8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4" d="100"/>
          <a:sy n="64" d="100"/>
        </p:scale>
        <p:origin x="328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549013" y="1549013"/>
            <a:ext cx="10660905" cy="7562880"/>
            <a:chOff x="0" y="0"/>
            <a:chExt cx="20340764" cy="144298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40765" cy="14429803"/>
            </a:xfrm>
            <a:custGeom>
              <a:avLst/>
              <a:gdLst/>
              <a:ahLst/>
              <a:cxnLst/>
              <a:rect l="l" t="t" r="r" b="b"/>
              <a:pathLst>
                <a:path w="20340765" h="14429803">
                  <a:moveTo>
                    <a:pt x="0" y="0"/>
                  </a:moveTo>
                  <a:lnTo>
                    <a:pt x="20340765" y="0"/>
                  </a:lnTo>
                  <a:lnTo>
                    <a:pt x="20340765" y="14429803"/>
                  </a:lnTo>
                  <a:lnTo>
                    <a:pt x="0" y="144298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587" r="-1358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476857" y="661637"/>
            <a:ext cx="528956" cy="403014"/>
            <a:chOff x="0" y="0"/>
            <a:chExt cx="1066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800" cy="812800"/>
            </a:xfrm>
            <a:custGeom>
              <a:avLst/>
              <a:gdLst/>
              <a:ahLst/>
              <a:cxnLst/>
              <a:rect l="l" t="t" r="r" b="b"/>
              <a:pathLst>
                <a:path w="1066800" h="812800">
                  <a:moveTo>
                    <a:pt x="0" y="0"/>
                  </a:moveTo>
                  <a:lnTo>
                    <a:pt x="1066800" y="0"/>
                  </a:lnTo>
                  <a:lnTo>
                    <a:pt x="1066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AutoShape 6"/>
          <p:cNvSpPr/>
          <p:nvPr/>
        </p:nvSpPr>
        <p:spPr>
          <a:xfrm>
            <a:off x="539850" y="1268712"/>
            <a:ext cx="6483181" cy="0"/>
          </a:xfrm>
          <a:prstGeom prst="line">
            <a:avLst/>
          </a:prstGeom>
          <a:ln w="190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-538511" y="10612888"/>
            <a:ext cx="8101391" cy="75872"/>
            <a:chOff x="0" y="0"/>
            <a:chExt cx="16272929" cy="152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-538511" y="10574953"/>
            <a:ext cx="8101391" cy="75872"/>
            <a:chOff x="0" y="0"/>
            <a:chExt cx="16272929" cy="152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538511" y="10517557"/>
            <a:ext cx="8101391" cy="75872"/>
            <a:chOff x="0" y="0"/>
            <a:chExt cx="16272929" cy="152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-538511" y="10458488"/>
            <a:ext cx="8101391" cy="75872"/>
            <a:chOff x="0" y="0"/>
            <a:chExt cx="16272929" cy="152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-538511" y="10420552"/>
            <a:ext cx="8101391" cy="75872"/>
            <a:chOff x="0" y="0"/>
            <a:chExt cx="16272929" cy="15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-538511" y="192336"/>
            <a:ext cx="8101391" cy="75872"/>
            <a:chOff x="0" y="0"/>
            <a:chExt cx="16272929" cy="152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-538511" y="154400"/>
            <a:ext cx="8101391" cy="75872"/>
            <a:chOff x="0" y="0"/>
            <a:chExt cx="16272929" cy="152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3" name="Group 23"/>
          <p:cNvGrpSpPr/>
          <p:nvPr/>
        </p:nvGrpSpPr>
        <p:grpSpPr>
          <a:xfrm>
            <a:off x="-538511" y="97004"/>
            <a:ext cx="8101391" cy="75872"/>
            <a:chOff x="0" y="0"/>
            <a:chExt cx="16272929" cy="152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-538511" y="37936"/>
            <a:ext cx="8101391" cy="75872"/>
            <a:chOff x="0" y="0"/>
            <a:chExt cx="16272929" cy="1524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-538511" y="0"/>
            <a:ext cx="8101391" cy="75872"/>
            <a:chOff x="0" y="0"/>
            <a:chExt cx="16272929" cy="1524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6272890" cy="152400"/>
            </a:xfrm>
            <a:custGeom>
              <a:avLst/>
              <a:gdLst/>
              <a:ahLst/>
              <a:cxnLst/>
              <a:rect l="l" t="t" r="r" b="b"/>
              <a:pathLst>
                <a:path w="16272890" h="152400">
                  <a:moveTo>
                    <a:pt x="0" y="0"/>
                  </a:moveTo>
                  <a:lnTo>
                    <a:pt x="16272890" y="0"/>
                  </a:lnTo>
                  <a:lnTo>
                    <a:pt x="1627289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aphicFrame>
        <p:nvGraphicFramePr>
          <p:cNvPr id="29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241348"/>
              </p:ext>
            </p:extLst>
          </p:nvPr>
        </p:nvGraphicFramePr>
        <p:xfrm>
          <a:off x="4449002" y="5693439"/>
          <a:ext cx="2952533" cy="1813235"/>
        </p:xfrm>
        <a:graphic>
          <a:graphicData uri="http://schemas.openxmlformats.org/drawingml/2006/table">
            <a:tbl>
              <a:tblPr/>
              <a:tblGrid>
                <a:gridCol w="2952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002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536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53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844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0" name="Table 30"/>
          <p:cNvGraphicFramePr>
            <a:graphicFrameLocks noGrp="1"/>
          </p:cNvGraphicFramePr>
          <p:nvPr/>
        </p:nvGraphicFramePr>
        <p:xfrm>
          <a:off x="4449002" y="7595370"/>
          <a:ext cx="2952534" cy="1749255"/>
        </p:xfrm>
        <a:graphic>
          <a:graphicData uri="http://schemas.openxmlformats.org/drawingml/2006/table">
            <a:tbl>
              <a:tblPr/>
              <a:tblGrid>
                <a:gridCol w="1553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9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1329">
                <a:tc gridSpan="2"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6321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321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6321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6321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6321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6321"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70"/>
                        </a:lnSpc>
                        <a:defRPr/>
                      </a:pPr>
                      <a:endParaRPr lang="en-US" sz="1100" dirty="0"/>
                    </a:p>
                  </a:txBody>
                  <a:tcPr marL="9525" marR="9525" marT="9525" marB="9525" anchor="ctr">
                    <a:lnL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C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" name="TextBox 34"/>
          <p:cNvSpPr txBox="1"/>
          <p:nvPr/>
        </p:nvSpPr>
        <p:spPr>
          <a:xfrm>
            <a:off x="139118" y="680651"/>
            <a:ext cx="7562880" cy="202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sz="2400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{{PROPERTY_NAME}}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9118" y="1048702"/>
            <a:ext cx="7562880" cy="135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"/>
              </a:lnSpc>
            </a:pPr>
            <a:r>
              <a:rPr lang="en-US" sz="1599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{{LEASABLE_AREA}}</a:t>
            </a:r>
            <a:r>
              <a:rPr lang="en-US" sz="15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 {{PROPERTY_TYPE}} with </a:t>
            </a:r>
            <a:r>
              <a:rPr lang="en-US" sz="1599" b="1" dirty="0">
                <a:solidFill>
                  <a:srgbClr val="272828"/>
                </a:solidFill>
                <a:latin typeface="Cormorant Garamond Bold"/>
                <a:ea typeface="Cormorant Garamond Bold"/>
                <a:cs typeface="Cormorant Garamond Bold"/>
                <a:sym typeface="Cormorant Garamond Bold"/>
              </a:rPr>
              <a:t>{{FRONTAGE}} </a:t>
            </a:r>
            <a:r>
              <a:rPr lang="en-US" sz="1599" dirty="0">
                <a:solidFill>
                  <a:srgbClr val="272828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frontage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1342" y="5249418"/>
            <a:ext cx="7240191" cy="3289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  <a:spcBef>
                <a:spcPct val="0"/>
              </a:spcBef>
            </a:pPr>
            <a:r>
              <a:rPr lang="en-US" sz="1899" b="1" i="1" dirty="0">
                <a:solidFill>
                  <a:srgbClr val="C9A84C"/>
                </a:solidFill>
                <a:latin typeface="Cormorant Garamond Bold Italics"/>
                <a:ea typeface="Cormorant Garamond Bold Italics"/>
                <a:cs typeface="Cormorant Garamond Bold Italics"/>
                <a:sym typeface="Cormorant Garamond Bold Italics"/>
              </a:rPr>
              <a:t>{{PROPERTY_ADDRESS}}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75007" y="5757542"/>
            <a:ext cx="1831585" cy="19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FFF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PROPERTY FEATURES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45738" y="6034354"/>
            <a:ext cx="2296813" cy="44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{{PROPERTY_FEATURE_1}}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009477" y="7640940"/>
            <a:ext cx="1831585" cy="191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100" b="1">
                <a:solidFill>
                  <a:srgbClr val="FFFCF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LEASE TERMS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864182" y="7955852"/>
            <a:ext cx="768200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Lease Rates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725245" y="8192771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Deposit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25245" y="8429690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Advance Rent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25245" y="8671371"/>
            <a:ext cx="104607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Rental Escalation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635173" y="8913052"/>
            <a:ext cx="125562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Preferred Lease Term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620470" y="9141398"/>
            <a:ext cx="1255626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Handover Conditions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077812" y="7963218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{{RENTAL_RATES}}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103250" y="8200137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{{SECURITY_DEPOSIT}}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103250" y="8436611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{{ADVANCE_RENT}}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077812" y="8678737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{{ESCALATION}}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077812" y="8913052"/>
            <a:ext cx="1276169" cy="13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{{LEASE_TERM}}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047564" y="9148764"/>
            <a:ext cx="1331855" cy="127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78"/>
              </a:lnSpc>
            </a:pPr>
            <a:r>
              <a:rPr lang="en-US" sz="700" spc="13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{{HANDOVER_CONDITION}}</a:t>
            </a:r>
          </a:p>
        </p:txBody>
      </p:sp>
      <p:sp>
        <p:nvSpPr>
          <p:cNvPr id="54" name="AutoShape 54"/>
          <p:cNvSpPr/>
          <p:nvPr/>
        </p:nvSpPr>
        <p:spPr>
          <a:xfrm>
            <a:off x="539850" y="9573224"/>
            <a:ext cx="6483181" cy="0"/>
          </a:xfrm>
          <a:prstGeom prst="line">
            <a:avLst/>
          </a:prstGeom>
          <a:ln w="19050" cap="flat">
            <a:solidFill>
              <a:srgbClr val="C9A84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TextBox 55"/>
          <p:cNvSpPr txBox="1"/>
          <p:nvPr/>
        </p:nvSpPr>
        <p:spPr>
          <a:xfrm>
            <a:off x="539850" y="9613579"/>
            <a:ext cx="2016814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 for further information: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98431" y="9786041"/>
            <a:ext cx="2016814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 dirty="0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Sondi Tuazon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98431" y="9915148"/>
            <a:ext cx="2114228" cy="29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0917 843 6128</a:t>
            </a:r>
          </a:p>
          <a:p>
            <a:pPr algn="l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sondi.tuazon@primephilippines.com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3105458" y="9786041"/>
            <a:ext cx="2016814" cy="1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b="1" spc="15">
                <a:solidFill>
                  <a:srgbClr val="0C0C0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Irish Jane Rima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105458" y="9915148"/>
            <a:ext cx="2114228" cy="298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lang="en-US" sz="800" spc="15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0968 135 1484</a:t>
            </a:r>
          </a:p>
          <a:p>
            <a:pPr algn="l">
              <a:lnSpc>
                <a:spcPts val="1232"/>
              </a:lnSpc>
            </a:pPr>
            <a:r>
              <a:rPr lang="en-US" sz="800" spc="15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irish.rima@primephilippines.com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1A9A119-1524-9476-37AF-01E6003BA497}"/>
              </a:ext>
            </a:extLst>
          </p:cNvPr>
          <p:cNvSpPr/>
          <p:nvPr/>
        </p:nvSpPr>
        <p:spPr>
          <a:xfrm>
            <a:off x="0" y="1406575"/>
            <a:ext cx="7556500" cy="374751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500" dirty="0">
                <a:solidFill>
                  <a:srgbClr val="002060"/>
                </a:solidFill>
              </a:rPr>
              <a:t>{{PROPERTY_PHOTO_1}}</a:t>
            </a:r>
          </a:p>
        </p:txBody>
      </p:sp>
      <p:sp>
        <p:nvSpPr>
          <p:cNvPr id="61" name="TextBox 38">
            <a:extLst>
              <a:ext uri="{FF2B5EF4-FFF2-40B4-BE49-F238E27FC236}">
                <a16:creationId xmlns:a16="http://schemas.microsoft.com/office/drawing/2014/main" id="{767CD3F6-4862-5002-022F-0E05B85A805E}"/>
              </a:ext>
            </a:extLst>
          </p:cNvPr>
          <p:cNvSpPr txBox="1"/>
          <p:nvPr/>
        </p:nvSpPr>
        <p:spPr>
          <a:xfrm>
            <a:off x="5045738" y="6581831"/>
            <a:ext cx="2296813" cy="44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{{PROPERTY_FEATURE_2}}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TextBox 38">
            <a:extLst>
              <a:ext uri="{FF2B5EF4-FFF2-40B4-BE49-F238E27FC236}">
                <a16:creationId xmlns:a16="http://schemas.microsoft.com/office/drawing/2014/main" id="{18EB2F63-9DA5-3034-2468-0FA13DD6A142}"/>
              </a:ext>
            </a:extLst>
          </p:cNvPr>
          <p:cNvSpPr txBox="1"/>
          <p:nvPr/>
        </p:nvSpPr>
        <p:spPr>
          <a:xfrm>
            <a:off x="5044909" y="7101063"/>
            <a:ext cx="2296813" cy="448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32"/>
              </a:lnSpc>
            </a:pPr>
            <a:r>
              <a:rPr lang="en-US" sz="800" spc="15" dirty="0">
                <a:solidFill>
                  <a:srgbClr val="0C0C0E"/>
                </a:solidFill>
                <a:latin typeface="Montserrat"/>
                <a:ea typeface="Montserrat"/>
                <a:cs typeface="Montserrat"/>
                <a:sym typeface="Montserrat"/>
              </a:rPr>
              <a:t>{{PROPERTY_FEATURE_3}}</a:t>
            </a: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just">
              <a:lnSpc>
                <a:spcPts val="1232"/>
              </a:lnSpc>
            </a:pPr>
            <a:endParaRPr lang="en-US" sz="800" spc="15" dirty="0">
              <a:solidFill>
                <a:srgbClr val="0C0C0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5" name="Graphic 64" descr="Checkmark with solid fill">
            <a:extLst>
              <a:ext uri="{FF2B5EF4-FFF2-40B4-BE49-F238E27FC236}">
                <a16:creationId xmlns:a16="http://schemas.microsoft.com/office/drawing/2014/main" id="{6213029B-72DF-9305-4D8B-812D7CE3E0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7270" y="6076869"/>
            <a:ext cx="331252" cy="331252"/>
          </a:xfrm>
          <a:prstGeom prst="rect">
            <a:avLst/>
          </a:prstGeom>
        </p:spPr>
      </p:pic>
      <p:pic>
        <p:nvPicPr>
          <p:cNvPr id="66" name="Graphic 65" descr="Checkmark with solid fill">
            <a:extLst>
              <a:ext uri="{FF2B5EF4-FFF2-40B4-BE49-F238E27FC236}">
                <a16:creationId xmlns:a16="http://schemas.microsoft.com/office/drawing/2014/main" id="{3E67A8E2-6B8C-C873-4DFB-0E547BFC47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33704" y="6612061"/>
            <a:ext cx="331252" cy="331252"/>
          </a:xfrm>
          <a:prstGeom prst="rect">
            <a:avLst/>
          </a:prstGeom>
        </p:spPr>
      </p:pic>
      <p:pic>
        <p:nvPicPr>
          <p:cNvPr id="67" name="Graphic 66" descr="Checkmark with solid fill">
            <a:extLst>
              <a:ext uri="{FF2B5EF4-FFF2-40B4-BE49-F238E27FC236}">
                <a16:creationId xmlns:a16="http://schemas.microsoft.com/office/drawing/2014/main" id="{69445C56-E009-EBAC-F314-9DA3912FF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7270" y="7132856"/>
            <a:ext cx="331252" cy="33125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CF47DC4-F093-C818-C183-7D49B8AF8E93}"/>
              </a:ext>
            </a:extLst>
          </p:cNvPr>
          <p:cNvSpPr/>
          <p:nvPr/>
        </p:nvSpPr>
        <p:spPr>
          <a:xfrm>
            <a:off x="213948" y="5757542"/>
            <a:ext cx="4047837" cy="364946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rgbClr val="002060"/>
                </a:solidFill>
              </a:rPr>
              <a:t>{{LOCATION_MAP}}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134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Cormorant Garamond</vt:lpstr>
      <vt:lpstr>Calibri</vt:lpstr>
      <vt:lpstr>Montserrat Bold</vt:lpstr>
      <vt:lpstr>Cormorant Garamond Bold Italics</vt:lpstr>
      <vt:lpstr>Montserrat</vt:lpstr>
      <vt:lpstr>Arial</vt:lpstr>
      <vt:lpstr>Cormorant Garamond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PIS TEMPLATE</dc:title>
  <cp:lastModifiedBy>Dave Policarpio</cp:lastModifiedBy>
  <cp:revision>3</cp:revision>
  <dcterms:created xsi:type="dcterms:W3CDTF">2006-08-16T00:00:00Z</dcterms:created>
  <dcterms:modified xsi:type="dcterms:W3CDTF">2026-06-24T09:38:16Z</dcterms:modified>
  <dc:identifier>DAHMIXkz0B8</dc:identifier>
</cp:coreProperties>
</file>