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9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entury Gothic Paneuropean" panose="020B0604020202020204" charset="0"/>
      <p:regular r:id="rId15"/>
    </p:embeddedFont>
    <p:embeddedFont>
      <p:font typeface="Century Gothic Paneuropean Bold" panose="020B0604020202020204" charset="0"/>
      <p:regular r:id="rId16"/>
    </p:embeddedFont>
    <p:embeddedFont>
      <p:font typeface="Cormorant Garamond" panose="020B0604020202020204" charset="0"/>
      <p:regular r:id="rId17"/>
    </p:embeddedFont>
    <p:embeddedFont>
      <p:font typeface="Cormorant Garamond Light" panose="020B0604020202020204" charset="0"/>
      <p:regular r:id="rId18"/>
    </p:embeddedFont>
    <p:embeddedFont>
      <p:font typeface="Cormorant Garamond Light Italics" panose="020B0604020202020204" charset="0"/>
      <p:regular r:id="rId19"/>
    </p:embeddedFont>
    <p:embeddedFont>
      <p:font typeface="Cormorant Garamond Medium" panose="020B0604020202020204" charset="0"/>
      <p:regular r:id="rId20"/>
    </p:embeddedFont>
    <p:embeddedFont>
      <p:font typeface="Cormorant Garamond Semi-Bold" panose="020B0604020202020204" charset="0"/>
      <p:regular r:id="rId21"/>
    </p:embeddedFont>
    <p:embeddedFont>
      <p:font typeface="DM Sans" pitchFamily="2" charset="0"/>
      <p:regular r:id="rId22"/>
      <p:bold r:id="rId23"/>
      <p:italic r:id="rId24"/>
      <p:boldItalic r:id="rId25"/>
    </p:embeddedFont>
    <p:embeddedFont>
      <p:font typeface="DM Sans Bold Italics" panose="020B0604020202020204" charset="0"/>
      <p:regular r:id="rId26"/>
    </p:embeddedFont>
    <p:embeddedFont>
      <p:font typeface="Montserrat Light" panose="00000400000000000000" pitchFamily="2" charset="0"/>
      <p:regular r:id="rId27"/>
      <p:italic r:id="rId28"/>
    </p:embeddedFont>
    <p:embeddedFont>
      <p:font typeface="Montserrat Medium" panose="00000600000000000000" pitchFamily="2" charset="0"/>
      <p:regular r:id="rId29"/>
      <p: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7" d="100"/>
          <a:sy n="67" d="100"/>
        </p:scale>
        <p:origin x="95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58051" cy="10270154"/>
            <a:chOff x="0" y="0"/>
            <a:chExt cx="16256000" cy="914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56000" cy="9144000"/>
            </a:xfrm>
            <a:custGeom>
              <a:avLst/>
              <a:gdLst/>
              <a:ahLst/>
              <a:cxnLst/>
              <a:rect l="l" t="t" r="r" b="b"/>
              <a:pathLst>
                <a:path w="16256000" h="9144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1B3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8528" y="0"/>
            <a:ext cx="18229523" cy="4566752"/>
            <a:chOff x="0" y="0"/>
            <a:chExt cx="24306031" cy="608900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86017" cy="6089002"/>
            </a:xfrm>
            <a:custGeom>
              <a:avLst/>
              <a:gdLst/>
              <a:ahLst/>
              <a:cxnLst/>
              <a:rect l="l" t="t" r="r" b="b"/>
              <a:pathLst>
                <a:path w="6086017" h="6089002">
                  <a:moveTo>
                    <a:pt x="0" y="0"/>
                  </a:moveTo>
                  <a:lnTo>
                    <a:pt x="6086017" y="0"/>
                  </a:lnTo>
                  <a:lnTo>
                    <a:pt x="6086017" y="6089002"/>
                  </a:lnTo>
                  <a:lnTo>
                    <a:pt x="0" y="6089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6047980" y="0"/>
              <a:ext cx="6086017" cy="6089002"/>
            </a:xfrm>
            <a:custGeom>
              <a:avLst/>
              <a:gdLst/>
              <a:ahLst/>
              <a:cxnLst/>
              <a:rect l="l" t="t" r="r" b="b"/>
              <a:pathLst>
                <a:path w="6086017" h="6089002">
                  <a:moveTo>
                    <a:pt x="0" y="0"/>
                  </a:moveTo>
                  <a:lnTo>
                    <a:pt x="6086017" y="0"/>
                  </a:lnTo>
                  <a:lnTo>
                    <a:pt x="6086017" y="6089002"/>
                  </a:lnTo>
                  <a:lnTo>
                    <a:pt x="0" y="6089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2133997" y="0"/>
              <a:ext cx="6086017" cy="6089002"/>
            </a:xfrm>
            <a:custGeom>
              <a:avLst/>
              <a:gdLst/>
              <a:ahLst/>
              <a:cxnLst/>
              <a:rect l="l" t="t" r="r" b="b"/>
              <a:pathLst>
                <a:path w="6086017" h="6089002">
                  <a:moveTo>
                    <a:pt x="0" y="0"/>
                  </a:moveTo>
                  <a:lnTo>
                    <a:pt x="6086017" y="0"/>
                  </a:lnTo>
                  <a:lnTo>
                    <a:pt x="6086017" y="6089002"/>
                  </a:lnTo>
                  <a:lnTo>
                    <a:pt x="0" y="6089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8220014" y="0"/>
              <a:ext cx="6086017" cy="6089002"/>
            </a:xfrm>
            <a:custGeom>
              <a:avLst/>
              <a:gdLst/>
              <a:ahLst/>
              <a:cxnLst/>
              <a:rect l="l" t="t" r="r" b="b"/>
              <a:pathLst>
                <a:path w="6086017" h="6089002">
                  <a:moveTo>
                    <a:pt x="0" y="0"/>
                  </a:moveTo>
                  <a:lnTo>
                    <a:pt x="6086017" y="0"/>
                  </a:lnTo>
                  <a:lnTo>
                    <a:pt x="6086017" y="6089002"/>
                  </a:lnTo>
                  <a:lnTo>
                    <a:pt x="0" y="6089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0" y="4566752"/>
            <a:ext cx="4564513" cy="4566752"/>
          </a:xfrm>
          <a:custGeom>
            <a:avLst/>
            <a:gdLst/>
            <a:ahLst/>
            <a:cxnLst/>
            <a:rect l="l" t="t" r="r" b="b"/>
            <a:pathLst>
              <a:path w="4564513" h="4566752">
                <a:moveTo>
                  <a:pt x="0" y="0"/>
                </a:moveTo>
                <a:lnTo>
                  <a:pt x="4564513" y="0"/>
                </a:lnTo>
                <a:lnTo>
                  <a:pt x="4564513" y="4566751"/>
                </a:lnTo>
                <a:lnTo>
                  <a:pt x="0" y="45667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564513" y="4566752"/>
            <a:ext cx="4564513" cy="4566752"/>
          </a:xfrm>
          <a:custGeom>
            <a:avLst/>
            <a:gdLst/>
            <a:ahLst/>
            <a:cxnLst/>
            <a:rect l="l" t="t" r="r" b="b"/>
            <a:pathLst>
              <a:path w="4564513" h="4566752">
                <a:moveTo>
                  <a:pt x="0" y="0"/>
                </a:moveTo>
                <a:lnTo>
                  <a:pt x="4564513" y="0"/>
                </a:lnTo>
                <a:lnTo>
                  <a:pt x="4564513" y="4566751"/>
                </a:lnTo>
                <a:lnTo>
                  <a:pt x="0" y="45667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129026" y="4566752"/>
            <a:ext cx="4564513" cy="4566752"/>
          </a:xfrm>
          <a:custGeom>
            <a:avLst/>
            <a:gdLst/>
            <a:ahLst/>
            <a:cxnLst/>
            <a:rect l="l" t="t" r="r" b="b"/>
            <a:pathLst>
              <a:path w="4564513" h="4566752">
                <a:moveTo>
                  <a:pt x="0" y="0"/>
                </a:moveTo>
                <a:lnTo>
                  <a:pt x="4564513" y="0"/>
                </a:lnTo>
                <a:lnTo>
                  <a:pt x="4564513" y="4566751"/>
                </a:lnTo>
                <a:lnTo>
                  <a:pt x="0" y="45667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693539" y="4566752"/>
            <a:ext cx="4564513" cy="4566752"/>
          </a:xfrm>
          <a:custGeom>
            <a:avLst/>
            <a:gdLst/>
            <a:ahLst/>
            <a:cxnLst/>
            <a:rect l="l" t="t" r="r" b="b"/>
            <a:pathLst>
              <a:path w="4564513" h="4566752">
                <a:moveTo>
                  <a:pt x="0" y="0"/>
                </a:moveTo>
                <a:lnTo>
                  <a:pt x="4564512" y="0"/>
                </a:lnTo>
                <a:lnTo>
                  <a:pt x="4564512" y="4566751"/>
                </a:lnTo>
                <a:lnTo>
                  <a:pt x="0" y="45667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28528" y="9133503"/>
            <a:ext cx="18229523" cy="4566752"/>
            <a:chOff x="0" y="0"/>
            <a:chExt cx="24306031" cy="608900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086017" cy="6089002"/>
            </a:xfrm>
            <a:custGeom>
              <a:avLst/>
              <a:gdLst/>
              <a:ahLst/>
              <a:cxnLst/>
              <a:rect l="l" t="t" r="r" b="b"/>
              <a:pathLst>
                <a:path w="6086017" h="6089002">
                  <a:moveTo>
                    <a:pt x="0" y="0"/>
                  </a:moveTo>
                  <a:lnTo>
                    <a:pt x="6086017" y="0"/>
                  </a:lnTo>
                  <a:lnTo>
                    <a:pt x="6086017" y="6089002"/>
                  </a:lnTo>
                  <a:lnTo>
                    <a:pt x="0" y="6089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6047980" y="0"/>
              <a:ext cx="6086017" cy="6089002"/>
            </a:xfrm>
            <a:custGeom>
              <a:avLst/>
              <a:gdLst/>
              <a:ahLst/>
              <a:cxnLst/>
              <a:rect l="l" t="t" r="r" b="b"/>
              <a:pathLst>
                <a:path w="6086017" h="6089002">
                  <a:moveTo>
                    <a:pt x="0" y="0"/>
                  </a:moveTo>
                  <a:lnTo>
                    <a:pt x="6086017" y="0"/>
                  </a:lnTo>
                  <a:lnTo>
                    <a:pt x="6086017" y="6089002"/>
                  </a:lnTo>
                  <a:lnTo>
                    <a:pt x="0" y="6089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2133997" y="0"/>
              <a:ext cx="6086017" cy="6089002"/>
            </a:xfrm>
            <a:custGeom>
              <a:avLst/>
              <a:gdLst/>
              <a:ahLst/>
              <a:cxnLst/>
              <a:rect l="l" t="t" r="r" b="b"/>
              <a:pathLst>
                <a:path w="6086017" h="6089002">
                  <a:moveTo>
                    <a:pt x="0" y="0"/>
                  </a:moveTo>
                  <a:lnTo>
                    <a:pt x="6086017" y="0"/>
                  </a:lnTo>
                  <a:lnTo>
                    <a:pt x="6086017" y="6089002"/>
                  </a:lnTo>
                  <a:lnTo>
                    <a:pt x="0" y="6089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8220014" y="0"/>
              <a:ext cx="6086017" cy="6089002"/>
            </a:xfrm>
            <a:custGeom>
              <a:avLst/>
              <a:gdLst/>
              <a:ahLst/>
              <a:cxnLst/>
              <a:rect l="l" t="t" r="r" b="b"/>
              <a:pathLst>
                <a:path w="6086017" h="6089002">
                  <a:moveTo>
                    <a:pt x="0" y="0"/>
                  </a:moveTo>
                  <a:lnTo>
                    <a:pt x="6086017" y="0"/>
                  </a:lnTo>
                  <a:lnTo>
                    <a:pt x="6086017" y="6089002"/>
                  </a:lnTo>
                  <a:lnTo>
                    <a:pt x="0" y="6089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4840322" y="0"/>
            <a:ext cx="13417730" cy="10270154"/>
          </a:xfrm>
          <a:custGeom>
            <a:avLst/>
            <a:gdLst/>
            <a:ahLst/>
            <a:cxnLst/>
            <a:rect l="l" t="t" r="r" b="b"/>
            <a:pathLst>
              <a:path w="13417730" h="10270154">
                <a:moveTo>
                  <a:pt x="0" y="0"/>
                </a:moveTo>
                <a:lnTo>
                  <a:pt x="13417729" y="0"/>
                </a:lnTo>
                <a:lnTo>
                  <a:pt x="13417729" y="10270154"/>
                </a:lnTo>
                <a:lnTo>
                  <a:pt x="0" y="102701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"/>
            </a:blip>
            <a:stretch>
              <a:fillRect t="-2" b="-2"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6204021" y="684677"/>
            <a:ext cx="1369354" cy="1055544"/>
            <a:chOff x="0" y="0"/>
            <a:chExt cx="1219200" cy="939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19200" cy="939800"/>
            </a:xfrm>
            <a:custGeom>
              <a:avLst/>
              <a:gdLst/>
              <a:ahLst/>
              <a:cxnLst/>
              <a:rect l="l" t="t" r="r" b="b"/>
              <a:pathLst>
                <a:path w="1219200" h="939800">
                  <a:moveTo>
                    <a:pt x="0" y="0"/>
                  </a:moveTo>
                  <a:lnTo>
                    <a:pt x="1219200" y="0"/>
                  </a:lnTo>
                  <a:lnTo>
                    <a:pt x="1219200" y="939800"/>
                  </a:lnTo>
                  <a:lnTo>
                    <a:pt x="0" y="93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822083" y="5311861"/>
            <a:ext cx="9702657" cy="2974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99"/>
              </a:lnSpc>
            </a:pPr>
            <a:r>
              <a:rPr lang="en-US" sz="10797" dirty="0">
                <a:solidFill>
                  <a:srgbClr val="FFFCFB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{{PROPERTY_NAME}}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4368" y="4971108"/>
            <a:ext cx="13938432" cy="2975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1"/>
              </a:lnSpc>
              <a:spcBef>
                <a:spcPct val="0"/>
              </a:spcBef>
            </a:pPr>
            <a:r>
              <a:rPr lang="en-US" b="1" spc="720" dirty="0">
                <a:solidFill>
                  <a:srgbClr val="C9A84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{{PROPERTY_TYPE}} </a:t>
            </a:r>
            <a:r>
              <a:rPr lang="en-US" sz="1800" b="1" spc="720" dirty="0">
                <a:solidFill>
                  <a:srgbClr val="C9A84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FOR LEASE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2083" y="8665701"/>
            <a:ext cx="4964125" cy="306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  <a:spcBef>
                <a:spcPct val="0"/>
              </a:spcBef>
            </a:pPr>
            <a:r>
              <a:rPr lang="en-US" sz="1800" b="1" spc="720" dirty="0">
                <a:solidFill>
                  <a:srgbClr val="FFFCF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PRIME PHILIPPINES 2026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2082" y="8235408"/>
            <a:ext cx="16751293" cy="306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1"/>
              </a:lnSpc>
              <a:spcBef>
                <a:spcPct val="0"/>
              </a:spcBef>
            </a:pPr>
            <a:r>
              <a:rPr lang="en-US" b="1" spc="720" dirty="0">
                <a:solidFill>
                  <a:srgbClr val="C9A84C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{{PROPERTY_ADDRESS}}</a:t>
            </a:r>
            <a:endParaRPr lang="en-US" sz="1800" b="1" spc="720" dirty="0">
              <a:solidFill>
                <a:srgbClr val="C9A84C"/>
              </a:solidFill>
              <a:latin typeface="Cormorant Garamond Medium"/>
              <a:ea typeface="Cormorant Garamond Medium"/>
              <a:cs typeface="Cormorant Garamond Medium"/>
              <a:sym typeface="Cormorant Garamond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3350" y="0"/>
            <a:ext cx="21450136" cy="10730328"/>
            <a:chOff x="0" y="0"/>
            <a:chExt cx="28600182" cy="143071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7150045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4300091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21450136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7150045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4300091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450136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722308" y="1715015"/>
            <a:ext cx="4760865" cy="1880935"/>
            <a:chOff x="0" y="0"/>
            <a:chExt cx="1760296" cy="6954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60296" cy="695462"/>
            </a:xfrm>
            <a:custGeom>
              <a:avLst/>
              <a:gdLst/>
              <a:ahLst/>
              <a:cxnLst/>
              <a:rect l="l" t="t" r="r" b="b"/>
              <a:pathLst>
                <a:path w="1760296" h="695462">
                  <a:moveTo>
                    <a:pt x="0" y="0"/>
                  </a:moveTo>
                  <a:lnTo>
                    <a:pt x="1760296" y="0"/>
                  </a:lnTo>
                  <a:lnTo>
                    <a:pt x="1760296" y="695462"/>
                  </a:lnTo>
                  <a:lnTo>
                    <a:pt x="0" y="695462"/>
                  </a:lnTo>
                  <a:close/>
                </a:path>
              </a:pathLst>
            </a:custGeom>
            <a:solidFill>
              <a:srgbClr val="FCFD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760296" cy="695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917621" y="2036482"/>
            <a:ext cx="1206109" cy="1206109"/>
          </a:xfrm>
          <a:custGeom>
            <a:avLst/>
            <a:gdLst/>
            <a:ahLst/>
            <a:cxnLst/>
            <a:rect l="l" t="t" r="r" b="b"/>
            <a:pathLst>
              <a:path w="1206109" h="1206109">
                <a:moveTo>
                  <a:pt x="0" y="0"/>
                </a:moveTo>
                <a:lnTo>
                  <a:pt x="1206109" y="0"/>
                </a:lnTo>
                <a:lnTo>
                  <a:pt x="1206109" y="1206109"/>
                </a:lnTo>
                <a:lnTo>
                  <a:pt x="0" y="12061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0124614" y="1715015"/>
            <a:ext cx="7578114" cy="8075552"/>
            <a:chOff x="0" y="0"/>
            <a:chExt cx="1995882" cy="212689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95882" cy="2126894"/>
            </a:xfrm>
            <a:custGeom>
              <a:avLst/>
              <a:gdLst/>
              <a:ahLst/>
              <a:cxnLst/>
              <a:rect l="l" t="t" r="r" b="b"/>
              <a:pathLst>
                <a:path w="1995882" h="2126894">
                  <a:moveTo>
                    <a:pt x="0" y="0"/>
                  </a:moveTo>
                  <a:lnTo>
                    <a:pt x="1995882" y="0"/>
                  </a:lnTo>
                  <a:lnTo>
                    <a:pt x="1995882" y="2126894"/>
                  </a:lnTo>
                  <a:lnTo>
                    <a:pt x="0" y="2126894"/>
                  </a:lnTo>
                  <a:close/>
                </a:path>
              </a:pathLst>
            </a:custGeom>
            <a:solidFill>
              <a:srgbClr val="FCFD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1995882" cy="2126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817436" y="1715015"/>
            <a:ext cx="3973802" cy="1880935"/>
            <a:chOff x="0" y="0"/>
            <a:chExt cx="1469285" cy="69546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69285" cy="695462"/>
            </a:xfrm>
            <a:custGeom>
              <a:avLst/>
              <a:gdLst/>
              <a:ahLst/>
              <a:cxnLst/>
              <a:rect l="l" t="t" r="r" b="b"/>
              <a:pathLst>
                <a:path w="1469285" h="695462">
                  <a:moveTo>
                    <a:pt x="0" y="0"/>
                  </a:moveTo>
                  <a:lnTo>
                    <a:pt x="1469285" y="0"/>
                  </a:lnTo>
                  <a:lnTo>
                    <a:pt x="1469285" y="695462"/>
                  </a:lnTo>
                  <a:lnTo>
                    <a:pt x="0" y="695462"/>
                  </a:lnTo>
                  <a:close/>
                </a:path>
              </a:pathLst>
            </a:custGeom>
            <a:solidFill>
              <a:srgbClr val="FCFD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1469285" cy="695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089842" y="573636"/>
            <a:ext cx="1169458" cy="895542"/>
            <a:chOff x="0" y="0"/>
            <a:chExt cx="1068108" cy="81793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68070" cy="817880"/>
            </a:xfrm>
            <a:custGeom>
              <a:avLst/>
              <a:gdLst/>
              <a:ahLst/>
              <a:cxnLst/>
              <a:rect l="l" t="t" r="r" b="b"/>
              <a:pathLst>
                <a:path w="1068070" h="817880">
                  <a:moveTo>
                    <a:pt x="0" y="0"/>
                  </a:moveTo>
                  <a:lnTo>
                    <a:pt x="1068070" y="0"/>
                  </a:lnTo>
                  <a:lnTo>
                    <a:pt x="1068070" y="817880"/>
                  </a:lnTo>
                  <a:lnTo>
                    <a:pt x="0" y="817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3" b="-6"/>
              </a:stretch>
            </a:blipFill>
          </p:spPr>
        </p:sp>
      </p:grpSp>
      <p:sp>
        <p:nvSpPr>
          <p:cNvPr id="23" name="AutoShape 23"/>
          <p:cNvSpPr/>
          <p:nvPr/>
        </p:nvSpPr>
        <p:spPr>
          <a:xfrm>
            <a:off x="1094551" y="1350321"/>
            <a:ext cx="14840038" cy="0"/>
          </a:xfrm>
          <a:prstGeom prst="line">
            <a:avLst/>
          </a:prstGeom>
          <a:ln w="38100" cap="flat">
            <a:solidFill>
              <a:srgbClr val="C9A84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Freeform 24"/>
          <p:cNvSpPr/>
          <p:nvPr/>
        </p:nvSpPr>
        <p:spPr>
          <a:xfrm>
            <a:off x="6049910" y="2049731"/>
            <a:ext cx="1211503" cy="1211503"/>
          </a:xfrm>
          <a:custGeom>
            <a:avLst/>
            <a:gdLst/>
            <a:ahLst/>
            <a:cxnLst/>
            <a:rect l="l" t="t" r="r" b="b"/>
            <a:pathLst>
              <a:path w="1211503" h="1211503">
                <a:moveTo>
                  <a:pt x="0" y="0"/>
                </a:moveTo>
                <a:lnTo>
                  <a:pt x="1211503" y="0"/>
                </a:lnTo>
                <a:lnTo>
                  <a:pt x="1211503" y="1211503"/>
                </a:lnTo>
                <a:lnTo>
                  <a:pt x="0" y="12115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722308" y="3805500"/>
            <a:ext cx="4760865" cy="1880935"/>
            <a:chOff x="0" y="0"/>
            <a:chExt cx="1760296" cy="69546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760296" cy="695462"/>
            </a:xfrm>
            <a:custGeom>
              <a:avLst/>
              <a:gdLst/>
              <a:ahLst/>
              <a:cxnLst/>
              <a:rect l="l" t="t" r="r" b="b"/>
              <a:pathLst>
                <a:path w="1760296" h="695462">
                  <a:moveTo>
                    <a:pt x="0" y="0"/>
                  </a:moveTo>
                  <a:lnTo>
                    <a:pt x="1760296" y="0"/>
                  </a:lnTo>
                  <a:lnTo>
                    <a:pt x="1760296" y="695462"/>
                  </a:lnTo>
                  <a:lnTo>
                    <a:pt x="0" y="695462"/>
                  </a:lnTo>
                  <a:close/>
                </a:path>
              </a:pathLst>
            </a:custGeom>
            <a:solidFill>
              <a:srgbClr val="FCFDFF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1760296" cy="695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817436" y="3805500"/>
            <a:ext cx="3973802" cy="1880935"/>
            <a:chOff x="0" y="0"/>
            <a:chExt cx="1469285" cy="69546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469285" cy="695462"/>
            </a:xfrm>
            <a:custGeom>
              <a:avLst/>
              <a:gdLst/>
              <a:ahLst/>
              <a:cxnLst/>
              <a:rect l="l" t="t" r="r" b="b"/>
              <a:pathLst>
                <a:path w="1469285" h="695462">
                  <a:moveTo>
                    <a:pt x="0" y="0"/>
                  </a:moveTo>
                  <a:lnTo>
                    <a:pt x="1469285" y="0"/>
                  </a:lnTo>
                  <a:lnTo>
                    <a:pt x="1469285" y="695462"/>
                  </a:lnTo>
                  <a:lnTo>
                    <a:pt x="0" y="695462"/>
                  </a:lnTo>
                  <a:close/>
                </a:path>
              </a:pathLst>
            </a:custGeom>
            <a:solidFill>
              <a:srgbClr val="FCFDFF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1469285" cy="695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917621" y="4138440"/>
            <a:ext cx="1213278" cy="1213278"/>
          </a:xfrm>
          <a:custGeom>
            <a:avLst/>
            <a:gdLst/>
            <a:ahLst/>
            <a:cxnLst/>
            <a:rect l="l" t="t" r="r" b="b"/>
            <a:pathLst>
              <a:path w="1213278" h="1213278">
                <a:moveTo>
                  <a:pt x="0" y="0"/>
                </a:moveTo>
                <a:lnTo>
                  <a:pt x="1213278" y="0"/>
                </a:lnTo>
                <a:lnTo>
                  <a:pt x="1213278" y="1213278"/>
                </a:lnTo>
                <a:lnTo>
                  <a:pt x="0" y="12132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5817436" y="5895984"/>
            <a:ext cx="3973802" cy="1880935"/>
            <a:chOff x="0" y="0"/>
            <a:chExt cx="1469285" cy="69546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69285" cy="695462"/>
            </a:xfrm>
            <a:custGeom>
              <a:avLst/>
              <a:gdLst/>
              <a:ahLst/>
              <a:cxnLst/>
              <a:rect l="l" t="t" r="r" b="b"/>
              <a:pathLst>
                <a:path w="1469285" h="695462">
                  <a:moveTo>
                    <a:pt x="0" y="0"/>
                  </a:moveTo>
                  <a:lnTo>
                    <a:pt x="1469285" y="0"/>
                  </a:lnTo>
                  <a:lnTo>
                    <a:pt x="1469285" y="695462"/>
                  </a:lnTo>
                  <a:lnTo>
                    <a:pt x="0" y="695462"/>
                  </a:lnTo>
                  <a:close/>
                </a:path>
              </a:pathLst>
            </a:custGeom>
            <a:solidFill>
              <a:srgbClr val="FCFDFF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1469285" cy="695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922868" y="6232436"/>
            <a:ext cx="1208031" cy="1208031"/>
          </a:xfrm>
          <a:custGeom>
            <a:avLst/>
            <a:gdLst/>
            <a:ahLst/>
            <a:cxnLst/>
            <a:rect l="l" t="t" r="r" b="b"/>
            <a:pathLst>
              <a:path w="1208031" h="1208031">
                <a:moveTo>
                  <a:pt x="0" y="0"/>
                </a:moveTo>
                <a:lnTo>
                  <a:pt x="1208031" y="0"/>
                </a:lnTo>
                <a:lnTo>
                  <a:pt x="1208031" y="1208031"/>
                </a:lnTo>
                <a:lnTo>
                  <a:pt x="0" y="12080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39" name="Group 39"/>
          <p:cNvGrpSpPr/>
          <p:nvPr/>
        </p:nvGrpSpPr>
        <p:grpSpPr>
          <a:xfrm>
            <a:off x="722308" y="7986469"/>
            <a:ext cx="9068930" cy="1880935"/>
            <a:chOff x="0" y="0"/>
            <a:chExt cx="3353173" cy="69546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353173" cy="695462"/>
            </a:xfrm>
            <a:custGeom>
              <a:avLst/>
              <a:gdLst/>
              <a:ahLst/>
              <a:cxnLst/>
              <a:rect l="l" t="t" r="r" b="b"/>
              <a:pathLst>
                <a:path w="3353173" h="695462">
                  <a:moveTo>
                    <a:pt x="0" y="0"/>
                  </a:moveTo>
                  <a:lnTo>
                    <a:pt x="3353173" y="0"/>
                  </a:lnTo>
                  <a:lnTo>
                    <a:pt x="3353173" y="695462"/>
                  </a:lnTo>
                  <a:lnTo>
                    <a:pt x="0" y="695462"/>
                  </a:lnTo>
                  <a:close/>
                </a:path>
              </a:pathLst>
            </a:custGeom>
            <a:solidFill>
              <a:srgbClr val="FCFDFF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0"/>
              <a:ext cx="3353173" cy="695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42" name="Freeform 42"/>
          <p:cNvSpPr/>
          <p:nvPr/>
        </p:nvSpPr>
        <p:spPr>
          <a:xfrm>
            <a:off x="986964" y="8324453"/>
            <a:ext cx="1204966" cy="1204966"/>
          </a:xfrm>
          <a:custGeom>
            <a:avLst/>
            <a:gdLst/>
            <a:ahLst/>
            <a:cxnLst/>
            <a:rect l="l" t="t" r="r" b="b"/>
            <a:pathLst>
              <a:path w="1204966" h="1204966">
                <a:moveTo>
                  <a:pt x="0" y="0"/>
                </a:moveTo>
                <a:lnTo>
                  <a:pt x="1204965" y="0"/>
                </a:lnTo>
                <a:lnTo>
                  <a:pt x="1204965" y="1204966"/>
                </a:lnTo>
                <a:lnTo>
                  <a:pt x="0" y="12049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1094551" y="657250"/>
            <a:ext cx="15845438" cy="6267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950"/>
              </a:lnSpc>
            </a:pPr>
            <a:r>
              <a:rPr lang="en-US" sz="4000" dirty="0">
                <a:solidFill>
                  <a:srgbClr val="272828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ECONOMIC HIGHLIGHTS IN {{PROPERTY_LOCATION}}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FC8B8FD-76E6-9D7D-E7FA-5D1FA86E9B7C}"/>
              </a:ext>
            </a:extLst>
          </p:cNvPr>
          <p:cNvSpPr/>
          <p:nvPr/>
        </p:nvSpPr>
        <p:spPr>
          <a:xfrm>
            <a:off x="0" y="1257300"/>
            <a:ext cx="18288000" cy="86644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00" dirty="0">
                <a:solidFill>
                  <a:schemeClr val="tx1"/>
                </a:solidFill>
              </a:rPr>
              <a:t>{{LOCATION_MAP}}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-9525" y="10097679"/>
            <a:ext cx="18288000" cy="454842"/>
            <a:chOff x="0" y="0"/>
            <a:chExt cx="4816593" cy="1197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119794"/>
            </a:xfrm>
            <a:custGeom>
              <a:avLst/>
              <a:gdLst/>
              <a:ahLst/>
              <a:cxnLst/>
              <a:rect l="l" t="t" r="r" b="b"/>
              <a:pathLst>
                <a:path w="4816592" h="119794">
                  <a:moveTo>
                    <a:pt x="0" y="0"/>
                  </a:moveTo>
                  <a:lnTo>
                    <a:pt x="4816592" y="0"/>
                  </a:lnTo>
                  <a:lnTo>
                    <a:pt x="4816592" y="119794"/>
                  </a:lnTo>
                  <a:lnTo>
                    <a:pt x="0" y="119794"/>
                  </a:lnTo>
                  <a:close/>
                </a:path>
              </a:pathLst>
            </a:custGeom>
            <a:gradFill rotWithShape="1">
              <a:gsLst>
                <a:gs pos="0">
                  <a:srgbClr val="0C0C0E">
                    <a:alpha val="100000"/>
                  </a:srgbClr>
                </a:gs>
                <a:gs pos="50000">
                  <a:srgbClr val="003366">
                    <a:alpha val="100000"/>
                  </a:srgbClr>
                </a:gs>
                <a:gs pos="100000">
                  <a:srgbClr val="C9A84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4816593" cy="129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525" y="365252"/>
            <a:ext cx="8461993" cy="752957"/>
            <a:chOff x="0" y="0"/>
            <a:chExt cx="2261285" cy="1983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61285" cy="198310"/>
            </a:xfrm>
            <a:custGeom>
              <a:avLst/>
              <a:gdLst/>
              <a:ahLst/>
              <a:cxnLst/>
              <a:rect l="l" t="t" r="r" b="b"/>
              <a:pathLst>
                <a:path w="2261285" h="198310">
                  <a:moveTo>
                    <a:pt x="0" y="0"/>
                  </a:moveTo>
                  <a:lnTo>
                    <a:pt x="2261285" y="0"/>
                  </a:lnTo>
                  <a:lnTo>
                    <a:pt x="2261285" y="198310"/>
                  </a:lnTo>
                  <a:lnTo>
                    <a:pt x="0" y="198310"/>
                  </a:lnTo>
                  <a:close/>
                </a:path>
              </a:pathLst>
            </a:custGeom>
            <a:solidFill>
              <a:srgbClr val="021A3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261285" cy="198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 dirty="0">
                  <a:solidFill>
                    <a:srgbClr val="FFFFFF"/>
                  </a:solidFill>
                  <a:latin typeface="Cormorant Garamond Semi-Bold"/>
                  <a:ea typeface="Cormorant Garamond Semi-Bold"/>
                  <a:cs typeface="Cormorant Garamond Semi-Bold"/>
                  <a:sym typeface="Cormorant Garamond Semi-Bold"/>
                </a:rPr>
                <a:t>PROPERTY LOCATION &amp; VICINITY MAP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3350" y="0"/>
            <a:ext cx="21430473" cy="5365164"/>
            <a:chOff x="0" y="0"/>
            <a:chExt cx="28573964" cy="71535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7150045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4185187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21423919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-133350" y="5365164"/>
            <a:ext cx="21430473" cy="5365164"/>
            <a:chOff x="0" y="0"/>
            <a:chExt cx="28573964" cy="715355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7150045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14300091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21423919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-9525" y="10097679"/>
            <a:ext cx="18288000" cy="454842"/>
            <a:chOff x="0" y="0"/>
            <a:chExt cx="4816593" cy="11979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16592" cy="119794"/>
            </a:xfrm>
            <a:custGeom>
              <a:avLst/>
              <a:gdLst/>
              <a:ahLst/>
              <a:cxnLst/>
              <a:rect l="l" t="t" r="r" b="b"/>
              <a:pathLst>
                <a:path w="4816592" h="119794">
                  <a:moveTo>
                    <a:pt x="0" y="0"/>
                  </a:moveTo>
                  <a:lnTo>
                    <a:pt x="4816592" y="0"/>
                  </a:lnTo>
                  <a:lnTo>
                    <a:pt x="4816592" y="119794"/>
                  </a:lnTo>
                  <a:lnTo>
                    <a:pt x="0" y="119794"/>
                  </a:lnTo>
                  <a:close/>
                </a:path>
              </a:pathLst>
            </a:custGeom>
            <a:gradFill rotWithShape="1">
              <a:gsLst>
                <a:gs pos="0">
                  <a:srgbClr val="0C0C0E">
                    <a:alpha val="100000"/>
                  </a:srgbClr>
                </a:gs>
                <a:gs pos="50000">
                  <a:srgbClr val="003366">
                    <a:alpha val="100000"/>
                  </a:srgbClr>
                </a:gs>
                <a:gs pos="100000">
                  <a:srgbClr val="C9A84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4816593" cy="129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089842" y="573636"/>
            <a:ext cx="1169458" cy="895542"/>
            <a:chOff x="0" y="0"/>
            <a:chExt cx="1068108" cy="81793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68070" cy="817880"/>
            </a:xfrm>
            <a:custGeom>
              <a:avLst/>
              <a:gdLst/>
              <a:ahLst/>
              <a:cxnLst/>
              <a:rect l="l" t="t" r="r" b="b"/>
              <a:pathLst>
                <a:path w="1068070" h="817880">
                  <a:moveTo>
                    <a:pt x="0" y="0"/>
                  </a:moveTo>
                  <a:lnTo>
                    <a:pt x="1068070" y="0"/>
                  </a:lnTo>
                  <a:lnTo>
                    <a:pt x="1068070" y="817880"/>
                  </a:lnTo>
                  <a:lnTo>
                    <a:pt x="0" y="817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3" b="-6"/>
              </a:stretch>
            </a:blipFill>
          </p:spPr>
        </p:sp>
      </p:grpSp>
      <p:sp>
        <p:nvSpPr>
          <p:cNvPr id="17" name="AutoShape 17"/>
          <p:cNvSpPr/>
          <p:nvPr/>
        </p:nvSpPr>
        <p:spPr>
          <a:xfrm>
            <a:off x="1094551" y="1350321"/>
            <a:ext cx="14840038" cy="0"/>
          </a:xfrm>
          <a:prstGeom prst="line">
            <a:avLst/>
          </a:prstGeom>
          <a:ln w="38100" cap="flat">
            <a:solidFill>
              <a:srgbClr val="C9A84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Freeform 18"/>
          <p:cNvSpPr/>
          <p:nvPr/>
        </p:nvSpPr>
        <p:spPr>
          <a:xfrm>
            <a:off x="1094551" y="2576250"/>
            <a:ext cx="1570981" cy="6012397"/>
          </a:xfrm>
          <a:custGeom>
            <a:avLst/>
            <a:gdLst/>
            <a:ahLst/>
            <a:cxnLst/>
            <a:rect l="l" t="t" r="r" b="b"/>
            <a:pathLst>
              <a:path w="1570981" h="6012397">
                <a:moveTo>
                  <a:pt x="0" y="0"/>
                </a:moveTo>
                <a:lnTo>
                  <a:pt x="1570981" y="0"/>
                </a:lnTo>
                <a:lnTo>
                  <a:pt x="1570981" y="6012398"/>
                </a:lnTo>
                <a:lnTo>
                  <a:pt x="0" y="60123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94551" y="657250"/>
            <a:ext cx="15845438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50"/>
              </a:lnSpc>
            </a:pPr>
            <a:r>
              <a:rPr lang="en-US" sz="5000">
                <a:solidFill>
                  <a:srgbClr val="272828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VICINITY OVERVIEW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0EC21A-0DB5-2790-1ADC-B817D2664CA6}"/>
              </a:ext>
            </a:extLst>
          </p:cNvPr>
          <p:cNvSpPr/>
          <p:nvPr/>
        </p:nvSpPr>
        <p:spPr>
          <a:xfrm>
            <a:off x="9972557" y="1961893"/>
            <a:ext cx="7294458" cy="7267786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800" dirty="0">
                <a:solidFill>
                  <a:schemeClr val="tx1"/>
                </a:solidFill>
              </a:rPr>
              <a:t>{{VICINITY_MAP}}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16256000" cy="914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56000" cy="9144000"/>
            </a:xfrm>
            <a:custGeom>
              <a:avLst/>
              <a:gdLst/>
              <a:ahLst/>
              <a:cxnLst/>
              <a:rect l="l" t="t" r="r" b="b"/>
              <a:pathLst>
                <a:path w="16256000" h="9144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1B3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8575" y="0"/>
            <a:ext cx="18259425" cy="4574242"/>
            <a:chOff x="0" y="0"/>
            <a:chExt cx="24345900" cy="60989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96000" cy="6098990"/>
            </a:xfrm>
            <a:custGeom>
              <a:avLst/>
              <a:gdLst/>
              <a:ahLst/>
              <a:cxnLst/>
              <a:rect l="l" t="t" r="r" b="b"/>
              <a:pathLst>
                <a:path w="6096000" h="6098990">
                  <a:moveTo>
                    <a:pt x="0" y="0"/>
                  </a:moveTo>
                  <a:lnTo>
                    <a:pt x="6096000" y="0"/>
                  </a:lnTo>
                  <a:lnTo>
                    <a:pt x="6096000" y="6098990"/>
                  </a:lnTo>
                  <a:lnTo>
                    <a:pt x="0" y="6098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6057900" y="0"/>
              <a:ext cx="6096000" cy="6098990"/>
            </a:xfrm>
            <a:custGeom>
              <a:avLst/>
              <a:gdLst/>
              <a:ahLst/>
              <a:cxnLst/>
              <a:rect l="l" t="t" r="r" b="b"/>
              <a:pathLst>
                <a:path w="6096000" h="6098990">
                  <a:moveTo>
                    <a:pt x="0" y="0"/>
                  </a:moveTo>
                  <a:lnTo>
                    <a:pt x="6096000" y="0"/>
                  </a:lnTo>
                  <a:lnTo>
                    <a:pt x="6096000" y="6098990"/>
                  </a:lnTo>
                  <a:lnTo>
                    <a:pt x="0" y="6098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2153900" y="0"/>
              <a:ext cx="6096000" cy="6098990"/>
            </a:xfrm>
            <a:custGeom>
              <a:avLst/>
              <a:gdLst/>
              <a:ahLst/>
              <a:cxnLst/>
              <a:rect l="l" t="t" r="r" b="b"/>
              <a:pathLst>
                <a:path w="6096000" h="6098990">
                  <a:moveTo>
                    <a:pt x="0" y="0"/>
                  </a:moveTo>
                  <a:lnTo>
                    <a:pt x="6096000" y="0"/>
                  </a:lnTo>
                  <a:lnTo>
                    <a:pt x="6096000" y="6098990"/>
                  </a:lnTo>
                  <a:lnTo>
                    <a:pt x="0" y="6098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8249900" y="0"/>
              <a:ext cx="6096000" cy="6098990"/>
            </a:xfrm>
            <a:custGeom>
              <a:avLst/>
              <a:gdLst/>
              <a:ahLst/>
              <a:cxnLst/>
              <a:rect l="l" t="t" r="r" b="b"/>
              <a:pathLst>
                <a:path w="6096000" h="6098990">
                  <a:moveTo>
                    <a:pt x="0" y="0"/>
                  </a:moveTo>
                  <a:lnTo>
                    <a:pt x="6096000" y="0"/>
                  </a:lnTo>
                  <a:lnTo>
                    <a:pt x="6096000" y="6098990"/>
                  </a:lnTo>
                  <a:lnTo>
                    <a:pt x="0" y="6098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0" y="4574242"/>
            <a:ext cx="4572000" cy="4574242"/>
          </a:xfrm>
          <a:custGeom>
            <a:avLst/>
            <a:gdLst/>
            <a:ahLst/>
            <a:cxnLst/>
            <a:rect l="l" t="t" r="r" b="b"/>
            <a:pathLst>
              <a:path w="4572000" h="4574242">
                <a:moveTo>
                  <a:pt x="0" y="0"/>
                </a:moveTo>
                <a:lnTo>
                  <a:pt x="4572000" y="0"/>
                </a:lnTo>
                <a:lnTo>
                  <a:pt x="4572000" y="4574243"/>
                </a:lnTo>
                <a:lnTo>
                  <a:pt x="0" y="45742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572000" y="4574242"/>
            <a:ext cx="4572000" cy="4574242"/>
          </a:xfrm>
          <a:custGeom>
            <a:avLst/>
            <a:gdLst/>
            <a:ahLst/>
            <a:cxnLst/>
            <a:rect l="l" t="t" r="r" b="b"/>
            <a:pathLst>
              <a:path w="4572000" h="4574242">
                <a:moveTo>
                  <a:pt x="0" y="0"/>
                </a:moveTo>
                <a:lnTo>
                  <a:pt x="4572000" y="0"/>
                </a:lnTo>
                <a:lnTo>
                  <a:pt x="4572000" y="4574243"/>
                </a:lnTo>
                <a:lnTo>
                  <a:pt x="0" y="45742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144000" y="4574242"/>
            <a:ext cx="4572000" cy="4574242"/>
          </a:xfrm>
          <a:custGeom>
            <a:avLst/>
            <a:gdLst/>
            <a:ahLst/>
            <a:cxnLst/>
            <a:rect l="l" t="t" r="r" b="b"/>
            <a:pathLst>
              <a:path w="4572000" h="4574242">
                <a:moveTo>
                  <a:pt x="0" y="0"/>
                </a:moveTo>
                <a:lnTo>
                  <a:pt x="4572000" y="0"/>
                </a:lnTo>
                <a:lnTo>
                  <a:pt x="4572000" y="4574243"/>
                </a:lnTo>
                <a:lnTo>
                  <a:pt x="0" y="45742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716000" y="4574242"/>
            <a:ext cx="4572000" cy="4574242"/>
          </a:xfrm>
          <a:custGeom>
            <a:avLst/>
            <a:gdLst/>
            <a:ahLst/>
            <a:cxnLst/>
            <a:rect l="l" t="t" r="r" b="b"/>
            <a:pathLst>
              <a:path w="4572000" h="4574242">
                <a:moveTo>
                  <a:pt x="0" y="0"/>
                </a:moveTo>
                <a:lnTo>
                  <a:pt x="4572000" y="0"/>
                </a:lnTo>
                <a:lnTo>
                  <a:pt x="4572000" y="4574243"/>
                </a:lnTo>
                <a:lnTo>
                  <a:pt x="0" y="45742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28575" y="9148485"/>
            <a:ext cx="18259425" cy="4574242"/>
            <a:chOff x="0" y="0"/>
            <a:chExt cx="24345900" cy="609899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096000" cy="6098990"/>
            </a:xfrm>
            <a:custGeom>
              <a:avLst/>
              <a:gdLst/>
              <a:ahLst/>
              <a:cxnLst/>
              <a:rect l="l" t="t" r="r" b="b"/>
              <a:pathLst>
                <a:path w="6096000" h="6098990">
                  <a:moveTo>
                    <a:pt x="0" y="0"/>
                  </a:moveTo>
                  <a:lnTo>
                    <a:pt x="6096000" y="0"/>
                  </a:lnTo>
                  <a:lnTo>
                    <a:pt x="6096000" y="6098990"/>
                  </a:lnTo>
                  <a:lnTo>
                    <a:pt x="0" y="6098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6057900" y="0"/>
              <a:ext cx="6096000" cy="6098990"/>
            </a:xfrm>
            <a:custGeom>
              <a:avLst/>
              <a:gdLst/>
              <a:ahLst/>
              <a:cxnLst/>
              <a:rect l="l" t="t" r="r" b="b"/>
              <a:pathLst>
                <a:path w="6096000" h="6098990">
                  <a:moveTo>
                    <a:pt x="0" y="0"/>
                  </a:moveTo>
                  <a:lnTo>
                    <a:pt x="6096000" y="0"/>
                  </a:lnTo>
                  <a:lnTo>
                    <a:pt x="6096000" y="6098990"/>
                  </a:lnTo>
                  <a:lnTo>
                    <a:pt x="0" y="6098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2153900" y="0"/>
              <a:ext cx="6096000" cy="6098990"/>
            </a:xfrm>
            <a:custGeom>
              <a:avLst/>
              <a:gdLst/>
              <a:ahLst/>
              <a:cxnLst/>
              <a:rect l="l" t="t" r="r" b="b"/>
              <a:pathLst>
                <a:path w="6096000" h="6098990">
                  <a:moveTo>
                    <a:pt x="0" y="0"/>
                  </a:moveTo>
                  <a:lnTo>
                    <a:pt x="6096000" y="0"/>
                  </a:lnTo>
                  <a:lnTo>
                    <a:pt x="6096000" y="6098990"/>
                  </a:lnTo>
                  <a:lnTo>
                    <a:pt x="0" y="6098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8249900" y="0"/>
              <a:ext cx="6096000" cy="6098990"/>
            </a:xfrm>
            <a:custGeom>
              <a:avLst/>
              <a:gdLst/>
              <a:ahLst/>
              <a:cxnLst/>
              <a:rect l="l" t="t" r="r" b="b"/>
              <a:pathLst>
                <a:path w="6096000" h="6098990">
                  <a:moveTo>
                    <a:pt x="0" y="0"/>
                  </a:moveTo>
                  <a:lnTo>
                    <a:pt x="6096000" y="0"/>
                  </a:lnTo>
                  <a:lnTo>
                    <a:pt x="6096000" y="6098990"/>
                  </a:lnTo>
                  <a:lnTo>
                    <a:pt x="0" y="6098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4848261" y="0"/>
            <a:ext cx="13439738" cy="10287000"/>
          </a:xfrm>
          <a:custGeom>
            <a:avLst/>
            <a:gdLst/>
            <a:ahLst/>
            <a:cxnLst/>
            <a:rect l="l" t="t" r="r" b="b"/>
            <a:pathLst>
              <a:path w="13439738" h="10287000">
                <a:moveTo>
                  <a:pt x="0" y="0"/>
                </a:moveTo>
                <a:lnTo>
                  <a:pt x="13439739" y="0"/>
                </a:lnTo>
                <a:lnTo>
                  <a:pt x="1343973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"/>
            </a:blip>
            <a:stretch>
              <a:fillRect t="-2" b="-2"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6230600" y="685800"/>
            <a:ext cx="1371600" cy="1057275"/>
            <a:chOff x="0" y="0"/>
            <a:chExt cx="1219200" cy="939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19200" cy="939800"/>
            </a:xfrm>
            <a:custGeom>
              <a:avLst/>
              <a:gdLst/>
              <a:ahLst/>
              <a:cxnLst/>
              <a:rect l="l" t="t" r="r" b="b"/>
              <a:pathLst>
                <a:path w="1219200" h="939800">
                  <a:moveTo>
                    <a:pt x="0" y="0"/>
                  </a:moveTo>
                  <a:lnTo>
                    <a:pt x="1219200" y="0"/>
                  </a:lnTo>
                  <a:lnTo>
                    <a:pt x="1219200" y="939800"/>
                  </a:lnTo>
                  <a:lnTo>
                    <a:pt x="0" y="93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823431" y="5320355"/>
            <a:ext cx="9718572" cy="2966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17"/>
              </a:lnSpc>
            </a:pPr>
            <a:r>
              <a:rPr lang="en-US" sz="10814" dirty="0">
                <a:solidFill>
                  <a:srgbClr val="FFFCFB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Trade Area </a:t>
            </a:r>
            <a:r>
              <a:rPr lang="en-US" sz="10814" i="1" dirty="0">
                <a:solidFill>
                  <a:srgbClr val="C9A84C"/>
                </a:solidFill>
                <a:latin typeface="Cormorant Garamond Light Italics"/>
                <a:ea typeface="Cormorant Garamond Light Italics"/>
                <a:cs typeface="Cormorant Garamond Light Italics"/>
                <a:sym typeface="Cormorant Garamond Light Italics"/>
              </a:rPr>
              <a:t>Landscape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5753" y="4971145"/>
            <a:ext cx="10542003" cy="306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5"/>
              </a:lnSpc>
              <a:spcBef>
                <a:spcPct val="0"/>
              </a:spcBef>
            </a:pPr>
            <a:r>
              <a:rPr lang="en-US" sz="1803" b="1" spc="721" dirty="0">
                <a:solidFill>
                  <a:srgbClr val="C9A84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{{PROPERTY_LOCATION}} {{PROPERTY_TYPE}}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5753" y="8545427"/>
            <a:ext cx="4972720" cy="30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5"/>
              </a:lnSpc>
              <a:spcBef>
                <a:spcPct val="0"/>
              </a:spcBef>
            </a:pPr>
            <a:r>
              <a:rPr lang="en-US" sz="1803" b="1" spc="721">
                <a:solidFill>
                  <a:srgbClr val="FFFCF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PRIME PHILIPPINES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3350" y="0"/>
            <a:ext cx="21450136" cy="10730328"/>
            <a:chOff x="0" y="0"/>
            <a:chExt cx="28600182" cy="143071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7150045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4300091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21450136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7150045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4300091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450136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0" y="10112604"/>
            <a:ext cx="18288000" cy="174396"/>
            <a:chOff x="0" y="0"/>
            <a:chExt cx="4816593" cy="4593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16592" cy="45931"/>
            </a:xfrm>
            <a:custGeom>
              <a:avLst/>
              <a:gdLst/>
              <a:ahLst/>
              <a:cxnLst/>
              <a:rect l="l" t="t" r="r" b="b"/>
              <a:pathLst>
                <a:path w="4816592" h="45931">
                  <a:moveTo>
                    <a:pt x="0" y="0"/>
                  </a:moveTo>
                  <a:lnTo>
                    <a:pt x="4816592" y="0"/>
                  </a:lnTo>
                  <a:lnTo>
                    <a:pt x="4816592" y="45931"/>
                  </a:lnTo>
                  <a:lnTo>
                    <a:pt x="0" y="45931"/>
                  </a:lnTo>
                  <a:close/>
                </a:path>
              </a:pathLst>
            </a:custGeom>
            <a:gradFill rotWithShape="1">
              <a:gsLst>
                <a:gs pos="0">
                  <a:srgbClr val="0C0C0E">
                    <a:alpha val="100000"/>
                  </a:srgbClr>
                </a:gs>
                <a:gs pos="50000">
                  <a:srgbClr val="003366">
                    <a:alpha val="100000"/>
                  </a:srgbClr>
                </a:gs>
                <a:gs pos="100000">
                  <a:srgbClr val="C9A84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4816593" cy="55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460879" y="656836"/>
            <a:ext cx="1260030" cy="964900"/>
            <a:chOff x="0" y="0"/>
            <a:chExt cx="1068108" cy="81793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68070" cy="817880"/>
            </a:xfrm>
            <a:custGeom>
              <a:avLst/>
              <a:gdLst/>
              <a:ahLst/>
              <a:cxnLst/>
              <a:rect l="l" t="t" r="r" b="b"/>
              <a:pathLst>
                <a:path w="1068070" h="817880">
                  <a:moveTo>
                    <a:pt x="0" y="0"/>
                  </a:moveTo>
                  <a:lnTo>
                    <a:pt x="1068070" y="0"/>
                  </a:lnTo>
                  <a:lnTo>
                    <a:pt x="1068070" y="817880"/>
                  </a:lnTo>
                  <a:lnTo>
                    <a:pt x="0" y="817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3" b="-6"/>
              </a:stretch>
            </a:blipFill>
          </p:spPr>
        </p:sp>
      </p:grpSp>
      <p:sp>
        <p:nvSpPr>
          <p:cNvPr id="16" name="AutoShape 16"/>
          <p:cNvSpPr/>
          <p:nvPr/>
        </p:nvSpPr>
        <p:spPr>
          <a:xfrm>
            <a:off x="1094551" y="1350321"/>
            <a:ext cx="14840038" cy="0"/>
          </a:xfrm>
          <a:prstGeom prst="line">
            <a:avLst/>
          </a:prstGeom>
          <a:ln w="38100" cap="flat">
            <a:solidFill>
              <a:srgbClr val="C9A84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Freeform 18"/>
          <p:cNvSpPr/>
          <p:nvPr/>
        </p:nvSpPr>
        <p:spPr>
          <a:xfrm>
            <a:off x="14355823" y="8533173"/>
            <a:ext cx="2903477" cy="1450255"/>
          </a:xfrm>
          <a:custGeom>
            <a:avLst/>
            <a:gdLst/>
            <a:ahLst/>
            <a:cxnLst/>
            <a:rect l="l" t="t" r="r" b="b"/>
            <a:pathLst>
              <a:path w="2903477" h="1450255">
                <a:moveTo>
                  <a:pt x="0" y="0"/>
                </a:moveTo>
                <a:lnTo>
                  <a:pt x="2903477" y="0"/>
                </a:lnTo>
                <a:lnTo>
                  <a:pt x="2903477" y="1450254"/>
                </a:lnTo>
                <a:lnTo>
                  <a:pt x="0" y="1450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099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9" name="TextBox 19"/>
          <p:cNvSpPr txBox="1"/>
          <p:nvPr/>
        </p:nvSpPr>
        <p:spPr>
          <a:xfrm>
            <a:off x="1094551" y="657250"/>
            <a:ext cx="15845438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50"/>
              </a:lnSpc>
            </a:pPr>
            <a:r>
              <a:rPr lang="en-US" sz="5000">
                <a:solidFill>
                  <a:srgbClr val="272828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TRADE AREA OVERVIEW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5313"/>
            <a:ext cx="18399296" cy="10263357"/>
            <a:chOff x="0" y="0"/>
            <a:chExt cx="16256000" cy="9067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56000" cy="9067800"/>
            </a:xfrm>
            <a:custGeom>
              <a:avLst/>
              <a:gdLst/>
              <a:ahLst/>
              <a:cxnLst/>
              <a:rect l="l" t="t" r="r" b="b"/>
              <a:pathLst>
                <a:path w="16256000" h="9067800">
                  <a:moveTo>
                    <a:pt x="0" y="0"/>
                  </a:moveTo>
                  <a:lnTo>
                    <a:pt x="16256000" y="0"/>
                  </a:lnTo>
                  <a:lnTo>
                    <a:pt x="16256000" y="9067800"/>
                  </a:lnTo>
                  <a:lnTo>
                    <a:pt x="0" y="906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663152" y="1028700"/>
            <a:ext cx="12031200" cy="1285151"/>
          </a:xfrm>
          <a:custGeom>
            <a:avLst/>
            <a:gdLst/>
            <a:ahLst/>
            <a:cxnLst/>
            <a:rect l="l" t="t" r="r" b="b"/>
            <a:pathLst>
              <a:path w="16041601" h="1713534">
                <a:moveTo>
                  <a:pt x="0" y="0"/>
                </a:moveTo>
                <a:lnTo>
                  <a:pt x="16041601" y="0"/>
                </a:lnTo>
                <a:lnTo>
                  <a:pt x="16041601" y="1713534"/>
                </a:lnTo>
                <a:lnTo>
                  <a:pt x="0" y="1713534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132413" b="-13241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34123" y="868472"/>
            <a:ext cx="12031199" cy="128514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7439"/>
              </a:lnSpc>
            </a:pPr>
            <a:r>
              <a:rPr lang="en-US" sz="4800" i="1" dirty="0">
                <a:solidFill>
                  <a:srgbClr val="003366"/>
                </a:solidFill>
                <a:latin typeface="Cormorant Garamond Light Italics"/>
                <a:ea typeface="Cormorant Garamond Light Italics"/>
                <a:cs typeface="Cormorant Garamond Light Italics"/>
                <a:sym typeface="Cormorant Garamond Light Italics"/>
              </a:rPr>
              <a:t>{{PROPERTY_LOCATION}}</a:t>
            </a:r>
          </a:p>
        </p:txBody>
      </p:sp>
      <p:sp>
        <p:nvSpPr>
          <p:cNvPr id="9" name="Freeform 9"/>
          <p:cNvSpPr/>
          <p:nvPr/>
        </p:nvSpPr>
        <p:spPr>
          <a:xfrm>
            <a:off x="16220378" y="911312"/>
            <a:ext cx="1038922" cy="795208"/>
          </a:xfrm>
          <a:custGeom>
            <a:avLst/>
            <a:gdLst/>
            <a:ahLst/>
            <a:cxnLst/>
            <a:rect l="l" t="t" r="r" b="b"/>
            <a:pathLst>
              <a:path w="1038922" h="795208">
                <a:moveTo>
                  <a:pt x="0" y="0"/>
                </a:moveTo>
                <a:lnTo>
                  <a:pt x="1038922" y="0"/>
                </a:lnTo>
                <a:lnTo>
                  <a:pt x="1038922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-9525" y="10097679"/>
            <a:ext cx="18288000" cy="454842"/>
            <a:chOff x="0" y="0"/>
            <a:chExt cx="4816593" cy="11979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16592" cy="119794"/>
            </a:xfrm>
            <a:custGeom>
              <a:avLst/>
              <a:gdLst/>
              <a:ahLst/>
              <a:cxnLst/>
              <a:rect l="l" t="t" r="r" b="b"/>
              <a:pathLst>
                <a:path w="4816592" h="119794">
                  <a:moveTo>
                    <a:pt x="0" y="0"/>
                  </a:moveTo>
                  <a:lnTo>
                    <a:pt x="4816592" y="0"/>
                  </a:lnTo>
                  <a:lnTo>
                    <a:pt x="4816592" y="119794"/>
                  </a:lnTo>
                  <a:lnTo>
                    <a:pt x="0" y="119794"/>
                  </a:lnTo>
                  <a:close/>
                </a:path>
              </a:pathLst>
            </a:custGeom>
            <a:gradFill rotWithShape="1">
              <a:gsLst>
                <a:gs pos="0">
                  <a:srgbClr val="0C0C0E">
                    <a:alpha val="100000"/>
                  </a:srgbClr>
                </a:gs>
                <a:gs pos="50000">
                  <a:srgbClr val="003366">
                    <a:alpha val="100000"/>
                  </a:srgbClr>
                </a:gs>
                <a:gs pos="100000">
                  <a:srgbClr val="C9A84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4816593" cy="129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133350" y="275743"/>
            <a:ext cx="4683825" cy="752957"/>
            <a:chOff x="0" y="0"/>
            <a:chExt cx="1233600" cy="19831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33600" cy="198310"/>
            </a:xfrm>
            <a:custGeom>
              <a:avLst/>
              <a:gdLst/>
              <a:ahLst/>
              <a:cxnLst/>
              <a:rect l="l" t="t" r="r" b="b"/>
              <a:pathLst>
                <a:path w="1233600" h="198310">
                  <a:moveTo>
                    <a:pt x="0" y="0"/>
                  </a:moveTo>
                  <a:lnTo>
                    <a:pt x="1233600" y="0"/>
                  </a:lnTo>
                  <a:lnTo>
                    <a:pt x="1233600" y="198310"/>
                  </a:lnTo>
                  <a:lnTo>
                    <a:pt x="0" y="198310"/>
                  </a:lnTo>
                  <a:close/>
                </a:path>
              </a:pathLst>
            </a:custGeom>
            <a:solidFill>
              <a:srgbClr val="021A3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233600" cy="198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FFFFFF"/>
                  </a:solidFill>
                  <a:latin typeface="Cormorant Garamond Semi-Bold"/>
                  <a:ea typeface="Cormorant Garamond Semi-Bold"/>
                  <a:cs typeface="Cormorant Garamond Semi-Bold"/>
                  <a:sym typeface="Cormorant Garamond Semi-Bold"/>
                </a:rPr>
                <a:t>PROPERTY PHOTOS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03437D1-C810-DDC2-B470-18B11B61E039}"/>
              </a:ext>
            </a:extLst>
          </p:cNvPr>
          <p:cNvSpPr/>
          <p:nvPr/>
        </p:nvSpPr>
        <p:spPr>
          <a:xfrm>
            <a:off x="2194048" y="2227307"/>
            <a:ext cx="6386272" cy="3683176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solidFill>
                  <a:srgbClr val="002060"/>
                </a:solidFill>
              </a:rPr>
              <a:t>{{PROPERTY_PHOTO_1}}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6D4930-3208-9EDC-FDF8-B581D8ADEC40}"/>
              </a:ext>
            </a:extLst>
          </p:cNvPr>
          <p:cNvSpPr/>
          <p:nvPr/>
        </p:nvSpPr>
        <p:spPr>
          <a:xfrm>
            <a:off x="2194048" y="6218105"/>
            <a:ext cx="6386272" cy="3683176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solidFill>
                  <a:srgbClr val="002060"/>
                </a:solidFill>
              </a:rPr>
              <a:t>{{PROPERTY_PHOTO_2}}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A408094-E50B-88F8-3812-DA2C438D1B46}"/>
              </a:ext>
            </a:extLst>
          </p:cNvPr>
          <p:cNvSpPr/>
          <p:nvPr/>
        </p:nvSpPr>
        <p:spPr>
          <a:xfrm>
            <a:off x="9596012" y="2189783"/>
            <a:ext cx="6386272" cy="3683176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solidFill>
                  <a:srgbClr val="002060"/>
                </a:solidFill>
              </a:rPr>
              <a:t>{{PROPERTY_PHOTO_3}}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0D80DA-FE4A-7A63-6286-D7791347E013}"/>
              </a:ext>
            </a:extLst>
          </p:cNvPr>
          <p:cNvSpPr/>
          <p:nvPr/>
        </p:nvSpPr>
        <p:spPr>
          <a:xfrm>
            <a:off x="9585126" y="6202324"/>
            <a:ext cx="6386272" cy="3683176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solidFill>
                  <a:srgbClr val="002060"/>
                </a:solidFill>
              </a:rPr>
              <a:t>{{PROPERTY_PHOTO_4}}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3350" y="0"/>
            <a:ext cx="21450136" cy="10730328"/>
            <a:chOff x="0" y="0"/>
            <a:chExt cx="28600182" cy="143071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7150045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4300091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21450136" y="0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7150045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4300091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5" y="0"/>
                  </a:lnTo>
                  <a:lnTo>
                    <a:pt x="7150045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1450136" y="7153552"/>
              <a:ext cx="7150045" cy="7153552"/>
            </a:xfrm>
            <a:custGeom>
              <a:avLst/>
              <a:gdLst/>
              <a:ahLst/>
              <a:cxnLst/>
              <a:rect l="l" t="t" r="r" b="b"/>
              <a:pathLst>
                <a:path w="7150045" h="7153552">
                  <a:moveTo>
                    <a:pt x="0" y="0"/>
                  </a:moveTo>
                  <a:lnTo>
                    <a:pt x="7150046" y="0"/>
                  </a:lnTo>
                  <a:lnTo>
                    <a:pt x="7150046" y="7153552"/>
                  </a:lnTo>
                  <a:lnTo>
                    <a:pt x="0" y="7153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5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264" b="-215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0" y="10112604"/>
            <a:ext cx="18288000" cy="174396"/>
            <a:chOff x="0" y="0"/>
            <a:chExt cx="4816593" cy="4593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16592" cy="45931"/>
            </a:xfrm>
            <a:custGeom>
              <a:avLst/>
              <a:gdLst/>
              <a:ahLst/>
              <a:cxnLst/>
              <a:rect l="l" t="t" r="r" b="b"/>
              <a:pathLst>
                <a:path w="4816592" h="45931">
                  <a:moveTo>
                    <a:pt x="0" y="0"/>
                  </a:moveTo>
                  <a:lnTo>
                    <a:pt x="4816592" y="0"/>
                  </a:lnTo>
                  <a:lnTo>
                    <a:pt x="4816592" y="45931"/>
                  </a:lnTo>
                  <a:lnTo>
                    <a:pt x="0" y="45931"/>
                  </a:lnTo>
                  <a:close/>
                </a:path>
              </a:pathLst>
            </a:custGeom>
            <a:gradFill rotWithShape="1">
              <a:gsLst>
                <a:gs pos="0">
                  <a:srgbClr val="0C0C0E">
                    <a:alpha val="100000"/>
                  </a:srgbClr>
                </a:gs>
                <a:gs pos="50000">
                  <a:srgbClr val="003366">
                    <a:alpha val="100000"/>
                  </a:srgbClr>
                </a:gs>
                <a:gs pos="100000">
                  <a:srgbClr val="C9A84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4816593" cy="55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460879" y="656836"/>
            <a:ext cx="1260030" cy="964900"/>
            <a:chOff x="0" y="0"/>
            <a:chExt cx="1068108" cy="81793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68070" cy="817880"/>
            </a:xfrm>
            <a:custGeom>
              <a:avLst/>
              <a:gdLst/>
              <a:ahLst/>
              <a:cxnLst/>
              <a:rect l="l" t="t" r="r" b="b"/>
              <a:pathLst>
                <a:path w="1068070" h="817880">
                  <a:moveTo>
                    <a:pt x="0" y="0"/>
                  </a:moveTo>
                  <a:lnTo>
                    <a:pt x="1068070" y="0"/>
                  </a:lnTo>
                  <a:lnTo>
                    <a:pt x="1068070" y="817880"/>
                  </a:lnTo>
                  <a:lnTo>
                    <a:pt x="0" y="817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3" b="-6"/>
              </a:stretch>
            </a:blipFill>
          </p:spPr>
        </p:sp>
      </p:grpSp>
      <p:sp>
        <p:nvSpPr>
          <p:cNvPr id="16" name="AutoShape 16"/>
          <p:cNvSpPr/>
          <p:nvPr/>
        </p:nvSpPr>
        <p:spPr>
          <a:xfrm>
            <a:off x="1094551" y="1350321"/>
            <a:ext cx="14840038" cy="0"/>
          </a:xfrm>
          <a:prstGeom prst="line">
            <a:avLst/>
          </a:prstGeom>
          <a:ln w="38100" cap="flat">
            <a:solidFill>
              <a:srgbClr val="C9A84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1094551" y="657250"/>
            <a:ext cx="15845438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50"/>
              </a:lnSpc>
            </a:pPr>
            <a:r>
              <a:rPr lang="en-US" sz="5000">
                <a:solidFill>
                  <a:srgbClr val="272828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PROPERTY HIGHLIGHTS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5313"/>
            <a:ext cx="18399296" cy="10263357"/>
            <a:chOff x="0" y="0"/>
            <a:chExt cx="16256000" cy="9067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56000" cy="9067800"/>
            </a:xfrm>
            <a:custGeom>
              <a:avLst/>
              <a:gdLst/>
              <a:ahLst/>
              <a:cxnLst/>
              <a:rect l="l" t="t" r="r" b="b"/>
              <a:pathLst>
                <a:path w="16256000" h="9067800">
                  <a:moveTo>
                    <a:pt x="0" y="0"/>
                  </a:moveTo>
                  <a:lnTo>
                    <a:pt x="16256000" y="0"/>
                  </a:lnTo>
                  <a:lnTo>
                    <a:pt x="16256000" y="9067800"/>
                  </a:lnTo>
                  <a:lnTo>
                    <a:pt x="0" y="906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605584" y="1063947"/>
            <a:ext cx="12031200" cy="1285151"/>
          </a:xfrm>
          <a:custGeom>
            <a:avLst/>
            <a:gdLst/>
            <a:ahLst/>
            <a:cxnLst/>
            <a:rect l="l" t="t" r="r" b="b"/>
            <a:pathLst>
              <a:path w="16041601" h="1713534">
                <a:moveTo>
                  <a:pt x="0" y="0"/>
                </a:moveTo>
                <a:lnTo>
                  <a:pt x="16041601" y="0"/>
                </a:lnTo>
                <a:lnTo>
                  <a:pt x="16041601" y="1713534"/>
                </a:lnTo>
                <a:lnTo>
                  <a:pt x="0" y="1713534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132413" b="-13241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220378" y="911312"/>
            <a:ext cx="1038922" cy="795208"/>
          </a:xfrm>
          <a:custGeom>
            <a:avLst/>
            <a:gdLst/>
            <a:ahLst/>
            <a:cxnLst/>
            <a:rect l="l" t="t" r="r" b="b"/>
            <a:pathLst>
              <a:path w="1038922" h="795208">
                <a:moveTo>
                  <a:pt x="0" y="0"/>
                </a:moveTo>
                <a:lnTo>
                  <a:pt x="1038922" y="0"/>
                </a:lnTo>
                <a:lnTo>
                  <a:pt x="1038922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-9525" y="10097679"/>
            <a:ext cx="18288000" cy="454842"/>
            <a:chOff x="0" y="0"/>
            <a:chExt cx="4816593" cy="1197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119794"/>
            </a:xfrm>
            <a:custGeom>
              <a:avLst/>
              <a:gdLst/>
              <a:ahLst/>
              <a:cxnLst/>
              <a:rect l="l" t="t" r="r" b="b"/>
              <a:pathLst>
                <a:path w="4816592" h="119794">
                  <a:moveTo>
                    <a:pt x="0" y="0"/>
                  </a:moveTo>
                  <a:lnTo>
                    <a:pt x="4816592" y="0"/>
                  </a:lnTo>
                  <a:lnTo>
                    <a:pt x="4816592" y="119794"/>
                  </a:lnTo>
                  <a:lnTo>
                    <a:pt x="0" y="119794"/>
                  </a:lnTo>
                  <a:close/>
                </a:path>
              </a:pathLst>
            </a:custGeom>
            <a:gradFill rotWithShape="1">
              <a:gsLst>
                <a:gs pos="0">
                  <a:srgbClr val="0C0C0E">
                    <a:alpha val="100000"/>
                  </a:srgbClr>
                </a:gs>
                <a:gs pos="50000">
                  <a:srgbClr val="003366">
                    <a:alpha val="100000"/>
                  </a:srgbClr>
                </a:gs>
                <a:gs pos="100000">
                  <a:srgbClr val="C9A84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4816593" cy="129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33350" y="275743"/>
            <a:ext cx="4683825" cy="752957"/>
            <a:chOff x="0" y="0"/>
            <a:chExt cx="1233600" cy="19831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3600" cy="198310"/>
            </a:xfrm>
            <a:custGeom>
              <a:avLst/>
              <a:gdLst/>
              <a:ahLst/>
              <a:cxnLst/>
              <a:rect l="l" t="t" r="r" b="b"/>
              <a:pathLst>
                <a:path w="1233600" h="198310">
                  <a:moveTo>
                    <a:pt x="0" y="0"/>
                  </a:moveTo>
                  <a:lnTo>
                    <a:pt x="1233600" y="0"/>
                  </a:lnTo>
                  <a:lnTo>
                    <a:pt x="1233600" y="198310"/>
                  </a:lnTo>
                  <a:lnTo>
                    <a:pt x="0" y="198310"/>
                  </a:lnTo>
                  <a:close/>
                </a:path>
              </a:pathLst>
            </a:custGeom>
            <a:solidFill>
              <a:srgbClr val="021A3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233600" cy="198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FFFFFF"/>
                  </a:solidFill>
                  <a:latin typeface="Cormorant Garamond Semi-Bold"/>
                  <a:ea typeface="Cormorant Garamond Semi-Bold"/>
                  <a:cs typeface="Cormorant Garamond Semi-Bold"/>
                  <a:sym typeface="Cormorant Garamond Semi-Bold"/>
                </a:rPr>
                <a:t>LOT PLAN</a:t>
              </a:r>
            </a:p>
          </p:txBody>
        </p:sp>
      </p:grpSp>
      <p:sp>
        <p:nvSpPr>
          <p:cNvPr id="18" name="TextBox 6">
            <a:extLst>
              <a:ext uri="{FF2B5EF4-FFF2-40B4-BE49-F238E27FC236}">
                <a16:creationId xmlns:a16="http://schemas.microsoft.com/office/drawing/2014/main" id="{8900B78C-A72F-3735-E60F-CCB20A84E840}"/>
              </a:ext>
            </a:extLst>
          </p:cNvPr>
          <p:cNvSpPr txBox="1"/>
          <p:nvPr/>
        </p:nvSpPr>
        <p:spPr>
          <a:xfrm>
            <a:off x="627356" y="911312"/>
            <a:ext cx="12031199" cy="128514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7439"/>
              </a:lnSpc>
            </a:pPr>
            <a:r>
              <a:rPr lang="en-US" sz="4800" i="1" dirty="0">
                <a:solidFill>
                  <a:srgbClr val="003366"/>
                </a:solidFill>
                <a:latin typeface="Cormorant Garamond Light Italics"/>
                <a:ea typeface="Cormorant Garamond Light Italics"/>
                <a:cs typeface="Cormorant Garamond Light Italics"/>
                <a:sym typeface="Cormorant Garamond Light Italics"/>
              </a:rPr>
              <a:t>{{PROPERTY_LOCATION}}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D2C363-2CBC-3F33-2481-4A92866661F0}"/>
              </a:ext>
            </a:extLst>
          </p:cNvPr>
          <p:cNvSpPr/>
          <p:nvPr/>
        </p:nvSpPr>
        <p:spPr>
          <a:xfrm>
            <a:off x="2194048" y="2227306"/>
            <a:ext cx="14026330" cy="757589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700" dirty="0">
                <a:solidFill>
                  <a:srgbClr val="002060"/>
                </a:solidFill>
              </a:rPr>
              <a:t>{{LOT_PLAN}}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2D6389-626D-A922-152B-82434F280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662446A-60C5-1CD6-7C69-91A7F4F52B03}"/>
              </a:ext>
            </a:extLst>
          </p:cNvPr>
          <p:cNvGrpSpPr/>
          <p:nvPr/>
        </p:nvGrpSpPr>
        <p:grpSpPr>
          <a:xfrm>
            <a:off x="-9525" y="-5313"/>
            <a:ext cx="18399296" cy="10263357"/>
            <a:chOff x="0" y="0"/>
            <a:chExt cx="16256000" cy="9067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93738F6-9587-2E48-8A12-61F47C12E874}"/>
                </a:ext>
              </a:extLst>
            </p:cNvPr>
            <p:cNvSpPr/>
            <p:nvPr/>
          </p:nvSpPr>
          <p:spPr>
            <a:xfrm>
              <a:off x="0" y="0"/>
              <a:ext cx="16256000" cy="9067800"/>
            </a:xfrm>
            <a:custGeom>
              <a:avLst/>
              <a:gdLst/>
              <a:ahLst/>
              <a:cxnLst/>
              <a:rect l="l" t="t" r="r" b="b"/>
              <a:pathLst>
                <a:path w="16256000" h="9067800">
                  <a:moveTo>
                    <a:pt x="0" y="0"/>
                  </a:moveTo>
                  <a:lnTo>
                    <a:pt x="16256000" y="0"/>
                  </a:lnTo>
                  <a:lnTo>
                    <a:pt x="16256000" y="9067800"/>
                  </a:lnTo>
                  <a:lnTo>
                    <a:pt x="0" y="906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B340AAEB-D86E-A1BE-7C34-D3F93A9D4953}"/>
              </a:ext>
            </a:extLst>
          </p:cNvPr>
          <p:cNvSpPr/>
          <p:nvPr/>
        </p:nvSpPr>
        <p:spPr>
          <a:xfrm>
            <a:off x="605584" y="1063947"/>
            <a:ext cx="12031200" cy="1285151"/>
          </a:xfrm>
          <a:custGeom>
            <a:avLst/>
            <a:gdLst/>
            <a:ahLst/>
            <a:cxnLst/>
            <a:rect l="l" t="t" r="r" b="b"/>
            <a:pathLst>
              <a:path w="16041601" h="1713534">
                <a:moveTo>
                  <a:pt x="0" y="0"/>
                </a:moveTo>
                <a:lnTo>
                  <a:pt x="16041601" y="0"/>
                </a:lnTo>
                <a:lnTo>
                  <a:pt x="16041601" y="1713534"/>
                </a:lnTo>
                <a:lnTo>
                  <a:pt x="0" y="1713534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132413" b="-132412"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68A6F35-8A95-45EE-4B01-5B040D6CFA58}"/>
              </a:ext>
            </a:extLst>
          </p:cNvPr>
          <p:cNvSpPr/>
          <p:nvPr/>
        </p:nvSpPr>
        <p:spPr>
          <a:xfrm>
            <a:off x="16220378" y="911312"/>
            <a:ext cx="1038922" cy="795208"/>
          </a:xfrm>
          <a:custGeom>
            <a:avLst/>
            <a:gdLst/>
            <a:ahLst/>
            <a:cxnLst/>
            <a:rect l="l" t="t" r="r" b="b"/>
            <a:pathLst>
              <a:path w="1038922" h="795208">
                <a:moveTo>
                  <a:pt x="0" y="0"/>
                </a:moveTo>
                <a:lnTo>
                  <a:pt x="1038922" y="0"/>
                </a:lnTo>
                <a:lnTo>
                  <a:pt x="1038922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4EDA32A9-69C1-333C-5DD2-BC4C1C047E7B}"/>
              </a:ext>
            </a:extLst>
          </p:cNvPr>
          <p:cNvGrpSpPr/>
          <p:nvPr/>
        </p:nvGrpSpPr>
        <p:grpSpPr>
          <a:xfrm>
            <a:off x="-9525" y="10097679"/>
            <a:ext cx="18288000" cy="454842"/>
            <a:chOff x="0" y="0"/>
            <a:chExt cx="4816593" cy="119794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D5EBEF3-CA3D-A011-B64E-90B565E35D1C}"/>
                </a:ext>
              </a:extLst>
            </p:cNvPr>
            <p:cNvSpPr/>
            <p:nvPr/>
          </p:nvSpPr>
          <p:spPr>
            <a:xfrm>
              <a:off x="0" y="0"/>
              <a:ext cx="4816592" cy="119794"/>
            </a:xfrm>
            <a:custGeom>
              <a:avLst/>
              <a:gdLst/>
              <a:ahLst/>
              <a:cxnLst/>
              <a:rect l="l" t="t" r="r" b="b"/>
              <a:pathLst>
                <a:path w="4816592" h="119794">
                  <a:moveTo>
                    <a:pt x="0" y="0"/>
                  </a:moveTo>
                  <a:lnTo>
                    <a:pt x="4816592" y="0"/>
                  </a:lnTo>
                  <a:lnTo>
                    <a:pt x="4816592" y="119794"/>
                  </a:lnTo>
                  <a:lnTo>
                    <a:pt x="0" y="119794"/>
                  </a:lnTo>
                  <a:close/>
                </a:path>
              </a:pathLst>
            </a:custGeom>
            <a:gradFill rotWithShape="1">
              <a:gsLst>
                <a:gs pos="0">
                  <a:srgbClr val="0C0C0E">
                    <a:alpha val="100000"/>
                  </a:srgbClr>
                </a:gs>
                <a:gs pos="50000">
                  <a:srgbClr val="003366">
                    <a:alpha val="100000"/>
                  </a:srgbClr>
                </a:gs>
                <a:gs pos="100000">
                  <a:srgbClr val="C9A84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1E8A66F-95A5-82BA-17E7-190C18EB32AC}"/>
                </a:ext>
              </a:extLst>
            </p:cNvPr>
            <p:cNvSpPr txBox="1"/>
            <p:nvPr/>
          </p:nvSpPr>
          <p:spPr>
            <a:xfrm>
              <a:off x="0" y="-9525"/>
              <a:ext cx="4816593" cy="129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AF45C41C-2EE7-9496-8DAF-1B1F02F1EBC0}"/>
              </a:ext>
            </a:extLst>
          </p:cNvPr>
          <p:cNvGrpSpPr/>
          <p:nvPr/>
        </p:nvGrpSpPr>
        <p:grpSpPr>
          <a:xfrm>
            <a:off x="-133350" y="275743"/>
            <a:ext cx="4683825" cy="752957"/>
            <a:chOff x="0" y="0"/>
            <a:chExt cx="1233600" cy="19831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4364A57-07F4-3090-20FE-63B864AA6D55}"/>
                </a:ext>
              </a:extLst>
            </p:cNvPr>
            <p:cNvSpPr/>
            <p:nvPr/>
          </p:nvSpPr>
          <p:spPr>
            <a:xfrm>
              <a:off x="0" y="0"/>
              <a:ext cx="1233600" cy="198310"/>
            </a:xfrm>
            <a:custGeom>
              <a:avLst/>
              <a:gdLst/>
              <a:ahLst/>
              <a:cxnLst/>
              <a:rect l="l" t="t" r="r" b="b"/>
              <a:pathLst>
                <a:path w="1233600" h="198310">
                  <a:moveTo>
                    <a:pt x="0" y="0"/>
                  </a:moveTo>
                  <a:lnTo>
                    <a:pt x="1233600" y="0"/>
                  </a:lnTo>
                  <a:lnTo>
                    <a:pt x="1233600" y="198310"/>
                  </a:lnTo>
                  <a:lnTo>
                    <a:pt x="0" y="198310"/>
                  </a:lnTo>
                  <a:close/>
                </a:path>
              </a:pathLst>
            </a:custGeom>
            <a:solidFill>
              <a:srgbClr val="021A3D"/>
            </a:solidFill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FA62BF00-C596-C1DB-2731-82111370F7D2}"/>
                </a:ext>
              </a:extLst>
            </p:cNvPr>
            <p:cNvSpPr txBox="1"/>
            <p:nvPr/>
          </p:nvSpPr>
          <p:spPr>
            <a:xfrm>
              <a:off x="0" y="0"/>
              <a:ext cx="1233600" cy="198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 dirty="0">
                  <a:solidFill>
                    <a:srgbClr val="FFFFFF"/>
                  </a:solidFill>
                  <a:latin typeface="Cormorant Garamond Semi-Bold"/>
                  <a:ea typeface="Cormorant Garamond Semi-Bold"/>
                  <a:cs typeface="Cormorant Garamond Semi-Bold"/>
                  <a:sym typeface="Cormorant Garamond Semi-Bold"/>
                </a:rPr>
                <a:t>FLOOR PLAN</a:t>
              </a:r>
            </a:p>
          </p:txBody>
        </p:sp>
      </p:grpSp>
      <p:sp>
        <p:nvSpPr>
          <p:cNvPr id="18" name="TextBox 6">
            <a:extLst>
              <a:ext uri="{FF2B5EF4-FFF2-40B4-BE49-F238E27FC236}">
                <a16:creationId xmlns:a16="http://schemas.microsoft.com/office/drawing/2014/main" id="{05012FF9-C925-2757-1A92-E98BCA4F105A}"/>
              </a:ext>
            </a:extLst>
          </p:cNvPr>
          <p:cNvSpPr txBox="1"/>
          <p:nvPr/>
        </p:nvSpPr>
        <p:spPr>
          <a:xfrm>
            <a:off x="627356" y="911312"/>
            <a:ext cx="12031199" cy="128514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7439"/>
              </a:lnSpc>
            </a:pPr>
            <a:r>
              <a:rPr lang="en-US" sz="4800" i="1" dirty="0">
                <a:solidFill>
                  <a:srgbClr val="003366"/>
                </a:solidFill>
                <a:latin typeface="Cormorant Garamond Light Italics"/>
                <a:ea typeface="Cormorant Garamond Light Italics"/>
                <a:cs typeface="Cormorant Garamond Light Italics"/>
                <a:sym typeface="Cormorant Garamond Light Italics"/>
              </a:rPr>
              <a:t>{{PROPERTY_LOCATION}}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494F93-4E1C-B5A2-567F-D5D6BB933662}"/>
              </a:ext>
            </a:extLst>
          </p:cNvPr>
          <p:cNvSpPr/>
          <p:nvPr/>
        </p:nvSpPr>
        <p:spPr>
          <a:xfrm>
            <a:off x="2194048" y="2227306"/>
            <a:ext cx="14026330" cy="757589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700" dirty="0">
                <a:solidFill>
                  <a:srgbClr val="002060"/>
                </a:solidFill>
              </a:rPr>
              <a:t>{{FLOOR_PLAN}}</a:t>
            </a:r>
          </a:p>
        </p:txBody>
      </p:sp>
    </p:spTree>
    <p:extLst>
      <p:ext uri="{BB962C8B-B14F-4D97-AF65-F5344CB8AC3E}">
        <p14:creationId xmlns:p14="http://schemas.microsoft.com/office/powerpoint/2010/main" val="13282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5313"/>
            <a:ext cx="18399296" cy="10263357"/>
            <a:chOff x="0" y="0"/>
            <a:chExt cx="16256000" cy="9067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56000" cy="9067800"/>
            </a:xfrm>
            <a:custGeom>
              <a:avLst/>
              <a:gdLst/>
              <a:ahLst/>
              <a:cxnLst/>
              <a:rect l="l" t="t" r="r" b="b"/>
              <a:pathLst>
                <a:path w="16256000" h="9067800">
                  <a:moveTo>
                    <a:pt x="0" y="0"/>
                  </a:moveTo>
                  <a:lnTo>
                    <a:pt x="16256000" y="0"/>
                  </a:lnTo>
                  <a:lnTo>
                    <a:pt x="16256000" y="9067800"/>
                  </a:lnTo>
                  <a:lnTo>
                    <a:pt x="0" y="906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842471" y="2650080"/>
          <a:ext cx="6528804" cy="2786813"/>
        </p:xfrm>
        <a:graphic>
          <a:graphicData uri="http://schemas.openxmlformats.org/drawingml/2006/table">
            <a:tbl>
              <a:tblPr/>
              <a:tblGrid>
                <a:gridCol w="6528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4532">
                <a:tc>
                  <a:txBody>
                    <a:bodyPr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 b="1">
                          <a:solidFill>
                            <a:srgbClr val="FFFFFF"/>
                          </a:solidFill>
                          <a:latin typeface="Century Gothic Paneuropean Bold"/>
                          <a:ea typeface="Century Gothic Paneuropean Bold"/>
                          <a:cs typeface="Century Gothic Paneuropean Bold"/>
                          <a:sym typeface="Century Gothic Paneuropean Bold"/>
                        </a:rPr>
                        <a:t>Key Features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2281">
                <a:tc>
                  <a:txBody>
                    <a:bodyPr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349446"/>
              </p:ext>
            </p:extLst>
          </p:nvPr>
        </p:nvGraphicFramePr>
        <p:xfrm>
          <a:off x="10842471" y="5556319"/>
          <a:ext cx="6528805" cy="3630934"/>
        </p:xfrm>
        <a:graphic>
          <a:graphicData uri="http://schemas.openxmlformats.org/drawingml/2006/table">
            <a:tbl>
              <a:tblPr/>
              <a:tblGrid>
                <a:gridCol w="3264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3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8929">
                <a:tc gridSpan="2"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entury Gothic Paneuropean Bold"/>
                          <a:ea typeface="Century Gothic Paneuropean Bold"/>
                          <a:cs typeface="Century Gothic Paneuropean Bold"/>
                          <a:sym typeface="Century Gothic Paneuropean Bold"/>
                        </a:rPr>
                        <a:t>Lease Terms  &amp; Conditions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A3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entury Gothic Paneuropean Bold"/>
                          <a:ea typeface="Century Gothic Paneuropean Bold"/>
                          <a:cs typeface="Century Gothic Paneuropean Bold"/>
                          <a:sym typeface="Century Gothic Paneuropean Bold"/>
                        </a:rPr>
                        <a:t>Lease Terms  &amp; Conditions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1901"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>
                          <a:solidFill>
                            <a:srgbClr val="272828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Rental Rates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dirty="0"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{{RENTAL_RATES}} </a:t>
                      </a:r>
                      <a:endParaRPr lang="en-US" sz="16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026"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>
                          <a:solidFill>
                            <a:srgbClr val="272828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Security Deposit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dirty="0"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{{SECURITY_DEPOSIT}}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026"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>
                          <a:solidFill>
                            <a:srgbClr val="272828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Advance Rent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dirty="0"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{{ADVANCE_RENT}}</a:t>
                      </a:r>
                      <a:endParaRPr lang="en-US" sz="16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026"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>
                          <a:solidFill>
                            <a:srgbClr val="272828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Escalation Rate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dirty="0"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{{ESCALATION_RATE}} </a:t>
                      </a:r>
                      <a:endParaRPr lang="en-US" sz="16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026"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>
                          <a:solidFill>
                            <a:srgbClr val="272828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Preffered Lease Term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  <a:defRPr/>
                      </a:pPr>
                      <a:r>
                        <a:rPr lang="en-US" sz="1600" dirty="0">
                          <a:latin typeface="Century Gothic Paneuropean" panose="020B0604020202020204" charset="0"/>
                          <a:cs typeface="Century Gothic Paneuropean" panose="020B0604020202020204" charset="0"/>
                        </a:rPr>
                        <a:t>{{LEASE_TERM}}</a:t>
                      </a:r>
                      <a:endParaRPr lang="en-US" sz="16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Freeform 7"/>
          <p:cNvSpPr/>
          <p:nvPr/>
        </p:nvSpPr>
        <p:spPr>
          <a:xfrm>
            <a:off x="606838" y="476250"/>
            <a:ext cx="17305212" cy="1285151"/>
          </a:xfrm>
          <a:custGeom>
            <a:avLst/>
            <a:gdLst/>
            <a:ahLst/>
            <a:cxnLst/>
            <a:rect l="l" t="t" r="r" b="b"/>
            <a:pathLst>
              <a:path w="23073616" h="1713534">
                <a:moveTo>
                  <a:pt x="0" y="0"/>
                </a:moveTo>
                <a:lnTo>
                  <a:pt x="23073616" y="0"/>
                </a:lnTo>
                <a:lnTo>
                  <a:pt x="23073616" y="1713534"/>
                </a:lnTo>
                <a:lnTo>
                  <a:pt x="0" y="1713534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132413" r="30476" b="-132412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06838" y="483394"/>
            <a:ext cx="17305211" cy="127800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ts val="7199"/>
              </a:lnSpc>
            </a:pPr>
            <a:r>
              <a:rPr lang="en-US" sz="5999" dirty="0">
                <a:solidFill>
                  <a:srgbClr val="272828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{{PROPERTY_NAME}}  </a:t>
            </a:r>
            <a:r>
              <a:rPr lang="en-US" sz="2400" b="1" i="1" dirty="0">
                <a:solidFill>
                  <a:srgbClr val="C9A84C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{{LEASABLE_AREA}}</a:t>
            </a:r>
            <a:endParaRPr lang="en-US" sz="6000" b="1" i="1" dirty="0">
              <a:solidFill>
                <a:srgbClr val="C9A84C"/>
              </a:solidFill>
              <a:latin typeface="DM Sans Bold Italics"/>
              <a:ea typeface="DM Sans Bold Italics"/>
              <a:cs typeface="DM Sans Bold Italics"/>
              <a:sym typeface="DM Sans Bold Italics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642785" y="1615056"/>
            <a:ext cx="16830979" cy="453999"/>
          </a:xfrm>
          <a:custGeom>
            <a:avLst/>
            <a:gdLst/>
            <a:ahLst/>
            <a:cxnLst/>
            <a:rect l="l" t="t" r="r" b="b"/>
            <a:pathLst>
              <a:path w="22441305" h="605332">
                <a:moveTo>
                  <a:pt x="0" y="0"/>
                </a:moveTo>
                <a:lnTo>
                  <a:pt x="22441305" y="0"/>
                </a:lnTo>
                <a:lnTo>
                  <a:pt x="22441305" y="605332"/>
                </a:lnTo>
                <a:lnTo>
                  <a:pt x="0" y="605332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601263" b="-743463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42785" y="1607912"/>
            <a:ext cx="16830980" cy="46114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just">
              <a:lnSpc>
                <a:spcPts val="2640"/>
              </a:lnSpc>
            </a:pPr>
            <a:r>
              <a:rPr lang="en-US" sz="2200" dirty="0">
                <a:solidFill>
                  <a:srgbClr val="272828"/>
                </a:solidFill>
                <a:latin typeface="DM Sans"/>
                <a:ea typeface="DM Sans"/>
                <a:cs typeface="DM Sans"/>
                <a:sym typeface="DM Sans"/>
              </a:rPr>
              <a:t>{{PROPERTY_ADDRESS}}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-9525" y="10097679"/>
            <a:ext cx="18288000" cy="454842"/>
            <a:chOff x="0" y="0"/>
            <a:chExt cx="4816593" cy="11979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16592" cy="119794"/>
            </a:xfrm>
            <a:custGeom>
              <a:avLst/>
              <a:gdLst/>
              <a:ahLst/>
              <a:cxnLst/>
              <a:rect l="l" t="t" r="r" b="b"/>
              <a:pathLst>
                <a:path w="4816592" h="119794">
                  <a:moveTo>
                    <a:pt x="0" y="0"/>
                  </a:moveTo>
                  <a:lnTo>
                    <a:pt x="4816592" y="0"/>
                  </a:lnTo>
                  <a:lnTo>
                    <a:pt x="4816592" y="119794"/>
                  </a:lnTo>
                  <a:lnTo>
                    <a:pt x="0" y="119794"/>
                  </a:lnTo>
                  <a:close/>
                </a:path>
              </a:pathLst>
            </a:custGeom>
            <a:gradFill rotWithShape="1">
              <a:gsLst>
                <a:gs pos="0">
                  <a:srgbClr val="0C0C0E">
                    <a:alpha val="100000"/>
                  </a:srgbClr>
                </a:gs>
                <a:gs pos="50000">
                  <a:srgbClr val="003366">
                    <a:alpha val="100000"/>
                  </a:srgbClr>
                </a:gs>
                <a:gs pos="100000">
                  <a:srgbClr val="C9A84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4816593" cy="129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6220378" y="631096"/>
            <a:ext cx="1038922" cy="795208"/>
          </a:xfrm>
          <a:custGeom>
            <a:avLst/>
            <a:gdLst/>
            <a:ahLst/>
            <a:cxnLst/>
            <a:rect l="l" t="t" r="r" b="b"/>
            <a:pathLst>
              <a:path w="1038922" h="795208">
                <a:moveTo>
                  <a:pt x="0" y="0"/>
                </a:moveTo>
                <a:lnTo>
                  <a:pt x="1038922" y="0"/>
                </a:lnTo>
                <a:lnTo>
                  <a:pt x="1038922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9139661" y="4567896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0810DF-3B83-A0A1-0287-8C04199F39C4}"/>
              </a:ext>
            </a:extLst>
          </p:cNvPr>
          <p:cNvSpPr/>
          <p:nvPr/>
        </p:nvSpPr>
        <p:spPr>
          <a:xfrm>
            <a:off x="646414" y="2650080"/>
            <a:ext cx="9716786" cy="66082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600" dirty="0">
                <a:solidFill>
                  <a:srgbClr val="002060"/>
                </a:solidFill>
              </a:rPr>
              <a:t>{{PROPERTY_PHOTO_1}}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521" y="47776"/>
            <a:ext cx="5329197" cy="5331810"/>
          </a:xfrm>
          <a:custGeom>
            <a:avLst/>
            <a:gdLst/>
            <a:ahLst/>
            <a:cxnLst/>
            <a:rect l="l" t="t" r="r" b="b"/>
            <a:pathLst>
              <a:path w="5329197" h="5331810">
                <a:moveTo>
                  <a:pt x="0" y="0"/>
                </a:moveTo>
                <a:lnTo>
                  <a:pt x="5329197" y="0"/>
                </a:lnTo>
                <a:lnTo>
                  <a:pt x="5329197" y="5331810"/>
                </a:lnTo>
                <a:lnTo>
                  <a:pt x="0" y="5331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461718" y="66708"/>
            <a:ext cx="5329197" cy="5331810"/>
          </a:xfrm>
          <a:custGeom>
            <a:avLst/>
            <a:gdLst/>
            <a:ahLst/>
            <a:cxnLst/>
            <a:rect l="l" t="t" r="r" b="b"/>
            <a:pathLst>
              <a:path w="5329197" h="5331810">
                <a:moveTo>
                  <a:pt x="0" y="0"/>
                </a:moveTo>
                <a:lnTo>
                  <a:pt x="5329196" y="0"/>
                </a:lnTo>
                <a:lnTo>
                  <a:pt x="5329196" y="5331810"/>
                </a:lnTo>
                <a:lnTo>
                  <a:pt x="0" y="5331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658393" y="66708"/>
            <a:ext cx="5329197" cy="5331810"/>
          </a:xfrm>
          <a:custGeom>
            <a:avLst/>
            <a:gdLst/>
            <a:ahLst/>
            <a:cxnLst/>
            <a:rect l="l" t="t" r="r" b="b"/>
            <a:pathLst>
              <a:path w="5329197" h="5331810">
                <a:moveTo>
                  <a:pt x="0" y="0"/>
                </a:moveTo>
                <a:lnTo>
                  <a:pt x="5329197" y="0"/>
                </a:lnTo>
                <a:lnTo>
                  <a:pt x="5329197" y="5331810"/>
                </a:lnTo>
                <a:lnTo>
                  <a:pt x="0" y="5331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987590" y="66708"/>
            <a:ext cx="5329197" cy="5331810"/>
          </a:xfrm>
          <a:custGeom>
            <a:avLst/>
            <a:gdLst/>
            <a:ahLst/>
            <a:cxnLst/>
            <a:rect l="l" t="t" r="r" b="b"/>
            <a:pathLst>
              <a:path w="5329197" h="5331810">
                <a:moveTo>
                  <a:pt x="0" y="0"/>
                </a:moveTo>
                <a:lnTo>
                  <a:pt x="5329196" y="0"/>
                </a:lnTo>
                <a:lnTo>
                  <a:pt x="5329196" y="5331810"/>
                </a:lnTo>
                <a:lnTo>
                  <a:pt x="0" y="5331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5379586"/>
            <a:ext cx="5329197" cy="5331810"/>
          </a:xfrm>
          <a:custGeom>
            <a:avLst/>
            <a:gdLst/>
            <a:ahLst/>
            <a:cxnLst/>
            <a:rect l="l" t="t" r="r" b="b"/>
            <a:pathLst>
              <a:path w="5329197" h="5331810">
                <a:moveTo>
                  <a:pt x="0" y="0"/>
                </a:moveTo>
                <a:lnTo>
                  <a:pt x="5329197" y="0"/>
                </a:lnTo>
                <a:lnTo>
                  <a:pt x="5329197" y="5331811"/>
                </a:lnTo>
                <a:lnTo>
                  <a:pt x="0" y="5331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329197" y="5398518"/>
            <a:ext cx="5329197" cy="5331810"/>
          </a:xfrm>
          <a:custGeom>
            <a:avLst/>
            <a:gdLst/>
            <a:ahLst/>
            <a:cxnLst/>
            <a:rect l="l" t="t" r="r" b="b"/>
            <a:pathLst>
              <a:path w="5329197" h="5331810">
                <a:moveTo>
                  <a:pt x="0" y="0"/>
                </a:moveTo>
                <a:lnTo>
                  <a:pt x="5329196" y="0"/>
                </a:lnTo>
                <a:lnTo>
                  <a:pt x="5329196" y="5331810"/>
                </a:lnTo>
                <a:lnTo>
                  <a:pt x="0" y="5331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658393" y="5398518"/>
            <a:ext cx="5329197" cy="5331810"/>
          </a:xfrm>
          <a:custGeom>
            <a:avLst/>
            <a:gdLst/>
            <a:ahLst/>
            <a:cxnLst/>
            <a:rect l="l" t="t" r="r" b="b"/>
            <a:pathLst>
              <a:path w="5329197" h="5331810">
                <a:moveTo>
                  <a:pt x="0" y="0"/>
                </a:moveTo>
                <a:lnTo>
                  <a:pt x="5329197" y="0"/>
                </a:lnTo>
                <a:lnTo>
                  <a:pt x="5329197" y="5331810"/>
                </a:lnTo>
                <a:lnTo>
                  <a:pt x="0" y="5331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987590" y="5398518"/>
            <a:ext cx="5329197" cy="5331810"/>
          </a:xfrm>
          <a:custGeom>
            <a:avLst/>
            <a:gdLst/>
            <a:ahLst/>
            <a:cxnLst/>
            <a:rect l="l" t="t" r="r" b="b"/>
            <a:pathLst>
              <a:path w="5329197" h="5331810">
                <a:moveTo>
                  <a:pt x="0" y="0"/>
                </a:moveTo>
                <a:lnTo>
                  <a:pt x="5329196" y="0"/>
                </a:lnTo>
                <a:lnTo>
                  <a:pt x="5329196" y="5331810"/>
                </a:lnTo>
                <a:lnTo>
                  <a:pt x="0" y="5331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407641" y="8748777"/>
            <a:ext cx="1162733" cy="889975"/>
          </a:xfrm>
          <a:custGeom>
            <a:avLst/>
            <a:gdLst/>
            <a:ahLst/>
            <a:cxnLst/>
            <a:rect l="l" t="t" r="r" b="b"/>
            <a:pathLst>
              <a:path w="1162733" h="889975">
                <a:moveTo>
                  <a:pt x="0" y="0"/>
                </a:moveTo>
                <a:lnTo>
                  <a:pt x="1162733" y="0"/>
                </a:lnTo>
                <a:lnTo>
                  <a:pt x="1162733" y="889975"/>
                </a:lnTo>
                <a:lnTo>
                  <a:pt x="0" y="889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-5738841" y="-4080154"/>
            <a:ext cx="21726431" cy="16294823"/>
            <a:chOff x="0" y="0"/>
            <a:chExt cx="812800" cy="609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609600"/>
            </a:xfrm>
            <a:custGeom>
              <a:avLst/>
              <a:gdLst/>
              <a:ahLst/>
              <a:cxnLst/>
              <a:rect l="l" t="t" r="r" b="b"/>
              <a:pathLst>
                <a:path w="812800" h="6096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-9525"/>
              <a:ext cx="609600" cy="619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73167" y="449140"/>
            <a:ext cx="9832304" cy="1166889"/>
            <a:chOff x="0" y="0"/>
            <a:chExt cx="13109739" cy="155585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109741" cy="1555858"/>
            </a:xfrm>
            <a:custGeom>
              <a:avLst/>
              <a:gdLst/>
              <a:ahLst/>
              <a:cxnLst/>
              <a:rect l="l" t="t" r="r" b="b"/>
              <a:pathLst>
                <a:path w="13109741" h="1555858">
                  <a:moveTo>
                    <a:pt x="0" y="0"/>
                  </a:moveTo>
                  <a:lnTo>
                    <a:pt x="13109741" y="0"/>
                  </a:lnTo>
                  <a:lnTo>
                    <a:pt x="13109741" y="1555858"/>
                  </a:lnTo>
                  <a:lnTo>
                    <a:pt x="0" y="155585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5832" r="-22363" b="-155966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13109739" cy="1555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200"/>
                </a:lnSpc>
              </a:pPr>
              <a:r>
                <a:rPr lang="en-US" sz="3500">
                  <a:solidFill>
                    <a:srgbClr val="272828"/>
                  </a:solidFill>
                  <a:latin typeface="Cormorant Garamond"/>
                  <a:ea typeface="Cormorant Garamond"/>
                  <a:cs typeface="Cormorant Garamond"/>
                  <a:sym typeface="Cormorant Garamond"/>
                </a:rPr>
                <a:t>For more information and to schedule a viewing contact us at: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576981" y="0"/>
            <a:ext cx="0" cy="5143500"/>
          </a:xfrm>
          <a:prstGeom prst="line">
            <a:avLst/>
          </a:prstGeom>
          <a:ln w="95250" cap="flat">
            <a:solidFill>
              <a:srgbClr val="C9A84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Freeform 18"/>
          <p:cNvSpPr/>
          <p:nvPr/>
        </p:nvSpPr>
        <p:spPr>
          <a:xfrm>
            <a:off x="1525830" y="1871701"/>
            <a:ext cx="1484125" cy="1527776"/>
          </a:xfrm>
          <a:custGeom>
            <a:avLst/>
            <a:gdLst/>
            <a:ahLst/>
            <a:cxnLst/>
            <a:rect l="l" t="t" r="r" b="b"/>
            <a:pathLst>
              <a:path w="1484125" h="1527776">
                <a:moveTo>
                  <a:pt x="0" y="0"/>
                </a:moveTo>
                <a:lnTo>
                  <a:pt x="1484125" y="0"/>
                </a:lnTo>
                <a:lnTo>
                  <a:pt x="1484125" y="1527776"/>
                </a:lnTo>
                <a:lnTo>
                  <a:pt x="0" y="15277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527495" y="5436618"/>
            <a:ext cx="1527776" cy="1527776"/>
          </a:xfrm>
          <a:custGeom>
            <a:avLst/>
            <a:gdLst/>
            <a:ahLst/>
            <a:cxnLst/>
            <a:rect l="l" t="t" r="r" b="b"/>
            <a:pathLst>
              <a:path w="1527776" h="1527776">
                <a:moveTo>
                  <a:pt x="0" y="0"/>
                </a:moveTo>
                <a:lnTo>
                  <a:pt x="1527776" y="0"/>
                </a:lnTo>
                <a:lnTo>
                  <a:pt x="1527776" y="1527776"/>
                </a:lnTo>
                <a:lnTo>
                  <a:pt x="0" y="15277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3317296" y="1966427"/>
            <a:ext cx="1951636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SONDI TUAZON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377560" y="2294730"/>
            <a:ext cx="5951087" cy="266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Sr. Head – Retail and Industrial Markets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377560" y="2599491"/>
            <a:ext cx="5951087" cy="799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(+63) 917 843 6128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sondi.tuazon@primephilippines.com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sondi.primecorp@gmail.com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377560" y="5545933"/>
            <a:ext cx="2084158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IRISH JANE RIMA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377560" y="5888871"/>
            <a:ext cx="5951087" cy="266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Markets Analyst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377560" y="6193633"/>
            <a:ext cx="5951087" cy="533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(+63) 968 135 1848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irish.rima@primephilippines.com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73167" y="7697488"/>
            <a:ext cx="8299947" cy="72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Manila</a:t>
            </a:r>
          </a:p>
          <a:p>
            <a:pPr algn="l">
              <a:lnSpc>
                <a:spcPts val="192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32/F SM Megatower, EDSA, corner Doña Julia Vargas Ave, Mandaluyong City Metro Manila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73167" y="7373969"/>
            <a:ext cx="5951087" cy="266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OFFICE LOCATIONS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73167" y="8478424"/>
            <a:ext cx="8299947" cy="485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Cebu</a:t>
            </a:r>
          </a:p>
          <a:p>
            <a:pPr algn="l">
              <a:lnSpc>
                <a:spcPts val="192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Fifth Floor, Park Centrale, Cebu I.T. Park Jose Maria del Mar Street, Cebu City 6000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73167" y="9021273"/>
            <a:ext cx="8299947" cy="72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Davao</a:t>
            </a:r>
          </a:p>
          <a:p>
            <a:pPr algn="l">
              <a:lnSpc>
                <a:spcPts val="192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Fourth Floor, Topaz Tower,Damosa I.T. Park, J.P. Laurel Avenue, Lanang, Davao City 8000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3350" y="0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229184" y="0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591718" y="0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954252" y="0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33350" y="5365164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229184" y="5365164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591718" y="5365164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954252" y="5365164"/>
            <a:ext cx="5362534" cy="5365164"/>
          </a:xfrm>
          <a:custGeom>
            <a:avLst/>
            <a:gdLst/>
            <a:ahLst/>
            <a:cxnLst/>
            <a:rect l="l" t="t" r="r" b="b"/>
            <a:pathLst>
              <a:path w="5362534" h="5365164">
                <a:moveTo>
                  <a:pt x="0" y="0"/>
                </a:moveTo>
                <a:lnTo>
                  <a:pt x="5362534" y="0"/>
                </a:lnTo>
                <a:lnTo>
                  <a:pt x="5362534" y="5365164"/>
                </a:lnTo>
                <a:lnTo>
                  <a:pt x="0" y="5365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4" b="-215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7688065" y="3176222"/>
            <a:ext cx="2726801" cy="2087707"/>
            <a:chOff x="0" y="0"/>
            <a:chExt cx="2438400" cy="18669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38400" cy="1866900"/>
            </a:xfrm>
            <a:custGeom>
              <a:avLst/>
              <a:gdLst/>
              <a:ahLst/>
              <a:cxnLst/>
              <a:rect l="l" t="t" r="r" b="b"/>
              <a:pathLst>
                <a:path w="2438400" h="1866900">
                  <a:moveTo>
                    <a:pt x="0" y="0"/>
                  </a:moveTo>
                  <a:lnTo>
                    <a:pt x="2438400" y="0"/>
                  </a:lnTo>
                  <a:lnTo>
                    <a:pt x="2438400" y="1866900"/>
                  </a:lnTo>
                  <a:lnTo>
                    <a:pt x="0" y="186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8442198" y="7021749"/>
            <a:ext cx="1178773" cy="14202"/>
          </a:xfrm>
          <a:custGeom>
            <a:avLst/>
            <a:gdLst/>
            <a:ahLst/>
            <a:cxnLst/>
            <a:rect l="l" t="t" r="r" b="b"/>
            <a:pathLst>
              <a:path w="1178773" h="14202">
                <a:moveTo>
                  <a:pt x="0" y="0"/>
                </a:moveTo>
                <a:lnTo>
                  <a:pt x="1178773" y="0"/>
                </a:lnTo>
                <a:lnTo>
                  <a:pt x="1178773" y="14202"/>
                </a:lnTo>
                <a:lnTo>
                  <a:pt x="0" y="14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075129" y="2293838"/>
            <a:ext cx="6137742" cy="305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0"/>
              </a:lnSpc>
            </a:pPr>
            <a:r>
              <a:rPr lang="en-US" sz="1792" spc="717">
                <a:solidFill>
                  <a:srgbClr val="FFFC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PRIME PHILIPPINES • EST. 2013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88229" y="9012054"/>
            <a:ext cx="4060687" cy="246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2"/>
              </a:lnSpc>
            </a:pPr>
            <a:r>
              <a:rPr lang="en-US" sz="1494" spc="597">
                <a:solidFill>
                  <a:srgbClr val="FFFC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MANILA • CEBU • DAVAO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21684" y="5558584"/>
            <a:ext cx="13844632" cy="1218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30"/>
              </a:lnSpc>
            </a:pPr>
            <a:r>
              <a:rPr lang="en-US" sz="7164" spc="257">
                <a:solidFill>
                  <a:srgbClr val="FFFCFB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Real Estate. </a:t>
            </a:r>
            <a:r>
              <a:rPr lang="en-US" sz="7164" i="1" spc="257">
                <a:solidFill>
                  <a:srgbClr val="C9A84C"/>
                </a:solidFill>
                <a:latin typeface="Cormorant Garamond Light Italics"/>
                <a:ea typeface="Cormorant Garamond Light Italics"/>
                <a:cs typeface="Cormorant Garamond Light Italics"/>
                <a:sym typeface="Cormorant Garamond Light Italics"/>
              </a:rPr>
              <a:t>We Advise. You Advance.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338</Words>
  <Application>Microsoft Office PowerPoint</Application>
  <PresentationFormat>Custom</PresentationFormat>
  <Paragraphs>61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7" baseType="lpstr">
      <vt:lpstr>DM Sans</vt:lpstr>
      <vt:lpstr>Arial</vt:lpstr>
      <vt:lpstr>Cormorant Garamond</vt:lpstr>
      <vt:lpstr>Century Gothic Paneuropean Bold</vt:lpstr>
      <vt:lpstr>Cormorant Garamond Semi-Bold</vt:lpstr>
      <vt:lpstr>Cormorant Garamond Light</vt:lpstr>
      <vt:lpstr>DM Sans Bold Italics</vt:lpstr>
      <vt:lpstr>Cormorant Garamond Light Italics</vt:lpstr>
      <vt:lpstr>Calibri</vt:lpstr>
      <vt:lpstr>Montserrat Light</vt:lpstr>
      <vt:lpstr>Century Gothic Paneuropean</vt:lpstr>
      <vt:lpstr>Montserrat Medium</vt:lpstr>
      <vt:lpstr>Cormorant Garamond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CRD DECK TEMPLATE</dc:title>
  <cp:lastModifiedBy>Dave Policarpio</cp:lastModifiedBy>
  <cp:revision>8</cp:revision>
  <dcterms:created xsi:type="dcterms:W3CDTF">2006-08-16T00:00:00Z</dcterms:created>
  <dcterms:modified xsi:type="dcterms:W3CDTF">2026-06-25T01:07:30Z</dcterms:modified>
  <dc:identifier>DAHNYNR2U1I</dc:identifier>
</cp:coreProperties>
</file>