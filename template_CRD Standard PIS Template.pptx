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80700"/>
  <p:notesSz cx="6858000" cy="9144000"/>
  <p:embeddedFontLst>
    <p:embeddedFont>
      <p:font typeface="Cormorant Garamond" panose="020B0604020202020204" charset="0"/>
      <p:regular r:id="rId3"/>
    </p:embeddedFont>
    <p:embeddedFont>
      <p:font typeface="Cormorant Garamond Bold" panose="020B0604020202020204" charset="0"/>
      <p:regular r:id="rId4"/>
    </p:embeddedFont>
    <p:embeddedFont>
      <p:font typeface="Cormorant Garamond Bold Italics" panose="020B0604020202020204" charset="0"/>
      <p:regular r:id="rId5"/>
    </p:embeddedFont>
    <p:embeddedFont>
      <p:font typeface="Montserrat" panose="00000500000000000000" pitchFamily="2" charset="0"/>
      <p:regular r:id="rId6"/>
      <p:bold r:id="rId7"/>
      <p:italic r:id="rId8"/>
      <p:boldItalic r:id="rId9"/>
    </p:embeddedFont>
    <p:embeddedFont>
      <p:font typeface="Montserrat Bold" panose="00000800000000000000" pitchFamily="2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818" y="-4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549013" y="1549013"/>
            <a:ext cx="10660905" cy="7562880"/>
            <a:chOff x="0" y="0"/>
            <a:chExt cx="20340764" cy="144298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40765" cy="14429803"/>
            </a:xfrm>
            <a:custGeom>
              <a:avLst/>
              <a:gdLst/>
              <a:ahLst/>
              <a:cxnLst/>
              <a:rect l="l" t="t" r="r" b="b"/>
              <a:pathLst>
                <a:path w="20340765" h="14429803">
                  <a:moveTo>
                    <a:pt x="0" y="0"/>
                  </a:moveTo>
                  <a:lnTo>
                    <a:pt x="20340765" y="0"/>
                  </a:lnTo>
                  <a:lnTo>
                    <a:pt x="20340765" y="14429803"/>
                  </a:lnTo>
                  <a:lnTo>
                    <a:pt x="0" y="1442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587" r="-1358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13491" y="516925"/>
            <a:ext cx="528956" cy="403014"/>
            <a:chOff x="0" y="0"/>
            <a:chExt cx="1066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800" cy="812800"/>
            </a:xfrm>
            <a:custGeom>
              <a:avLst/>
              <a:gdLst/>
              <a:ahLst/>
              <a:cxnLst/>
              <a:rect l="l" t="t" r="r" b="b"/>
              <a:pathLst>
                <a:path w="1066800" h="812800">
                  <a:moveTo>
                    <a:pt x="0" y="0"/>
                  </a:moveTo>
                  <a:lnTo>
                    <a:pt x="1066800" y="0"/>
                  </a:lnTo>
                  <a:lnTo>
                    <a:pt x="1066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>
            <a:off x="539850" y="1268712"/>
            <a:ext cx="6483181" cy="0"/>
          </a:xfrm>
          <a:prstGeom prst="line">
            <a:avLst/>
          </a:prstGeom>
          <a:ln w="1905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34"/>
          <p:cNvSpPr txBox="1"/>
          <p:nvPr/>
        </p:nvSpPr>
        <p:spPr>
          <a:xfrm>
            <a:off x="139118" y="680651"/>
            <a:ext cx="7562880" cy="20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2400" b="1" dirty="0">
                <a:solidFill>
                  <a:srgbClr val="2728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{{PROPERTY_NAME}}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9118" y="1048702"/>
            <a:ext cx="7562880" cy="13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"/>
              </a:lnSpc>
            </a:pPr>
            <a:r>
              <a:rPr lang="en-US" sz="1599" b="1" dirty="0">
                <a:solidFill>
                  <a:srgbClr val="2728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{{LEASABLE_AREA}}</a:t>
            </a:r>
            <a:r>
              <a:rPr lang="en-US" sz="1599" b="1" dirty="0">
                <a:solidFill>
                  <a:schemeClr val="bg1"/>
                </a:solidFill>
                <a:latin typeface="Cormorant Garamond"/>
                <a:ea typeface="Cormorant Garamond Bold"/>
                <a:cs typeface="Cormorant Garamond Bold"/>
                <a:sym typeface="Cormorant Garamond"/>
              </a:rPr>
              <a:t>_</a:t>
            </a:r>
            <a:r>
              <a:rPr lang="en-US" sz="1599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{{PROPERTY_TYPE}}</a:t>
            </a:r>
            <a:r>
              <a:rPr lang="en-US" sz="1599" dirty="0">
                <a:solidFill>
                  <a:schemeClr val="bg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_</a:t>
            </a:r>
            <a:r>
              <a:rPr lang="en-US" sz="1599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with</a:t>
            </a:r>
            <a:r>
              <a:rPr lang="en-US" sz="1599" dirty="0">
                <a:solidFill>
                  <a:schemeClr val="bg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_</a:t>
            </a:r>
            <a:r>
              <a:rPr lang="en-US" sz="1599" b="1" dirty="0">
                <a:solidFill>
                  <a:srgbClr val="2728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{{FRONTAGE}}</a:t>
            </a:r>
            <a:r>
              <a:rPr lang="en-US" sz="1599" b="1" dirty="0">
                <a:solidFill>
                  <a:schemeClr val="bg1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_</a:t>
            </a:r>
            <a:r>
              <a:rPr lang="en-US" sz="1599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frontage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1342" y="5249418"/>
            <a:ext cx="7240191" cy="328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b="1" i="1" dirty="0">
                <a:solidFill>
                  <a:srgbClr val="C9A84C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{{PROPERTY_ADDRESS}}</a:t>
            </a:r>
          </a:p>
        </p:txBody>
      </p:sp>
      <p:sp>
        <p:nvSpPr>
          <p:cNvPr id="54" name="AutoShape 54"/>
          <p:cNvSpPr/>
          <p:nvPr/>
        </p:nvSpPr>
        <p:spPr>
          <a:xfrm>
            <a:off x="539850" y="9531350"/>
            <a:ext cx="6483181" cy="0"/>
          </a:xfrm>
          <a:prstGeom prst="line">
            <a:avLst/>
          </a:prstGeom>
          <a:ln w="1905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TextBox 55"/>
          <p:cNvSpPr txBox="1"/>
          <p:nvPr/>
        </p:nvSpPr>
        <p:spPr>
          <a:xfrm>
            <a:off x="539850" y="9613579"/>
            <a:ext cx="2016814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us for further information: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A9A119-1524-9476-37AF-01E6003BA497}"/>
              </a:ext>
            </a:extLst>
          </p:cNvPr>
          <p:cNvSpPr/>
          <p:nvPr/>
        </p:nvSpPr>
        <p:spPr>
          <a:xfrm>
            <a:off x="0" y="1406575"/>
            <a:ext cx="7556500" cy="37475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solidFill>
                  <a:srgbClr val="002060"/>
                </a:solidFill>
              </a:rPr>
              <a:t>{{PROPERTY_PHOTO_1}}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F47DC4-F093-C818-C183-7D49B8AF8E93}"/>
              </a:ext>
            </a:extLst>
          </p:cNvPr>
          <p:cNvSpPr/>
          <p:nvPr/>
        </p:nvSpPr>
        <p:spPr>
          <a:xfrm>
            <a:off x="213948" y="5673688"/>
            <a:ext cx="4047837" cy="37333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002060"/>
                </a:solidFill>
              </a:rPr>
              <a:t>{{LOCATION_MAP}}</a:t>
            </a:r>
          </a:p>
        </p:txBody>
      </p:sp>
      <p:sp>
        <p:nvSpPr>
          <p:cNvPr id="18" name="TextBox 56">
            <a:extLst>
              <a:ext uri="{FF2B5EF4-FFF2-40B4-BE49-F238E27FC236}">
                <a16:creationId xmlns:a16="http://schemas.microsoft.com/office/drawing/2014/main" id="{E707C3AC-1D76-B41C-10E0-DE99FEF8BB4F}"/>
              </a:ext>
            </a:extLst>
          </p:cNvPr>
          <p:cNvSpPr txBox="1"/>
          <p:nvPr/>
        </p:nvSpPr>
        <p:spPr>
          <a:xfrm>
            <a:off x="698431" y="9786041"/>
            <a:ext cx="2016814" cy="14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b="1" spc="15" dirty="0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{{CTA1_NAME}}</a:t>
            </a:r>
          </a:p>
        </p:txBody>
      </p:sp>
      <p:sp>
        <p:nvSpPr>
          <p:cNvPr id="31" name="TextBox 57">
            <a:extLst>
              <a:ext uri="{FF2B5EF4-FFF2-40B4-BE49-F238E27FC236}">
                <a16:creationId xmlns:a16="http://schemas.microsoft.com/office/drawing/2014/main" id="{03D2CAB4-35D5-8F12-9591-EC1B1C0C91F6}"/>
              </a:ext>
            </a:extLst>
          </p:cNvPr>
          <p:cNvSpPr txBox="1"/>
          <p:nvPr/>
        </p:nvSpPr>
        <p:spPr>
          <a:xfrm>
            <a:off x="698431" y="9972326"/>
            <a:ext cx="2114228" cy="29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{{CTA1_CONTACT_NUMBER}}</a:t>
            </a:r>
          </a:p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{{CTA1_EMAIL}}</a:t>
            </a:r>
          </a:p>
        </p:txBody>
      </p:sp>
      <p:sp>
        <p:nvSpPr>
          <p:cNvPr id="32" name="TextBox 56">
            <a:extLst>
              <a:ext uri="{FF2B5EF4-FFF2-40B4-BE49-F238E27FC236}">
                <a16:creationId xmlns:a16="http://schemas.microsoft.com/office/drawing/2014/main" id="{BF08E9DC-711A-CFE5-B902-AD9991B6C4FD}"/>
              </a:ext>
            </a:extLst>
          </p:cNvPr>
          <p:cNvSpPr txBox="1"/>
          <p:nvPr/>
        </p:nvSpPr>
        <p:spPr>
          <a:xfrm>
            <a:off x="2992663" y="9792237"/>
            <a:ext cx="2016814" cy="14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b="1" spc="15" dirty="0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{{CTA2_NAME}}</a:t>
            </a:r>
          </a:p>
        </p:txBody>
      </p:sp>
      <p:sp>
        <p:nvSpPr>
          <p:cNvPr id="33" name="TextBox 57">
            <a:extLst>
              <a:ext uri="{FF2B5EF4-FFF2-40B4-BE49-F238E27FC236}">
                <a16:creationId xmlns:a16="http://schemas.microsoft.com/office/drawing/2014/main" id="{45800DFC-42CB-CCC6-9723-1891D8E4D710}"/>
              </a:ext>
            </a:extLst>
          </p:cNvPr>
          <p:cNvSpPr txBox="1"/>
          <p:nvPr/>
        </p:nvSpPr>
        <p:spPr>
          <a:xfrm>
            <a:off x="2992663" y="9978522"/>
            <a:ext cx="2114228" cy="29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{{CTA2_CONTACT_NUMBER}}</a:t>
            </a:r>
          </a:p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{{CTA2_EMAIL}}</a:t>
            </a:r>
          </a:p>
        </p:txBody>
      </p:sp>
      <p:graphicFrame>
        <p:nvGraphicFramePr>
          <p:cNvPr id="87" name="Table 29">
            <a:extLst>
              <a:ext uri="{FF2B5EF4-FFF2-40B4-BE49-F238E27FC236}">
                <a16:creationId xmlns:a16="http://schemas.microsoft.com/office/drawing/2014/main" id="{3448E494-EF0B-F743-41B9-EED6966B8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729626"/>
              </p:ext>
            </p:extLst>
          </p:nvPr>
        </p:nvGraphicFramePr>
        <p:xfrm>
          <a:off x="4449002" y="5693439"/>
          <a:ext cx="2952533" cy="2300555"/>
        </p:xfrm>
        <a:graphic>
          <a:graphicData uri="http://schemas.openxmlformats.org/drawingml/2006/table">
            <a:tbl>
              <a:tblPr/>
              <a:tblGrid>
                <a:gridCol w="2952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002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536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5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320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844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97947"/>
                  </a:ext>
                </a:extLst>
              </a:tr>
            </a:tbl>
          </a:graphicData>
        </a:graphic>
      </p:graphicFrame>
      <p:graphicFrame>
        <p:nvGraphicFramePr>
          <p:cNvPr id="88" name="Table 30">
            <a:extLst>
              <a:ext uri="{FF2B5EF4-FFF2-40B4-BE49-F238E27FC236}">
                <a16:creationId xmlns:a16="http://schemas.microsoft.com/office/drawing/2014/main" id="{C41602F9-72A2-E84D-2EF1-B767D622A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980554"/>
              </p:ext>
            </p:extLst>
          </p:nvPr>
        </p:nvGraphicFramePr>
        <p:xfrm>
          <a:off x="4449002" y="7567134"/>
          <a:ext cx="2952534" cy="1839871"/>
        </p:xfrm>
        <a:graphic>
          <a:graphicData uri="http://schemas.openxmlformats.org/drawingml/2006/table">
            <a:tbl>
              <a:tblPr/>
              <a:tblGrid>
                <a:gridCol w="1553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493">
                <a:tc gridSpan="2"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56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9" name="TextBox 37">
            <a:extLst>
              <a:ext uri="{FF2B5EF4-FFF2-40B4-BE49-F238E27FC236}">
                <a16:creationId xmlns:a16="http://schemas.microsoft.com/office/drawing/2014/main" id="{309CDD76-3485-BCD1-C2F8-162ADD200DCF}"/>
              </a:ext>
            </a:extLst>
          </p:cNvPr>
          <p:cNvSpPr txBox="1"/>
          <p:nvPr/>
        </p:nvSpPr>
        <p:spPr>
          <a:xfrm>
            <a:off x="4975007" y="5757542"/>
            <a:ext cx="1831585" cy="19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>
                <a:solidFill>
                  <a:srgbClr val="FFF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PROPERTY FEATURES</a:t>
            </a:r>
          </a:p>
        </p:txBody>
      </p:sp>
      <p:sp>
        <p:nvSpPr>
          <p:cNvPr id="90" name="TextBox 38">
            <a:extLst>
              <a:ext uri="{FF2B5EF4-FFF2-40B4-BE49-F238E27FC236}">
                <a16:creationId xmlns:a16="http://schemas.microsoft.com/office/drawing/2014/main" id="{EE93FB2B-5F5E-6DF0-5747-C9E5700E55FE}"/>
              </a:ext>
            </a:extLst>
          </p:cNvPr>
          <p:cNvSpPr txBox="1"/>
          <p:nvPr/>
        </p:nvSpPr>
        <p:spPr>
          <a:xfrm>
            <a:off x="4620470" y="6118248"/>
            <a:ext cx="2621977" cy="29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{{PROPERTY_FEATURE_1}}</a:t>
            </a: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TextBox 41">
            <a:extLst>
              <a:ext uri="{FF2B5EF4-FFF2-40B4-BE49-F238E27FC236}">
                <a16:creationId xmlns:a16="http://schemas.microsoft.com/office/drawing/2014/main" id="{3C712230-18D7-B74A-5231-EF537F2CCC65}"/>
              </a:ext>
            </a:extLst>
          </p:cNvPr>
          <p:cNvSpPr txBox="1"/>
          <p:nvPr/>
        </p:nvSpPr>
        <p:spPr>
          <a:xfrm>
            <a:off x="5009477" y="7640940"/>
            <a:ext cx="1831585" cy="19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 dirty="0">
                <a:solidFill>
                  <a:srgbClr val="FFF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LEASE TERMS</a:t>
            </a:r>
          </a:p>
        </p:txBody>
      </p:sp>
      <p:sp>
        <p:nvSpPr>
          <p:cNvPr id="92" name="TextBox 42">
            <a:extLst>
              <a:ext uri="{FF2B5EF4-FFF2-40B4-BE49-F238E27FC236}">
                <a16:creationId xmlns:a16="http://schemas.microsoft.com/office/drawing/2014/main" id="{9CF0D79E-6F96-B4B3-0903-D84D1BEC88CD}"/>
              </a:ext>
            </a:extLst>
          </p:cNvPr>
          <p:cNvSpPr txBox="1"/>
          <p:nvPr/>
        </p:nvSpPr>
        <p:spPr>
          <a:xfrm>
            <a:off x="4864182" y="7955852"/>
            <a:ext cx="768200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Lease Rates</a:t>
            </a:r>
          </a:p>
        </p:txBody>
      </p:sp>
      <p:sp>
        <p:nvSpPr>
          <p:cNvPr id="93" name="TextBox 43">
            <a:extLst>
              <a:ext uri="{FF2B5EF4-FFF2-40B4-BE49-F238E27FC236}">
                <a16:creationId xmlns:a16="http://schemas.microsoft.com/office/drawing/2014/main" id="{A16E4437-D683-7BE3-2D29-E2DCB5FD9EB2}"/>
              </a:ext>
            </a:extLst>
          </p:cNvPr>
          <p:cNvSpPr txBox="1"/>
          <p:nvPr/>
        </p:nvSpPr>
        <p:spPr>
          <a:xfrm>
            <a:off x="4725245" y="8192771"/>
            <a:ext cx="104607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 Deposit</a:t>
            </a:r>
          </a:p>
        </p:txBody>
      </p:sp>
      <p:sp>
        <p:nvSpPr>
          <p:cNvPr id="94" name="TextBox 44">
            <a:extLst>
              <a:ext uri="{FF2B5EF4-FFF2-40B4-BE49-F238E27FC236}">
                <a16:creationId xmlns:a16="http://schemas.microsoft.com/office/drawing/2014/main" id="{2E6545B3-4BBA-D145-831A-C0EB292D655F}"/>
              </a:ext>
            </a:extLst>
          </p:cNvPr>
          <p:cNvSpPr txBox="1"/>
          <p:nvPr/>
        </p:nvSpPr>
        <p:spPr>
          <a:xfrm>
            <a:off x="4725245" y="8429690"/>
            <a:ext cx="104607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 Rent</a:t>
            </a:r>
          </a:p>
        </p:txBody>
      </p:sp>
      <p:sp>
        <p:nvSpPr>
          <p:cNvPr id="95" name="TextBox 45">
            <a:extLst>
              <a:ext uri="{FF2B5EF4-FFF2-40B4-BE49-F238E27FC236}">
                <a16:creationId xmlns:a16="http://schemas.microsoft.com/office/drawing/2014/main" id="{A1AD4EE8-B974-A85B-98C4-548F63579290}"/>
              </a:ext>
            </a:extLst>
          </p:cNvPr>
          <p:cNvSpPr txBox="1"/>
          <p:nvPr/>
        </p:nvSpPr>
        <p:spPr>
          <a:xfrm>
            <a:off x="4725245" y="8671371"/>
            <a:ext cx="104607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Rental Escalation</a:t>
            </a:r>
          </a:p>
        </p:txBody>
      </p:sp>
      <p:sp>
        <p:nvSpPr>
          <p:cNvPr id="96" name="TextBox 46">
            <a:extLst>
              <a:ext uri="{FF2B5EF4-FFF2-40B4-BE49-F238E27FC236}">
                <a16:creationId xmlns:a16="http://schemas.microsoft.com/office/drawing/2014/main" id="{EDEE7152-62E0-1E59-0C40-393DE6FE327F}"/>
              </a:ext>
            </a:extLst>
          </p:cNvPr>
          <p:cNvSpPr txBox="1"/>
          <p:nvPr/>
        </p:nvSpPr>
        <p:spPr>
          <a:xfrm>
            <a:off x="4635173" y="8913052"/>
            <a:ext cx="125562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Preferred Lease Term</a:t>
            </a:r>
          </a:p>
        </p:txBody>
      </p:sp>
      <p:sp>
        <p:nvSpPr>
          <p:cNvPr id="97" name="TextBox 47">
            <a:extLst>
              <a:ext uri="{FF2B5EF4-FFF2-40B4-BE49-F238E27FC236}">
                <a16:creationId xmlns:a16="http://schemas.microsoft.com/office/drawing/2014/main" id="{8DB00977-36E6-265E-0258-B12B0C0418D3}"/>
              </a:ext>
            </a:extLst>
          </p:cNvPr>
          <p:cNvSpPr txBox="1"/>
          <p:nvPr/>
        </p:nvSpPr>
        <p:spPr>
          <a:xfrm>
            <a:off x="4620470" y="9141398"/>
            <a:ext cx="125562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Handover Conditions</a:t>
            </a:r>
          </a:p>
        </p:txBody>
      </p:sp>
      <p:sp>
        <p:nvSpPr>
          <p:cNvPr id="98" name="TextBox 48">
            <a:extLst>
              <a:ext uri="{FF2B5EF4-FFF2-40B4-BE49-F238E27FC236}">
                <a16:creationId xmlns:a16="http://schemas.microsoft.com/office/drawing/2014/main" id="{A1F104D6-9D08-4553-00E5-CB302EDB3A35}"/>
              </a:ext>
            </a:extLst>
          </p:cNvPr>
          <p:cNvSpPr txBox="1"/>
          <p:nvPr/>
        </p:nvSpPr>
        <p:spPr>
          <a:xfrm>
            <a:off x="6077812" y="7963218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{{RENTAL_RATES}}</a:t>
            </a:r>
          </a:p>
        </p:txBody>
      </p:sp>
      <p:sp>
        <p:nvSpPr>
          <p:cNvPr id="99" name="TextBox 49">
            <a:extLst>
              <a:ext uri="{FF2B5EF4-FFF2-40B4-BE49-F238E27FC236}">
                <a16:creationId xmlns:a16="http://schemas.microsoft.com/office/drawing/2014/main" id="{BFD5AA72-CE7D-21A7-72A0-12F1DAA84E61}"/>
              </a:ext>
            </a:extLst>
          </p:cNvPr>
          <p:cNvSpPr txBox="1"/>
          <p:nvPr/>
        </p:nvSpPr>
        <p:spPr>
          <a:xfrm>
            <a:off x="6103250" y="8200137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{{SECURITY_DEPOSIT}}</a:t>
            </a:r>
          </a:p>
        </p:txBody>
      </p:sp>
      <p:sp>
        <p:nvSpPr>
          <p:cNvPr id="100" name="TextBox 50">
            <a:extLst>
              <a:ext uri="{FF2B5EF4-FFF2-40B4-BE49-F238E27FC236}">
                <a16:creationId xmlns:a16="http://schemas.microsoft.com/office/drawing/2014/main" id="{095E0CF5-C333-8892-2AA3-AE52E042014B}"/>
              </a:ext>
            </a:extLst>
          </p:cNvPr>
          <p:cNvSpPr txBox="1"/>
          <p:nvPr/>
        </p:nvSpPr>
        <p:spPr>
          <a:xfrm>
            <a:off x="6103250" y="8436611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{{ADVANCE_RENT}}</a:t>
            </a:r>
          </a:p>
        </p:txBody>
      </p:sp>
      <p:sp>
        <p:nvSpPr>
          <p:cNvPr id="101" name="TextBox 51">
            <a:extLst>
              <a:ext uri="{FF2B5EF4-FFF2-40B4-BE49-F238E27FC236}">
                <a16:creationId xmlns:a16="http://schemas.microsoft.com/office/drawing/2014/main" id="{8750BA6B-7D2D-6D12-CE35-BD3F57136235}"/>
              </a:ext>
            </a:extLst>
          </p:cNvPr>
          <p:cNvSpPr txBox="1"/>
          <p:nvPr/>
        </p:nvSpPr>
        <p:spPr>
          <a:xfrm>
            <a:off x="6077812" y="8678737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{{ESCALATION}}</a:t>
            </a:r>
          </a:p>
        </p:txBody>
      </p:sp>
      <p:sp>
        <p:nvSpPr>
          <p:cNvPr id="102" name="TextBox 52">
            <a:extLst>
              <a:ext uri="{FF2B5EF4-FFF2-40B4-BE49-F238E27FC236}">
                <a16:creationId xmlns:a16="http://schemas.microsoft.com/office/drawing/2014/main" id="{81869A8E-FEFB-6A3C-9A73-84997DE9CE58}"/>
              </a:ext>
            </a:extLst>
          </p:cNvPr>
          <p:cNvSpPr txBox="1"/>
          <p:nvPr/>
        </p:nvSpPr>
        <p:spPr>
          <a:xfrm>
            <a:off x="6077812" y="8913052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{{LEASE_TERM}}</a:t>
            </a:r>
          </a:p>
        </p:txBody>
      </p:sp>
      <p:sp>
        <p:nvSpPr>
          <p:cNvPr id="103" name="TextBox 53">
            <a:extLst>
              <a:ext uri="{FF2B5EF4-FFF2-40B4-BE49-F238E27FC236}">
                <a16:creationId xmlns:a16="http://schemas.microsoft.com/office/drawing/2014/main" id="{DDF66A42-FAD9-BA0D-819D-62FF77AF7929}"/>
              </a:ext>
            </a:extLst>
          </p:cNvPr>
          <p:cNvSpPr txBox="1"/>
          <p:nvPr/>
        </p:nvSpPr>
        <p:spPr>
          <a:xfrm>
            <a:off x="6047564" y="9148764"/>
            <a:ext cx="1331855" cy="127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{{HANDOVER_CONDITION}}</a:t>
            </a:r>
          </a:p>
        </p:txBody>
      </p:sp>
      <p:sp>
        <p:nvSpPr>
          <p:cNvPr id="104" name="TextBox 38">
            <a:extLst>
              <a:ext uri="{FF2B5EF4-FFF2-40B4-BE49-F238E27FC236}">
                <a16:creationId xmlns:a16="http://schemas.microsoft.com/office/drawing/2014/main" id="{AD98542F-A7C8-D64A-9CD3-D8471241F3F9}"/>
              </a:ext>
            </a:extLst>
          </p:cNvPr>
          <p:cNvSpPr txBox="1"/>
          <p:nvPr/>
        </p:nvSpPr>
        <p:spPr>
          <a:xfrm>
            <a:off x="4642423" y="7190523"/>
            <a:ext cx="2621977" cy="29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{{PROPERTY_FEATURE_3}}</a:t>
            </a: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TextBox 38">
            <a:extLst>
              <a:ext uri="{FF2B5EF4-FFF2-40B4-BE49-F238E27FC236}">
                <a16:creationId xmlns:a16="http://schemas.microsoft.com/office/drawing/2014/main" id="{C8F74DD4-CCB1-351F-21C6-290119B05897}"/>
              </a:ext>
            </a:extLst>
          </p:cNvPr>
          <p:cNvSpPr txBox="1"/>
          <p:nvPr/>
        </p:nvSpPr>
        <p:spPr>
          <a:xfrm>
            <a:off x="4627183" y="6625437"/>
            <a:ext cx="2621977" cy="294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{{PROPERTY_FEATURE_2}}</a:t>
            </a: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2" name="Group 19">
            <a:extLst>
              <a:ext uri="{FF2B5EF4-FFF2-40B4-BE49-F238E27FC236}">
                <a16:creationId xmlns:a16="http://schemas.microsoft.com/office/drawing/2014/main" id="{A00F2B43-648B-7BBF-F8A0-FFC3F8ABFB9B}"/>
              </a:ext>
            </a:extLst>
          </p:cNvPr>
          <p:cNvGrpSpPr/>
          <p:nvPr/>
        </p:nvGrpSpPr>
        <p:grpSpPr>
          <a:xfrm>
            <a:off x="6380" y="192336"/>
            <a:ext cx="7556500" cy="64431"/>
            <a:chOff x="0" y="0"/>
            <a:chExt cx="16272929" cy="152400"/>
          </a:xfrm>
        </p:grpSpPr>
        <p:sp>
          <p:nvSpPr>
            <p:cNvPr id="113" name="Freeform 20">
              <a:extLst>
                <a:ext uri="{FF2B5EF4-FFF2-40B4-BE49-F238E27FC236}">
                  <a16:creationId xmlns:a16="http://schemas.microsoft.com/office/drawing/2014/main" id="{7762DC15-E9B4-7A32-41FA-AAA6B0A0520A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4" name="Group 21">
            <a:extLst>
              <a:ext uri="{FF2B5EF4-FFF2-40B4-BE49-F238E27FC236}">
                <a16:creationId xmlns:a16="http://schemas.microsoft.com/office/drawing/2014/main" id="{CB270FC7-2937-263D-51D2-EA1B8CA4393E}"/>
              </a:ext>
            </a:extLst>
          </p:cNvPr>
          <p:cNvGrpSpPr/>
          <p:nvPr/>
        </p:nvGrpSpPr>
        <p:grpSpPr>
          <a:xfrm>
            <a:off x="-22" y="154399"/>
            <a:ext cx="7562901" cy="119339"/>
            <a:chOff x="0" y="0"/>
            <a:chExt cx="16272929" cy="152400"/>
          </a:xfrm>
        </p:grpSpPr>
        <p:sp>
          <p:nvSpPr>
            <p:cNvPr id="115" name="Freeform 22">
              <a:extLst>
                <a:ext uri="{FF2B5EF4-FFF2-40B4-BE49-F238E27FC236}">
                  <a16:creationId xmlns:a16="http://schemas.microsoft.com/office/drawing/2014/main" id="{CBE7BC6C-9D27-A4FA-0391-D35CF4DCD757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6" name="Freeform 24">
            <a:extLst>
              <a:ext uri="{FF2B5EF4-FFF2-40B4-BE49-F238E27FC236}">
                <a16:creationId xmlns:a16="http://schemas.microsoft.com/office/drawing/2014/main" id="{916AB016-E815-FCC3-5D12-99883632E962}"/>
              </a:ext>
            </a:extLst>
          </p:cNvPr>
          <p:cNvSpPr/>
          <p:nvPr/>
        </p:nvSpPr>
        <p:spPr>
          <a:xfrm>
            <a:off x="-21" y="97004"/>
            <a:ext cx="7562881" cy="74118"/>
          </a:xfrm>
          <a:custGeom>
            <a:avLst/>
            <a:gdLst/>
            <a:ahLst/>
            <a:cxnLst/>
            <a:rect l="l" t="t" r="r" b="b"/>
            <a:pathLst>
              <a:path w="16272890" h="152400">
                <a:moveTo>
                  <a:pt x="0" y="0"/>
                </a:moveTo>
                <a:lnTo>
                  <a:pt x="16272890" y="0"/>
                </a:lnTo>
                <a:lnTo>
                  <a:pt x="1627289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17" name="Group 25">
            <a:extLst>
              <a:ext uri="{FF2B5EF4-FFF2-40B4-BE49-F238E27FC236}">
                <a16:creationId xmlns:a16="http://schemas.microsoft.com/office/drawing/2014/main" id="{16420B18-915A-70BD-9A8B-7A2F264154F1}"/>
              </a:ext>
            </a:extLst>
          </p:cNvPr>
          <p:cNvGrpSpPr/>
          <p:nvPr/>
        </p:nvGrpSpPr>
        <p:grpSpPr>
          <a:xfrm>
            <a:off x="0" y="37936"/>
            <a:ext cx="7562880" cy="108404"/>
            <a:chOff x="0" y="0"/>
            <a:chExt cx="16272929" cy="152400"/>
          </a:xfrm>
        </p:grpSpPr>
        <p:sp>
          <p:nvSpPr>
            <p:cNvPr id="118" name="Freeform 26">
              <a:extLst>
                <a:ext uri="{FF2B5EF4-FFF2-40B4-BE49-F238E27FC236}">
                  <a16:creationId xmlns:a16="http://schemas.microsoft.com/office/drawing/2014/main" id="{D4E5457F-717E-B47F-69E5-8BC2C5815F49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9" name="Group 27">
            <a:extLst>
              <a:ext uri="{FF2B5EF4-FFF2-40B4-BE49-F238E27FC236}">
                <a16:creationId xmlns:a16="http://schemas.microsoft.com/office/drawing/2014/main" id="{53BD06CE-B0FD-4DC0-44B6-76126E89183E}"/>
              </a:ext>
            </a:extLst>
          </p:cNvPr>
          <p:cNvGrpSpPr/>
          <p:nvPr/>
        </p:nvGrpSpPr>
        <p:grpSpPr>
          <a:xfrm>
            <a:off x="-21" y="-1"/>
            <a:ext cx="7562901" cy="93443"/>
            <a:chOff x="0" y="0"/>
            <a:chExt cx="16272929" cy="152400"/>
          </a:xfrm>
        </p:grpSpPr>
        <p:sp>
          <p:nvSpPr>
            <p:cNvPr id="120" name="Freeform 28">
              <a:extLst>
                <a:ext uri="{FF2B5EF4-FFF2-40B4-BE49-F238E27FC236}">
                  <a16:creationId xmlns:a16="http://schemas.microsoft.com/office/drawing/2014/main" id="{DEC6FD2E-D7CB-3FF1-62AA-6170D128FBDE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1" name="Group 13">
            <a:extLst>
              <a:ext uri="{FF2B5EF4-FFF2-40B4-BE49-F238E27FC236}">
                <a16:creationId xmlns:a16="http://schemas.microsoft.com/office/drawing/2014/main" id="{DE61A088-8D9C-2293-54ED-0CF6E5635EE0}"/>
              </a:ext>
            </a:extLst>
          </p:cNvPr>
          <p:cNvGrpSpPr/>
          <p:nvPr/>
        </p:nvGrpSpPr>
        <p:grpSpPr>
          <a:xfrm>
            <a:off x="44450" y="10458488"/>
            <a:ext cx="7518430" cy="72977"/>
            <a:chOff x="0" y="0"/>
            <a:chExt cx="16272929" cy="152400"/>
          </a:xfrm>
        </p:grpSpPr>
        <p:sp>
          <p:nvSpPr>
            <p:cNvPr id="122" name="Freeform 14">
              <a:extLst>
                <a:ext uri="{FF2B5EF4-FFF2-40B4-BE49-F238E27FC236}">
                  <a16:creationId xmlns:a16="http://schemas.microsoft.com/office/drawing/2014/main" id="{5A6BDD9B-BC36-DF3E-04CE-99EBD31FDBEF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5" name="Group 7">
            <a:extLst>
              <a:ext uri="{FF2B5EF4-FFF2-40B4-BE49-F238E27FC236}">
                <a16:creationId xmlns:a16="http://schemas.microsoft.com/office/drawing/2014/main" id="{6841FEF7-AD64-4C34-C346-E364E9F6C1EF}"/>
              </a:ext>
            </a:extLst>
          </p:cNvPr>
          <p:cNvGrpSpPr/>
          <p:nvPr/>
        </p:nvGrpSpPr>
        <p:grpSpPr>
          <a:xfrm>
            <a:off x="-22" y="10612888"/>
            <a:ext cx="7562902" cy="67812"/>
            <a:chOff x="0" y="0"/>
            <a:chExt cx="16272929" cy="152400"/>
          </a:xfrm>
        </p:grpSpPr>
        <p:sp>
          <p:nvSpPr>
            <p:cNvPr id="126" name="Freeform 8">
              <a:extLst>
                <a:ext uri="{FF2B5EF4-FFF2-40B4-BE49-F238E27FC236}">
                  <a16:creationId xmlns:a16="http://schemas.microsoft.com/office/drawing/2014/main" id="{AA7AE2F2-A14B-4EFE-3EAA-6F50C093D444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7" name="Group 9">
            <a:extLst>
              <a:ext uri="{FF2B5EF4-FFF2-40B4-BE49-F238E27FC236}">
                <a16:creationId xmlns:a16="http://schemas.microsoft.com/office/drawing/2014/main" id="{335CDA9B-6551-5519-660D-6F58BD0F8EEB}"/>
              </a:ext>
            </a:extLst>
          </p:cNvPr>
          <p:cNvGrpSpPr/>
          <p:nvPr/>
        </p:nvGrpSpPr>
        <p:grpSpPr>
          <a:xfrm>
            <a:off x="0" y="10574953"/>
            <a:ext cx="7562880" cy="51850"/>
            <a:chOff x="0" y="0"/>
            <a:chExt cx="16272929" cy="152400"/>
          </a:xfrm>
        </p:grpSpPr>
        <p:sp>
          <p:nvSpPr>
            <p:cNvPr id="128" name="Freeform 10">
              <a:extLst>
                <a:ext uri="{FF2B5EF4-FFF2-40B4-BE49-F238E27FC236}">
                  <a16:creationId xmlns:a16="http://schemas.microsoft.com/office/drawing/2014/main" id="{A20F20EA-E1AF-4C6F-4E9E-C62EE37DB07D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9" name="Group 11">
            <a:extLst>
              <a:ext uri="{FF2B5EF4-FFF2-40B4-BE49-F238E27FC236}">
                <a16:creationId xmlns:a16="http://schemas.microsoft.com/office/drawing/2014/main" id="{18F67FBE-C1D9-3392-A637-D0DED6E3B6E0}"/>
              </a:ext>
            </a:extLst>
          </p:cNvPr>
          <p:cNvGrpSpPr/>
          <p:nvPr/>
        </p:nvGrpSpPr>
        <p:grpSpPr>
          <a:xfrm>
            <a:off x="0" y="10517557"/>
            <a:ext cx="7562880" cy="89780"/>
            <a:chOff x="0" y="0"/>
            <a:chExt cx="16272929" cy="152400"/>
          </a:xfrm>
        </p:grpSpPr>
        <p:sp>
          <p:nvSpPr>
            <p:cNvPr id="130" name="Freeform 12">
              <a:extLst>
                <a:ext uri="{FF2B5EF4-FFF2-40B4-BE49-F238E27FC236}">
                  <a16:creationId xmlns:a16="http://schemas.microsoft.com/office/drawing/2014/main" id="{FC9ECDCC-9872-82A5-1C1F-3E5E45EDF561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1" name="Group 13">
            <a:extLst>
              <a:ext uri="{FF2B5EF4-FFF2-40B4-BE49-F238E27FC236}">
                <a16:creationId xmlns:a16="http://schemas.microsoft.com/office/drawing/2014/main" id="{634E7249-E2D6-7A56-FBD2-1A0A2FA7E79A}"/>
              </a:ext>
            </a:extLst>
          </p:cNvPr>
          <p:cNvGrpSpPr/>
          <p:nvPr/>
        </p:nvGrpSpPr>
        <p:grpSpPr>
          <a:xfrm>
            <a:off x="44450" y="10458488"/>
            <a:ext cx="7518430" cy="72977"/>
            <a:chOff x="0" y="0"/>
            <a:chExt cx="16272929" cy="152400"/>
          </a:xfrm>
        </p:grpSpPr>
        <p:sp>
          <p:nvSpPr>
            <p:cNvPr id="132" name="Freeform 14">
              <a:extLst>
                <a:ext uri="{FF2B5EF4-FFF2-40B4-BE49-F238E27FC236}">
                  <a16:creationId xmlns:a16="http://schemas.microsoft.com/office/drawing/2014/main" id="{1D818D73-98B0-045C-8E68-9A93BD2F6DB0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" name="Group 15">
            <a:extLst>
              <a:ext uri="{FF2B5EF4-FFF2-40B4-BE49-F238E27FC236}">
                <a16:creationId xmlns:a16="http://schemas.microsoft.com/office/drawing/2014/main" id="{B6C72994-ADB2-2F32-24E1-35DB76D264D9}"/>
              </a:ext>
            </a:extLst>
          </p:cNvPr>
          <p:cNvGrpSpPr/>
          <p:nvPr/>
        </p:nvGrpSpPr>
        <p:grpSpPr>
          <a:xfrm>
            <a:off x="-22" y="10420551"/>
            <a:ext cx="7562902" cy="96999"/>
            <a:chOff x="0" y="0"/>
            <a:chExt cx="16272929" cy="152400"/>
          </a:xfrm>
        </p:grpSpPr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D831C3A6-6233-4640-7643-A768BFA88686}"/>
                </a:ext>
              </a:extLst>
            </p:cNvPr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142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Montserrat</vt:lpstr>
      <vt:lpstr>Arial</vt:lpstr>
      <vt:lpstr>Montserrat Bold</vt:lpstr>
      <vt:lpstr>Cormorant Garamond</vt:lpstr>
      <vt:lpstr>Cormorant Garamond Bold Italics</vt:lpstr>
      <vt:lpstr>Cormorant Garamond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PIS TEMPLATE</dc:title>
  <cp:lastModifiedBy>Dave Policarpio</cp:lastModifiedBy>
  <cp:revision>6</cp:revision>
  <dcterms:created xsi:type="dcterms:W3CDTF">2006-08-16T00:00:00Z</dcterms:created>
  <dcterms:modified xsi:type="dcterms:W3CDTF">2026-06-29T07:49:46Z</dcterms:modified>
  <dc:identifier>DAHMIXkz0B8</dc:identifier>
</cp:coreProperties>
</file>