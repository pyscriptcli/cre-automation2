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80700"/>
  <p:notesSz cx="6858000" cy="9144000"/>
  <p:embeddedFontLst>
    <p:embeddedFont>
      <p:font typeface="Cormorant Garamond" panose="020B0604020202020204" charset="0"/>
      <p:regular r:id="rId3"/>
    </p:embeddedFont>
    <p:embeddedFont>
      <p:font typeface="Cormorant Garamond Bold" panose="020B0604020202020204" charset="0"/>
      <p:regular r:id="rId4"/>
    </p:embeddedFont>
    <p:embeddedFont>
      <p:font typeface="Cormorant Garamond Bold Italics" panose="020B0604020202020204" charset="0"/>
      <p:regular r:id="rId5"/>
    </p:embeddedFont>
    <p:embeddedFont>
      <p:font typeface="Montserrat" panose="00000500000000000000" pitchFamily="2" charset="0"/>
      <p:regular r:id="rId6"/>
      <p:bold r:id="rId7"/>
      <p:italic r:id="rId8"/>
      <p:boldItalic r:id="rId9"/>
    </p:embeddedFont>
    <p:embeddedFont>
      <p:font typeface="Montserrat Bold" panose="00000800000000000000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A8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25" d="100"/>
          <a:sy n="125" d="100"/>
        </p:scale>
        <p:origin x="1818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presProps" Target="presProps.xml"/><Relationship Id="rId5" Type="http://schemas.openxmlformats.org/officeDocument/2006/relationships/font" Target="fonts/font3.fntdata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549013" y="1549013"/>
            <a:ext cx="10660905" cy="7562880"/>
            <a:chOff x="0" y="0"/>
            <a:chExt cx="20340764" cy="1442980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340765" cy="14429803"/>
            </a:xfrm>
            <a:custGeom>
              <a:avLst/>
              <a:gdLst/>
              <a:ahLst/>
              <a:cxnLst/>
              <a:rect l="l" t="t" r="r" b="b"/>
              <a:pathLst>
                <a:path w="20340765" h="14429803">
                  <a:moveTo>
                    <a:pt x="0" y="0"/>
                  </a:moveTo>
                  <a:lnTo>
                    <a:pt x="20340765" y="0"/>
                  </a:lnTo>
                  <a:lnTo>
                    <a:pt x="20340765" y="14429803"/>
                  </a:lnTo>
                  <a:lnTo>
                    <a:pt x="0" y="14429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3587" r="-13587"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713491" y="584840"/>
            <a:ext cx="528956" cy="403014"/>
            <a:chOff x="0" y="0"/>
            <a:chExt cx="1066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6800" cy="812800"/>
            </a:xfrm>
            <a:custGeom>
              <a:avLst/>
              <a:gdLst/>
              <a:ahLst/>
              <a:cxnLst/>
              <a:rect l="l" t="t" r="r" b="b"/>
              <a:pathLst>
                <a:path w="1066800" h="812800">
                  <a:moveTo>
                    <a:pt x="0" y="0"/>
                  </a:moveTo>
                  <a:lnTo>
                    <a:pt x="1066800" y="0"/>
                  </a:lnTo>
                  <a:lnTo>
                    <a:pt x="1066800" y="812800"/>
                  </a:lnTo>
                  <a:lnTo>
                    <a:pt x="0" y="81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0" y="1307820"/>
            <a:ext cx="7556500" cy="20949"/>
          </a:xfrm>
          <a:prstGeom prst="line">
            <a:avLst/>
          </a:prstGeom>
          <a:ln w="19050" cap="flat">
            <a:solidFill>
              <a:srgbClr val="C9A84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-22" y="10612888"/>
            <a:ext cx="7562902" cy="67812"/>
            <a:chOff x="0" y="0"/>
            <a:chExt cx="16272929" cy="152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272890" cy="152400"/>
            </a:xfrm>
            <a:custGeom>
              <a:avLst/>
              <a:gdLst/>
              <a:ahLst/>
              <a:cxnLst/>
              <a:rect l="l" t="t" r="r" b="b"/>
              <a:pathLst>
                <a:path w="16272890" h="152400">
                  <a:moveTo>
                    <a:pt x="0" y="0"/>
                  </a:moveTo>
                  <a:lnTo>
                    <a:pt x="16272890" y="0"/>
                  </a:lnTo>
                  <a:lnTo>
                    <a:pt x="1627289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10574953"/>
            <a:ext cx="7562880" cy="51850"/>
            <a:chOff x="0" y="0"/>
            <a:chExt cx="16272929" cy="152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272890" cy="152400"/>
            </a:xfrm>
            <a:custGeom>
              <a:avLst/>
              <a:gdLst/>
              <a:ahLst/>
              <a:cxnLst/>
              <a:rect l="l" t="t" r="r" b="b"/>
              <a:pathLst>
                <a:path w="16272890" h="152400">
                  <a:moveTo>
                    <a:pt x="0" y="0"/>
                  </a:moveTo>
                  <a:lnTo>
                    <a:pt x="16272890" y="0"/>
                  </a:lnTo>
                  <a:lnTo>
                    <a:pt x="1627289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10517557"/>
            <a:ext cx="7562880" cy="89780"/>
            <a:chOff x="0" y="0"/>
            <a:chExt cx="16272929" cy="152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6272890" cy="152400"/>
            </a:xfrm>
            <a:custGeom>
              <a:avLst/>
              <a:gdLst/>
              <a:ahLst/>
              <a:cxnLst/>
              <a:rect l="l" t="t" r="r" b="b"/>
              <a:pathLst>
                <a:path w="16272890" h="152400">
                  <a:moveTo>
                    <a:pt x="0" y="0"/>
                  </a:moveTo>
                  <a:lnTo>
                    <a:pt x="16272890" y="0"/>
                  </a:lnTo>
                  <a:lnTo>
                    <a:pt x="1627289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4450" y="10458488"/>
            <a:ext cx="7518430" cy="72977"/>
            <a:chOff x="0" y="0"/>
            <a:chExt cx="16272929" cy="152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6272890" cy="152400"/>
            </a:xfrm>
            <a:custGeom>
              <a:avLst/>
              <a:gdLst/>
              <a:ahLst/>
              <a:cxnLst/>
              <a:rect l="l" t="t" r="r" b="b"/>
              <a:pathLst>
                <a:path w="16272890" h="152400">
                  <a:moveTo>
                    <a:pt x="0" y="0"/>
                  </a:moveTo>
                  <a:lnTo>
                    <a:pt x="16272890" y="0"/>
                  </a:lnTo>
                  <a:lnTo>
                    <a:pt x="1627289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22" y="10420551"/>
            <a:ext cx="7562902" cy="96999"/>
            <a:chOff x="0" y="0"/>
            <a:chExt cx="16272929" cy="152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6272890" cy="152400"/>
            </a:xfrm>
            <a:custGeom>
              <a:avLst/>
              <a:gdLst/>
              <a:ahLst/>
              <a:cxnLst/>
              <a:rect l="l" t="t" r="r" b="b"/>
              <a:pathLst>
                <a:path w="16272890" h="152400">
                  <a:moveTo>
                    <a:pt x="0" y="0"/>
                  </a:moveTo>
                  <a:lnTo>
                    <a:pt x="16272890" y="0"/>
                  </a:lnTo>
                  <a:lnTo>
                    <a:pt x="1627289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80" y="192336"/>
            <a:ext cx="7556500" cy="64431"/>
            <a:chOff x="0" y="0"/>
            <a:chExt cx="16272929" cy="1524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6272890" cy="152400"/>
            </a:xfrm>
            <a:custGeom>
              <a:avLst/>
              <a:gdLst/>
              <a:ahLst/>
              <a:cxnLst/>
              <a:rect l="l" t="t" r="r" b="b"/>
              <a:pathLst>
                <a:path w="16272890" h="152400">
                  <a:moveTo>
                    <a:pt x="0" y="0"/>
                  </a:moveTo>
                  <a:lnTo>
                    <a:pt x="16272890" y="0"/>
                  </a:lnTo>
                  <a:lnTo>
                    <a:pt x="1627289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-22" y="154399"/>
            <a:ext cx="7562901" cy="119339"/>
            <a:chOff x="0" y="0"/>
            <a:chExt cx="16272929" cy="152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6272890" cy="152400"/>
            </a:xfrm>
            <a:custGeom>
              <a:avLst/>
              <a:gdLst/>
              <a:ahLst/>
              <a:cxnLst/>
              <a:rect l="l" t="t" r="r" b="b"/>
              <a:pathLst>
                <a:path w="16272890" h="152400">
                  <a:moveTo>
                    <a:pt x="0" y="0"/>
                  </a:moveTo>
                  <a:lnTo>
                    <a:pt x="16272890" y="0"/>
                  </a:lnTo>
                  <a:lnTo>
                    <a:pt x="1627289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" name="Freeform 24"/>
          <p:cNvSpPr/>
          <p:nvPr/>
        </p:nvSpPr>
        <p:spPr>
          <a:xfrm>
            <a:off x="-21" y="97004"/>
            <a:ext cx="7562881" cy="74118"/>
          </a:xfrm>
          <a:custGeom>
            <a:avLst/>
            <a:gdLst/>
            <a:ahLst/>
            <a:cxnLst/>
            <a:rect l="l" t="t" r="r" b="b"/>
            <a:pathLst>
              <a:path w="16272890" h="152400">
                <a:moveTo>
                  <a:pt x="0" y="0"/>
                </a:moveTo>
                <a:lnTo>
                  <a:pt x="16272890" y="0"/>
                </a:lnTo>
                <a:lnTo>
                  <a:pt x="1627289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25" name="Group 25"/>
          <p:cNvGrpSpPr/>
          <p:nvPr/>
        </p:nvGrpSpPr>
        <p:grpSpPr>
          <a:xfrm>
            <a:off x="0" y="37936"/>
            <a:ext cx="7562880" cy="108404"/>
            <a:chOff x="0" y="0"/>
            <a:chExt cx="16272929" cy="1524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6272890" cy="152400"/>
            </a:xfrm>
            <a:custGeom>
              <a:avLst/>
              <a:gdLst/>
              <a:ahLst/>
              <a:cxnLst/>
              <a:rect l="l" t="t" r="r" b="b"/>
              <a:pathLst>
                <a:path w="16272890" h="152400">
                  <a:moveTo>
                    <a:pt x="0" y="0"/>
                  </a:moveTo>
                  <a:lnTo>
                    <a:pt x="16272890" y="0"/>
                  </a:lnTo>
                  <a:lnTo>
                    <a:pt x="1627289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-21" y="-1"/>
            <a:ext cx="7562901" cy="93443"/>
            <a:chOff x="0" y="0"/>
            <a:chExt cx="16272929" cy="1524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6272890" cy="152400"/>
            </a:xfrm>
            <a:custGeom>
              <a:avLst/>
              <a:gdLst/>
              <a:ahLst/>
              <a:cxnLst/>
              <a:rect l="l" t="t" r="r" b="b"/>
              <a:pathLst>
                <a:path w="16272890" h="152400">
                  <a:moveTo>
                    <a:pt x="0" y="0"/>
                  </a:moveTo>
                  <a:lnTo>
                    <a:pt x="16272890" y="0"/>
                  </a:lnTo>
                  <a:lnTo>
                    <a:pt x="1627289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29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5673517"/>
              </p:ext>
            </p:extLst>
          </p:nvPr>
        </p:nvGraphicFramePr>
        <p:xfrm>
          <a:off x="4449002" y="5693439"/>
          <a:ext cx="2952533" cy="2300555"/>
        </p:xfrm>
        <a:graphic>
          <a:graphicData uri="http://schemas.openxmlformats.org/drawingml/2006/table">
            <a:tbl>
              <a:tblPr/>
              <a:tblGrid>
                <a:gridCol w="29525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002"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536"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2853"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320"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844"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97947"/>
                  </a:ext>
                </a:extLst>
              </a:tr>
            </a:tbl>
          </a:graphicData>
        </a:graphic>
      </p:graphicFrame>
      <p:graphicFrame>
        <p:nvGraphicFramePr>
          <p:cNvPr id="30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798348"/>
              </p:ext>
            </p:extLst>
          </p:nvPr>
        </p:nvGraphicFramePr>
        <p:xfrm>
          <a:off x="4449002" y="7567134"/>
          <a:ext cx="2952534" cy="1839871"/>
        </p:xfrm>
        <a:graphic>
          <a:graphicData uri="http://schemas.openxmlformats.org/drawingml/2006/table">
            <a:tbl>
              <a:tblPr/>
              <a:tblGrid>
                <a:gridCol w="15532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93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8493">
                <a:tc gridSpan="2"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A3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563"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563"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563"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563"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563"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8563"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4" name="TextBox 34"/>
          <p:cNvSpPr txBox="1"/>
          <p:nvPr/>
        </p:nvSpPr>
        <p:spPr>
          <a:xfrm>
            <a:off x="139118" y="680651"/>
            <a:ext cx="7562880" cy="217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2800" b="1" dirty="0">
                <a:solidFill>
                  <a:srgbClr val="27282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{{PROPERTY_NAME}}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9118" y="1048702"/>
            <a:ext cx="7562880" cy="135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9"/>
              </a:lnSpc>
            </a:pPr>
            <a:r>
              <a:rPr lang="en-US" sz="1599" b="1" dirty="0">
                <a:solidFill>
                  <a:srgbClr val="27282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{{LEASABLE_AREA}}</a:t>
            </a:r>
            <a:r>
              <a:rPr lang="en-US" sz="1599" dirty="0">
                <a:solidFill>
                  <a:srgbClr val="272828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{{PROPERTY_TYPE}}  with  </a:t>
            </a:r>
            <a:r>
              <a:rPr lang="en-US" sz="1599" b="1" dirty="0">
                <a:solidFill>
                  <a:srgbClr val="27282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{{FRONTAGE}}  </a:t>
            </a:r>
            <a:r>
              <a:rPr lang="en-US" sz="1599" dirty="0">
                <a:solidFill>
                  <a:srgbClr val="272828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frontage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61342" y="5249418"/>
            <a:ext cx="7240191" cy="3289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1899" b="1" i="1" dirty="0">
                <a:solidFill>
                  <a:srgbClr val="C9A84C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{{PROPERTY_ADDRESS}}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975007" y="5757542"/>
            <a:ext cx="1831585" cy="191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sz="1100" b="1">
                <a:solidFill>
                  <a:srgbClr val="FFFCF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PROPERTY FEATURES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620470" y="6118248"/>
            <a:ext cx="2621977" cy="2946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232"/>
              </a:lnSpc>
            </a:pPr>
            <a:r>
              <a:rPr lang="en-US" sz="800" spc="15" dirty="0">
                <a:solidFill>
                  <a:srgbClr val="0C0C0E"/>
                </a:solidFill>
                <a:latin typeface="Montserrat"/>
                <a:ea typeface="Montserrat"/>
                <a:cs typeface="Montserrat"/>
                <a:sym typeface="Montserrat"/>
              </a:rPr>
              <a:t>{{PROPERTY_FEATURE_1}}</a:t>
            </a:r>
          </a:p>
          <a:p>
            <a:pPr algn="just">
              <a:lnSpc>
                <a:spcPts val="1232"/>
              </a:lnSpc>
            </a:pPr>
            <a:endParaRPr lang="en-US" sz="800" spc="15" dirty="0">
              <a:solidFill>
                <a:srgbClr val="0C0C0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5009477" y="7640940"/>
            <a:ext cx="1831585" cy="191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sz="1100" b="1" dirty="0">
                <a:solidFill>
                  <a:srgbClr val="FFFCF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LEASE TERMS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864182" y="7955852"/>
            <a:ext cx="768200" cy="146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lang="en-US" sz="800" b="1" spc="15">
                <a:solidFill>
                  <a:srgbClr val="0C0C0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Lease Rates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725245" y="8192771"/>
            <a:ext cx="1046076" cy="146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lang="en-US" sz="800" b="1" spc="15">
                <a:solidFill>
                  <a:srgbClr val="0C0C0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Security Deposit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725245" y="8429690"/>
            <a:ext cx="1046076" cy="146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lang="en-US" sz="800" b="1" spc="15">
                <a:solidFill>
                  <a:srgbClr val="0C0C0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Advance Rent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725245" y="8671371"/>
            <a:ext cx="1046076" cy="146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lang="en-US" sz="800" b="1" spc="15">
                <a:solidFill>
                  <a:srgbClr val="0C0C0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Rental Escalation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635173" y="8913052"/>
            <a:ext cx="1255626" cy="146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lang="en-US" sz="800" b="1" spc="15">
                <a:solidFill>
                  <a:srgbClr val="0C0C0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Preferred Lease Term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620470" y="9141398"/>
            <a:ext cx="1255626" cy="146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lang="en-US" sz="800" b="1" spc="15">
                <a:solidFill>
                  <a:srgbClr val="0C0C0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Handover Conditions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077812" y="7963218"/>
            <a:ext cx="1276169" cy="131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8"/>
              </a:lnSpc>
            </a:pPr>
            <a:r>
              <a:rPr lang="en-US" sz="700" spc="13" dirty="0">
                <a:solidFill>
                  <a:srgbClr val="0C0C0E"/>
                </a:solidFill>
                <a:latin typeface="Montserrat"/>
                <a:ea typeface="Montserrat"/>
                <a:cs typeface="Montserrat"/>
                <a:sym typeface="Montserrat"/>
              </a:rPr>
              <a:t>{{RENTAL_RATES}}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103250" y="8200137"/>
            <a:ext cx="1276169" cy="131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8"/>
              </a:lnSpc>
            </a:pPr>
            <a:r>
              <a:rPr lang="en-US" sz="700" spc="13" dirty="0">
                <a:solidFill>
                  <a:srgbClr val="0C0C0E"/>
                </a:solidFill>
                <a:latin typeface="Montserrat"/>
                <a:ea typeface="Montserrat"/>
                <a:cs typeface="Montserrat"/>
                <a:sym typeface="Montserrat"/>
              </a:rPr>
              <a:t>{{SECURITY_DEPOSIT}}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103250" y="8436611"/>
            <a:ext cx="1276169" cy="131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8"/>
              </a:lnSpc>
            </a:pPr>
            <a:r>
              <a:rPr lang="en-US" sz="700" spc="13" dirty="0">
                <a:solidFill>
                  <a:srgbClr val="0C0C0E"/>
                </a:solidFill>
                <a:latin typeface="Montserrat"/>
                <a:ea typeface="Montserrat"/>
                <a:cs typeface="Montserrat"/>
                <a:sym typeface="Montserrat"/>
              </a:rPr>
              <a:t>{{ADVANCE_RENT}}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077812" y="8678737"/>
            <a:ext cx="1276169" cy="131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8"/>
              </a:lnSpc>
            </a:pPr>
            <a:r>
              <a:rPr lang="en-US" sz="700" spc="13" dirty="0">
                <a:solidFill>
                  <a:srgbClr val="0C0C0E"/>
                </a:solidFill>
                <a:latin typeface="Montserrat"/>
                <a:ea typeface="Montserrat"/>
                <a:cs typeface="Montserrat"/>
                <a:sym typeface="Montserrat"/>
              </a:rPr>
              <a:t>{{ESCALATION}}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077812" y="8913052"/>
            <a:ext cx="1276169" cy="131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8"/>
              </a:lnSpc>
            </a:pPr>
            <a:r>
              <a:rPr lang="en-US" sz="700" spc="13" dirty="0">
                <a:solidFill>
                  <a:srgbClr val="0C0C0E"/>
                </a:solidFill>
                <a:latin typeface="Montserrat"/>
                <a:ea typeface="Montserrat"/>
                <a:cs typeface="Montserrat"/>
                <a:sym typeface="Montserrat"/>
              </a:rPr>
              <a:t>{{LEASE_TERM}}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047564" y="9148764"/>
            <a:ext cx="1331855" cy="1279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78"/>
              </a:lnSpc>
            </a:pPr>
            <a:r>
              <a:rPr lang="en-US" sz="700" spc="13" dirty="0">
                <a:solidFill>
                  <a:srgbClr val="0C0C0E"/>
                </a:solidFill>
                <a:latin typeface="Montserrat"/>
                <a:ea typeface="Montserrat"/>
                <a:cs typeface="Montserrat"/>
                <a:sym typeface="Montserrat"/>
              </a:rPr>
              <a:t>{{HANDOVER_CONDITION}}</a:t>
            </a:r>
          </a:p>
        </p:txBody>
      </p:sp>
      <p:sp>
        <p:nvSpPr>
          <p:cNvPr id="54" name="AutoShape 54"/>
          <p:cNvSpPr/>
          <p:nvPr/>
        </p:nvSpPr>
        <p:spPr>
          <a:xfrm>
            <a:off x="539850" y="9573224"/>
            <a:ext cx="6483181" cy="0"/>
          </a:xfrm>
          <a:prstGeom prst="line">
            <a:avLst/>
          </a:prstGeom>
          <a:ln w="19050" cap="flat">
            <a:solidFill>
              <a:srgbClr val="C9A84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Box 55"/>
          <p:cNvSpPr txBox="1"/>
          <p:nvPr/>
        </p:nvSpPr>
        <p:spPr>
          <a:xfrm>
            <a:off x="539850" y="9613579"/>
            <a:ext cx="2016814" cy="146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lang="en-US" sz="800" b="1" spc="15">
                <a:solidFill>
                  <a:srgbClr val="0C0C0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Contact us for further information: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98431" y="9786041"/>
            <a:ext cx="2016814" cy="140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lang="en-US" sz="800" b="1" spc="15" dirty="0">
                <a:solidFill>
                  <a:srgbClr val="0C0C0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{{CTA1_NAME}}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98431" y="9972326"/>
            <a:ext cx="2114228" cy="298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lang="en-US" sz="800" spc="15" dirty="0">
                <a:solidFill>
                  <a:srgbClr val="0C0C0E"/>
                </a:solidFill>
                <a:latin typeface="Montserrat"/>
                <a:ea typeface="Montserrat"/>
                <a:cs typeface="Montserrat"/>
                <a:sym typeface="Montserrat"/>
              </a:rPr>
              <a:t>{{CTA1_CONTACT_NUMBER}}</a:t>
            </a:r>
          </a:p>
          <a:p>
            <a:pPr algn="l">
              <a:lnSpc>
                <a:spcPts val="1232"/>
              </a:lnSpc>
            </a:pPr>
            <a:r>
              <a:rPr lang="en-US" sz="800" spc="15" dirty="0">
                <a:solidFill>
                  <a:srgbClr val="0C0C0E"/>
                </a:solidFill>
                <a:latin typeface="Montserrat"/>
                <a:ea typeface="Montserrat"/>
                <a:cs typeface="Montserrat"/>
                <a:sym typeface="Montserrat"/>
              </a:rPr>
              <a:t>{{CTA1_EMAIL}}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1A9A119-1524-9476-37AF-01E6003BA497}"/>
              </a:ext>
            </a:extLst>
          </p:cNvPr>
          <p:cNvSpPr/>
          <p:nvPr/>
        </p:nvSpPr>
        <p:spPr>
          <a:xfrm>
            <a:off x="0" y="1406575"/>
            <a:ext cx="7556500" cy="374751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dirty="0">
                <a:solidFill>
                  <a:srgbClr val="002060"/>
                </a:solidFill>
              </a:rPr>
              <a:t>{{PROPERTY_PHOTO_1}}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F47DC4-F093-C818-C183-7D49B8AF8E93}"/>
              </a:ext>
            </a:extLst>
          </p:cNvPr>
          <p:cNvSpPr/>
          <p:nvPr/>
        </p:nvSpPr>
        <p:spPr>
          <a:xfrm>
            <a:off x="213948" y="5693440"/>
            <a:ext cx="4047837" cy="3713568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rgbClr val="002060"/>
                </a:solidFill>
              </a:rPr>
              <a:t>{{LOCATION_MAP}}</a:t>
            </a:r>
          </a:p>
        </p:txBody>
      </p:sp>
      <p:sp>
        <p:nvSpPr>
          <p:cNvPr id="31" name="TextBox 56">
            <a:extLst>
              <a:ext uri="{FF2B5EF4-FFF2-40B4-BE49-F238E27FC236}">
                <a16:creationId xmlns:a16="http://schemas.microsoft.com/office/drawing/2014/main" id="{4208207F-C003-C170-A6A7-BEDF710ABBA0}"/>
              </a:ext>
            </a:extLst>
          </p:cNvPr>
          <p:cNvSpPr txBox="1"/>
          <p:nvPr/>
        </p:nvSpPr>
        <p:spPr>
          <a:xfrm>
            <a:off x="2992663" y="9792237"/>
            <a:ext cx="2016814" cy="140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lang="en-US" sz="800" b="1" spc="15" dirty="0">
                <a:solidFill>
                  <a:srgbClr val="0C0C0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{{CTA2_NAME}}</a:t>
            </a:r>
          </a:p>
        </p:txBody>
      </p:sp>
      <p:sp>
        <p:nvSpPr>
          <p:cNvPr id="33" name="TextBox 57">
            <a:extLst>
              <a:ext uri="{FF2B5EF4-FFF2-40B4-BE49-F238E27FC236}">
                <a16:creationId xmlns:a16="http://schemas.microsoft.com/office/drawing/2014/main" id="{0D651E37-872E-B914-3256-15A1A69C5EC8}"/>
              </a:ext>
            </a:extLst>
          </p:cNvPr>
          <p:cNvSpPr txBox="1"/>
          <p:nvPr/>
        </p:nvSpPr>
        <p:spPr>
          <a:xfrm>
            <a:off x="2992663" y="9978522"/>
            <a:ext cx="2114228" cy="298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lang="en-US" sz="800" spc="15" dirty="0">
                <a:solidFill>
                  <a:srgbClr val="0C0C0E"/>
                </a:solidFill>
                <a:latin typeface="Montserrat"/>
                <a:ea typeface="Montserrat"/>
                <a:cs typeface="Montserrat"/>
                <a:sym typeface="Montserrat"/>
              </a:rPr>
              <a:t>{{CTA2_CONTACT_NUMBER}}</a:t>
            </a:r>
          </a:p>
          <a:p>
            <a:pPr algn="l">
              <a:lnSpc>
                <a:spcPts val="1232"/>
              </a:lnSpc>
            </a:pPr>
            <a:r>
              <a:rPr lang="en-US" sz="800" spc="15" dirty="0">
                <a:solidFill>
                  <a:srgbClr val="0C0C0E"/>
                </a:solidFill>
                <a:latin typeface="Montserrat"/>
                <a:ea typeface="Montserrat"/>
                <a:cs typeface="Montserrat"/>
                <a:sym typeface="Montserrat"/>
              </a:rPr>
              <a:t>{{CTA2_EMAIL}}</a:t>
            </a:r>
          </a:p>
        </p:txBody>
      </p:sp>
      <p:sp>
        <p:nvSpPr>
          <p:cNvPr id="40" name="TextBox 38">
            <a:extLst>
              <a:ext uri="{FF2B5EF4-FFF2-40B4-BE49-F238E27FC236}">
                <a16:creationId xmlns:a16="http://schemas.microsoft.com/office/drawing/2014/main" id="{3AFF6868-B972-E6EE-F65B-4C4D2D314C69}"/>
              </a:ext>
            </a:extLst>
          </p:cNvPr>
          <p:cNvSpPr txBox="1"/>
          <p:nvPr/>
        </p:nvSpPr>
        <p:spPr>
          <a:xfrm>
            <a:off x="4642423" y="7190523"/>
            <a:ext cx="2621977" cy="2946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232"/>
              </a:lnSpc>
            </a:pPr>
            <a:r>
              <a:rPr lang="en-US" sz="800" spc="15" dirty="0">
                <a:solidFill>
                  <a:srgbClr val="0C0C0E"/>
                </a:solidFill>
                <a:latin typeface="Montserrat"/>
                <a:ea typeface="Montserrat"/>
                <a:cs typeface="Montserrat"/>
                <a:sym typeface="Montserrat"/>
              </a:rPr>
              <a:t>{{PROPERTY_FEATURE_3}}</a:t>
            </a:r>
          </a:p>
          <a:p>
            <a:pPr algn="just">
              <a:lnSpc>
                <a:spcPts val="1232"/>
              </a:lnSpc>
            </a:pPr>
            <a:endParaRPr lang="en-US" sz="800" spc="15" dirty="0">
              <a:solidFill>
                <a:srgbClr val="0C0C0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TextBox 38">
            <a:extLst>
              <a:ext uri="{FF2B5EF4-FFF2-40B4-BE49-F238E27FC236}">
                <a16:creationId xmlns:a16="http://schemas.microsoft.com/office/drawing/2014/main" id="{8849E227-DFB7-EBD2-C999-37E929274079}"/>
              </a:ext>
            </a:extLst>
          </p:cNvPr>
          <p:cNvSpPr txBox="1"/>
          <p:nvPr/>
        </p:nvSpPr>
        <p:spPr>
          <a:xfrm>
            <a:off x="4627183" y="6625437"/>
            <a:ext cx="2621977" cy="2946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232"/>
              </a:lnSpc>
            </a:pPr>
            <a:r>
              <a:rPr lang="en-US" sz="800" spc="15" dirty="0">
                <a:solidFill>
                  <a:srgbClr val="0C0C0E"/>
                </a:solidFill>
                <a:latin typeface="Montserrat"/>
                <a:ea typeface="Montserrat"/>
                <a:cs typeface="Montserrat"/>
                <a:sym typeface="Montserrat"/>
              </a:rPr>
              <a:t>{{PROPERTY_FEATURE_2}}</a:t>
            </a:r>
          </a:p>
          <a:p>
            <a:pPr algn="just">
              <a:lnSpc>
                <a:spcPts val="1232"/>
              </a:lnSpc>
            </a:pPr>
            <a:endParaRPr lang="en-US" sz="800" spc="15" dirty="0">
              <a:solidFill>
                <a:srgbClr val="0C0C0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143</Words>
  <Application>Microsoft Office PowerPoint</Application>
  <PresentationFormat>Custom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Cormorant Garamond Bold Italics</vt:lpstr>
      <vt:lpstr>Cormorant Garamond Bold</vt:lpstr>
      <vt:lpstr>Cormorant Garamond</vt:lpstr>
      <vt:lpstr>Montserrat</vt:lpstr>
      <vt:lpstr>Montserrat Bold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PIS TEMPLATE</dc:title>
  <cp:lastModifiedBy>Dave Policarpio</cp:lastModifiedBy>
  <cp:revision>5</cp:revision>
  <dcterms:created xsi:type="dcterms:W3CDTF">2006-08-16T00:00:00Z</dcterms:created>
  <dcterms:modified xsi:type="dcterms:W3CDTF">2026-06-29T00:41:30Z</dcterms:modified>
  <dc:identifier>DAHMIXkz0B8</dc:identifier>
</cp:coreProperties>
</file>